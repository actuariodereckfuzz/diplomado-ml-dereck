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192024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MODULO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8961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</a:rPr>
              <a:t>Introduccion a Python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31673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Sesion 11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0116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Plotly · NumPy · SciPy · sklearn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2377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Un pipeline actuarial completo — de datos a modelo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43200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8529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5 ejercicios + integrador final: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108960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090672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E1 Mapa coroplético interactivo de primas por estado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46320" y="3108960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02352" y="3090672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E2 Tabla de frecuencia-severidad con NumPy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3419856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401568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E3 Simulacion Monte Carlo de reservas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46320" y="3419856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02352" y="3401568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E4 Ajuste de distribucion lognormal a siniestros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4352544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" y="43342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E5 Primer modelo predictivo de prima con sklearn</a:t>
            </a:r>
            <a:endParaRPr lang="en-US" sz="9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608576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0080" y="45902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Sabado 9 de mayo · 07:00-11:00 h · Zoom · Instructor: Eric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Universidad Nacional Autonoma de Mexico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Lo que Construimos Hoy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Un pipeline que conecta visualizacion, calculo, estadistica y modelo — con datos reales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011680" cy="40233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0241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0241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Plotly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" y="1389888"/>
            <a:ext cx="20116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8912" y="14630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Visualizar la cartera interactivamente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0624" y="2066544"/>
            <a:ext cx="1883664" cy="256032"/>
          </a:xfrm>
          <a:prstGeom prst="rect">
            <a:avLst/>
          </a:prstGeom>
          <a:solidFill>
            <a:srgbClr val="0D7A8A">
              <a:alpha val="2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206654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E1: Mapa coroplético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77440" y="1115568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23744" y="987552"/>
            <a:ext cx="2011680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02412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26080" y="10241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NumPy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523744" y="1389888"/>
            <a:ext cx="20116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615184" y="14630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Calcular frecuencia, severidad, reservas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596896" y="2066544"/>
            <a:ext cx="1883664" cy="256032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51760" y="206654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E2+E3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553712" y="1115568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700016" y="987552"/>
            <a:ext cx="2011680" cy="40233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02412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02352" y="10241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SciPy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700016" y="1389888"/>
            <a:ext cx="20116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791456" y="14630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Ajustar distribuciones a siniestros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73168" y="2066544"/>
            <a:ext cx="1883664" cy="256032"/>
          </a:xfrm>
          <a:prstGeom prst="rect">
            <a:avLst/>
          </a:prstGeom>
          <a:solidFill>
            <a:srgbClr val="6C3483">
              <a:alpha val="20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28032" y="206654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483"/>
                </a:solidFill>
              </a:rPr>
              <a:t>E4: Lognormal fit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729984" y="1115568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876288" y="987552"/>
            <a:ext cx="2011680" cy="40233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2412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78624" y="10241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sklearn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6876288" y="1389888"/>
            <a:ext cx="201168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967728" y="146304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Primer modelo predictivo de prima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949440" y="2066544"/>
            <a:ext cx="1883664" cy="256032"/>
          </a:xfrm>
          <a:prstGeom prst="rect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004304" y="206654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E5: Regresion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347472" y="3182112"/>
            <a:ext cx="8449056" cy="493776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347472" y="3182112"/>
            <a:ext cx="1188720" cy="4937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47472" y="318211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609344" y="321868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A00"/>
                </a:solidFill>
              </a:rPr>
              <a:t>Ejercicio integrador — mini pricing actuarial: distribucion de siniestros + prima pura teorica + comparacion con cartera real + Plotly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347472" y="3785616"/>
            <a:ext cx="1261872" cy="16459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347472" y="378561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07:00-08:00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1664208" y="379476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Plotly — graficas interactivas + E1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347472" y="3968496"/>
            <a:ext cx="1261872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347472" y="396849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08:00-09:00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1664208" y="397764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NumPy — vectorizacion y calculos actuariales + E2 y E3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347472" y="4151376"/>
            <a:ext cx="126187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47472" y="41513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09:00-09:15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1664208" y="416052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Receso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347472" y="4334256"/>
            <a:ext cx="1261872" cy="1645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347472" y="433425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09:15-10:05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1664208" y="434340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SciPy — distribuciones de probabilidad + E4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47472" y="4517136"/>
            <a:ext cx="126187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347472" y="45171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10:05-10:35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1664208" y="452628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sklearn — API y primer modelo + E5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347472" y="4700016"/>
            <a:ext cx="1261872" cy="164592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347472" y="470001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10:35-11:00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1664208" y="470916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Ejercicio integrador final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11  ·  Sabado 9 de mayo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PLOTLY EXPRESS — CUÁNDO USARLO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Plotly: Cuando Matplotlib No Alcanza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Graficas estaticas vs interactivas — la decision correcta segun el contexto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133856"/>
            <a:ext cx="2139696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23744" y="1133856"/>
            <a:ext cx="2706624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5184" y="113385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Matplotlib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66944" y="1133856"/>
            <a:ext cx="3547872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8384" y="113385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Plotly Express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536192"/>
            <a:ext cx="21396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5361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Tipo de grafica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23744" y="1536192"/>
            <a:ext cx="27066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153619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Estatica (imagen)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66944" y="1536192"/>
            <a:ext cx="3547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53619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Interactiva (HTML)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1938528"/>
            <a:ext cx="2139696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19385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Curva de aprendizaje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23744" y="1938528"/>
            <a:ext cx="2706624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15184" y="19385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Media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66944" y="1938528"/>
            <a:ext cx="3547872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193852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Baja — muy intuitivo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2340864"/>
            <a:ext cx="21396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3408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Zoom / hover / filtrar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23744" y="2340864"/>
            <a:ext cx="27066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15184" y="234086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No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66944" y="2340864"/>
            <a:ext cx="3547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8384" y="234086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Si — built-in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2743200"/>
            <a:ext cx="2139696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274320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Subplots complejos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23744" y="2743200"/>
            <a:ext cx="2706624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5184" y="27432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Si, con codigo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66944" y="2743200"/>
            <a:ext cx="3547872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58384" y="274320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Si, con make_subplots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3145536"/>
            <a:ext cx="21396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14553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Mapas geograficos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23744" y="3145536"/>
            <a:ext cx="27066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15184" y="314553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Limitado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66944" y="3145536"/>
            <a:ext cx="3547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58384" y="314553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Si — choropleth, scatter_geo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" y="3547872"/>
            <a:ext cx="2139696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54787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Exportar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23744" y="3547872"/>
            <a:ext cx="2706624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15184" y="354787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PNG, PDF, SVG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66944" y="3547872"/>
            <a:ext cx="3547872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58384" y="354787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HTML, PNG, JSON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" y="3950208"/>
            <a:ext cx="21396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395020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Uso ideal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523744" y="3950208"/>
            <a:ext cx="27066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15184" y="39502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Reportes, papers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66944" y="3950208"/>
            <a:ext cx="3547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58384" y="395020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Dashboards, presentaciones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7472" y="4352544"/>
            <a:ext cx="2139696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435254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Velocidad (100k+ puntos)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523744" y="4352544"/>
            <a:ext cx="2706624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15184" y="435254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Rapido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266944" y="4352544"/>
            <a:ext cx="3547872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5E8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58384" y="435254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Mas lento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47472" y="4645152"/>
            <a:ext cx="8449056" cy="402336"/>
          </a:xfrm>
          <a:prstGeom prst="rect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7472" y="4645152"/>
            <a:ext cx="658368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464515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E1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78992" y="4663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4000"/>
                </a:solidFill>
              </a:rPr>
              <a:t>Instalar: pip install plotly  ·  Verificar: import plotly.express as px; print(px.__version__)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11  ·  Sabado 9 de mayo 2026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Plotly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PLOTLY EXPRESS — SINTAXIS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Plotly Express: Una Linea por Grafica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La misma logica que pandas — pasas el DataFrame y dices que columnas usar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Graficas basicas sobre la cartera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plotly.express as px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Barras — prima por ramo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 = df.groupby('ramo')['prima_total'].sum().reset_index()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 = px.bar(resumen, x='ramo', y='prima_total',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color='ramo',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color_discrete_map={'GMM':'#0D7A8A',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'Autos':'#1A5276',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'Vida':'#1E8449'},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title='Prima Total por Ramo',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labels={'prima_total':'Prima (MXN)','ramo':'Ramo'})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fig.show()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 interactivo — edad vs prima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0888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 = px.scatter(df.sample(3000), x='edad', y='prima_total',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5701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color='ramo', opacity=0.5,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0514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hover_data=['nombre','agente_id'],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532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title='Edad vs Prima por Ramo')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014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fig.show()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14954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Histograma con hover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4581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 = px.histogram(df, x='prima_total', color='ramo',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5939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nbins=50, opacity=0.75, barmode='overlay',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74207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title='Distribucion de Primas')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89021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fig.show()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Subplots y personalizacion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13350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plotly.subplots import make_subplots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4831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plotly.graph_objects as go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6312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17794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Dashboard: 2x2 subplots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192755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 = make_subplots(rows=2, cols=2,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07568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subplot_titles=['Prima por ramo','Distribucion primas',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22382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'Polizas por mes','Edad vs Prima'])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3719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5200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cada grafica en su posicion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66821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fig.add_trace(go.Bar(x=resumen['ramo'],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81635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y=resumen['prima_total']),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296448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row=1, col=1)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1126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2607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fig.add_trace(go.Histogram(x=df['prima_total'],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40888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nbinsx=40),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5570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row=1, col=2)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7051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38532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(agregar los otros dos)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0014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14954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fig.update_layout(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29768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title_text='Dashboard Cartera Q1 2026',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44581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height=700,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59394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showlegend=False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474207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56048" y="489021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fig.show()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11  ·  Sabado 9 de mayo 2026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Plotly sintaxis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NUMPY — POR QUÉ EXISTE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NumPy: El Motor de los Calculos en Python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Por que una lista de Python es insuficiente para calculos actuariales a escala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Python puro es lento para operaciones matematicas sobre millones de valores. NumPy resuelve esto con arrays que viven en memoria contigua (como C) y operaciones vectorizadas que aplican el calculo a todos los elementos a la vez, sin loops.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45920"/>
            <a:ext cx="4315968" cy="190195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45920"/>
            <a:ext cx="431596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Python puro — lento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9339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[2400, 5800, 1900, ...]  # lista Python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4152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8965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Aplicar IVA: necesitas un loop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377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primas_iva = [p * 1.16 for p in primas]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8592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3405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1 millon de polizas: ~0.3 segundos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28032" y="1645920"/>
            <a:ext cx="3968496" cy="190195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1645920"/>
            <a:ext cx="396849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NumPy — rapido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199339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56048" y="214152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np.array([2400, 5800, 1900, ...])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56048" y="228965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6048" y="24377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loop — vectorizado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56048" y="258592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primas_iva = primas * 1.16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56048" y="273405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56048" y="288218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1 millon de polizas: ~0.003 segundos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3639312"/>
            <a:ext cx="8449056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6576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</a:rPr>
              <a:t>100x mas rapido para operaciones matematicas sobre arrays grandes — es la base de pandas, scipy y sklearn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4096512"/>
            <a:ext cx="8449056" cy="7498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096512"/>
            <a:ext cx="8449056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Calculos actuariales sin loops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4407408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np.array(df['prima_total'])   |   siniestros = np.array(df['monto_reclamado'])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555541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 = siniestros.sum() / len(siniestros)   |   severidad = siniestros[siniestros&gt;0].mean()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4703674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loss_ratio = siniestros.sum() / primas.sum()      |   prima_pura = frecuencia * severidad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11  ·  Sabado 9 de mayo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NumPy — por que existe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NUMPY — OPERACIONES ESENCIALES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NumPy: Todo lo que Necesitas para Actuaria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Arrays, estadistica, algebra lineal y simulacion — los 4 bloques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Arrays y estadistica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arrays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np.array([2400, 5800, 1900, 14500])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np.zeros(100)         # 100 ceros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np.linspace(0,1,10)   # 10 valores de 0 a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np.arange(18, 70, 1)  # edades 18 a 69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Estadistica basica — sin loops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a.mean()     # promedio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a.std()      # desviacion estandar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a.min(), a.max()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np.median(a) # mediana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np.percentile(a, [25,50,75])  # cuartiles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0888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5701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Operaciones vectorizadas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0514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1.16            # IVA a todos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532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/ 12              # prima mensual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014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np.log(a)           # log de cada elemento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14954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np.sqrt(a)          # raiz cuadrada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- a.mean()) / a.std()  # estandarizar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4581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5939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 con mascara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74207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a[a &gt; 5000]         # solo primas &gt; 5000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89021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a[a &gt; np.percentile(a, 75)]  # outliers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Simulacion Monte Carlo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13350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simulacion mas util en actuaria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4831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6312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Simular siniestros de una cartera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17794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  # reproducibilidad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192755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N_polizas = 10_000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07568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frecuencia_anual = 0.082   # 8.2% de polizas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22382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severidad_media  = 45_000  # $45k por siniestro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3719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5200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Generar N_polizas resultados aleatorios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66821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tiene_siniestro = np.random.binomial(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81635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n=1, p=frecuencia_anual, size=N_polizas)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296448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1126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monto_siniestro = np.random.lognormal(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2607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mean=np.log(severidad_media),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40888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sigma=0.8,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5570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size=N_polizas)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7051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38532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Solo los que tuvieron siniestro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0014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pago_total = (tiene_siniestro * monto_siniestro).sum()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14954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print(f'Siniestros: {tiene_siniestro.sum()}')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29768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print(f'Pago total: ${pago_total:,.0f}')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44581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59394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Simular 10,000 escenarios posibles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474207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escenarios = [...]  # ver notebook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11  ·  Sabado 9 de mayo 2026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NumPy operaciones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SCIPY STATS — DISTRIBUCIONES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SciPy: Ajustar Distribuciones a Siniestros Reales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La herramienta que conecta los datos observados con la teoria actuarial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En actuaria asumimos que los montos de siniestros siguen una distribucion de probabilidad (lognormal, Pareto, Gamma...). SciPy nos permite verificar que distribucion se ajusta mejor a los datos reales y estimar sus parametros.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45920"/>
            <a:ext cx="4315968" cy="34930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45920"/>
            <a:ext cx="4315968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Distribuciones de seguros en scipy.stats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9339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4152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8965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 3 distribuciones mas usadas en siniestros: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377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8592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Lognormal — la mas comun para GMM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3405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Si X es lognormal, log(X) es normal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8218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Parametros: mu (media del log) y sigma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303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dist_ln = stats.lognorm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784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2658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Pareto — para siniestros de cola pesada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7472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Modela bien los siniestros muy grandes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2285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dist_pa = stats.pareto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7709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9191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Gamma — para siniestros moderados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6725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Suma de distribuciones exponenciales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21538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dist_ga = stats.gamma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6351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5116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Ajustar lognormal a datos reales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6597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siniestros = df['monto_reclamado'].dropna().values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80791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siniestros = siniestros[siniestros &gt; 0]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95604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10418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sigma, loc, escala = stats.lognorm.fit(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52523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siniestros, floc=0  # fijar loc=0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54004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554857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 = np.log(escala)  # media del log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" y="569671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print(f'mu={mu:.3f}, sigma={sigma:.3f}')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28032" y="1645920"/>
            <a:ext cx="3968496" cy="34930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1645920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Verificar el ajuste — KS test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56048" y="199339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Kolmogorov-Smirnov test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14152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H0: los datos siguen esa distribucion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28965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p-value &gt; 0.05 → no rechazas H0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4377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ks_stat, p_valor = stats.kstest(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58592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siniestros,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73405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'lognorm',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88218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args=(sigma, loc, escala)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0303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1784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print(f'KS stat: {ks_stat:.4f}')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32658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print(f'p-value: {p_valor:.4f}')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47472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62285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Media teorica de la lognormal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7709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media_teorica = stats.lognorm.mean(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9191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s=sigma, loc=loc, scale=escala)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406725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print(f'Media teorica: ${media_teorica:,.0f}')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21538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print(f'Media observada: ${siniestros.mean():,.0f}')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36351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5116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Generar valores teoricos para el Q-Q plot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6597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percentiles = np.linspace(0.01, 0.99, 100)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80791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cuantiles_teo = stats.lognorm.ppf(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495604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percentiles, sigma, loc, escala)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56048" y="510418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cuantiles_obs = np.percentile(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956048" y="52523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siniestros, percentiles*100)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11  ·  Sabado 9 de mayo 2026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SciPy distribuciones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SKLEARN — PRIMER MODELO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sklearn: La API mas Consistente del Ecosistema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Todos los modelos de sklearn tienen exactamente la misma interfaz: fit, predict, 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sklearn unifica cientos de modelos con 3 metodos: fit() para entrenar, predict() para predecir, score() para evaluar. Aprendes la API una vez y aplica a regresion, clasificacion, clustering y preprocesamiento.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45920"/>
            <a:ext cx="4315968" cy="34930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45920"/>
            <a:ext cx="43159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 API universal — siempre igual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9339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4152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8965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r2_score, mean_absolute_error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377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8592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1: preparar datos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3405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variables predictoras (features)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8218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variable a predecir (target)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303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['edad','suma_asegurada','deducible']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784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df[features].dropna()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2658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df.loc[X.index, 'prima_total']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7472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2285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2: dividir en entrenamiento y prueba (80/20)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7709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9191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6725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21538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3: crear y entrenar el modelo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6351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LinearRegression()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5116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modelo.fit(X_train, y_train)   # aprende los coeficientes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6597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80791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4: predecir y evaluar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95604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modelo.predict(X_test)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10418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print(f'R²:  {r2_score(y_test, y_pred):.4f}')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52523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print(f'MAE: ${mean_absolute_error(y_test, y_pred):,.0f}')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1645920"/>
            <a:ext cx="3968496" cy="34930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1645920"/>
            <a:ext cx="396849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Interpretar los coeficientes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199339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 coeficientes dicen cuanto sube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14152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prima por cada unidad de la variable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28965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4377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feat, coef in zip(features, modelo.coef_):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58592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print(f'{feat:&lt;18}: {coef:&gt;+.4f}')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73405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print(f'Intercepto: {modelo.intercept_:&gt;+.2f}')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88218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0303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Ejemplo de interpretacion: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1784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edad: +12.50 → por cada anio de edad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32658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la prima sube $12.50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47472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suma_asegurada: +0.0023 → cada MXN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62285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de suma agrega 0.23 centavos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7709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9191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Visualizar real vs predicho con Plotly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06725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plotly.express as px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421538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comparacion = pd.DataFrame({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36351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'real':    y_test[:200],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45116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'predicho':y_pred[:200]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6597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80791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 = px.scatter(comparacion,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95604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x='real', y='predicho',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510418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title='Prima Real vs Predicha',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52523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labels={'real':'Prima real','predicho':'Prima modelo'})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540044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fig.add_shape(type='line', x0=0,y0=0,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56048" y="554857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x1=comparacion['real'].max(),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956048" y="569671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y1=comparacion['real'].max(),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956048" y="584484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line=dict(color='red',dash='dash'))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956048" y="599297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fig.show()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11  ·  Sabado 9 de mayo 2026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sklearn intro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EJERCICIO INTEGRADOR FINAL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Mini Pricing Actuarial — Pipeline Completo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Conecta todas las herramientas de la sesion en un analisis de principio a fin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335024"/>
            <a:ext cx="411480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3502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1: Frecuencia y severidad con NumPy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00784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92224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Calcula frecuencia (siniestros/polizas) y severidad media (monto/siniestro) por ramo. Usa arrays de NumPy, sin groupby de pandas.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9744" y="1335024"/>
            <a:ext cx="4114800" cy="365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33502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2: Ajuste de distribucion con SciPy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9744" y="1700784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9472" y="1792224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Ajusta una lognormal a los montos de siniestros de GMM. Verifica con KS test. Calcula la prima pura teorica = frecuencia × severidad_lognormal.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035808"/>
            <a:ext cx="411480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358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3: Comparar con la cartera real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40156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493008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Compara la prima pura teorica vs la prima_neta real de la cartera GMM. ¿La aseguradora esta cobrando por encima o por debajo del riesgo?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9744" y="3035808"/>
            <a:ext cx="4114800" cy="3657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30358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4: Visualizar todo con Plotly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9744" y="340156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3493008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Dashboard interactivo: histograma de siniestros + curva lognormal ajustada + Q-Q plot + comparacion prima teorica vs real por grupo de edad.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736592"/>
            <a:ext cx="8449056" cy="274320"/>
          </a:xfrm>
          <a:prstGeom prst="rect">
            <a:avLst/>
          </a:prstGeom>
          <a:solidFill>
            <a:srgbClr val="E37B2A">
              <a:alpha val="12000"/>
            </a:srgbClr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2D00"/>
                </a:solidFill>
              </a:rPr>
              <a:t>Criterio: cada calculo debe estar justificado con un comentario. Visualizaciones en Plotly, no Matplotlib.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11  ·  Sabado 9 de mayo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Ejercicio integrador final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49808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8EA"/>
                </a:solidFill>
              </a:rPr>
              <a:t>Modulo 1 — COMPLETADO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40 horas · 11 sesiones · 7 temas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Plotly Express: graficas interactivas, subplots, choropleth, dashboards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17904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" y="14996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NumPy: arrays vectorizados, estadistica, simulacion Monte Carlo actuarial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2024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" y="1901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SciPy stats: ajuste de distribuciones lognormal/Pareto/Gamma, KS test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2257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944" y="2304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sklearn: la API fit/predict/score, regresion lineal, train/test split, R²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2491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4944" y="2706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Pipeline completo: frecuencia × severidad = prima pura teorica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2724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4944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Validacion del modelo: prima teorica vs prima real de cartera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solidFill>
            <a:srgbClr val="0D7A8A">
              <a:alpha val="2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475488" y="3584448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EA"/>
                </a:solidFill>
              </a:rPr>
              <a:t>T1 Instalacion  ✓  T2 Sintaxis  ✓  T3 Control Flujo  ✓  T4 Funciones  ✓  T5 Pandas  ✓  T6 Visualizacion  ✓  T7 Paqueterias  ✓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11480" y="3895344"/>
            <a:ext cx="832104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11480" y="3895344"/>
            <a:ext cx="9144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968496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59536" y="393192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Proximo: Modulo 2 — Analisis de Datos · Karla y Eric · Outliers, imputacion avanzada, transformaciones, visualizacion avanzada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74320" y="448056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UNAM  ·  Diplomado ML en Seguros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2026-05-09T00:13:50Z</dcterms:created>
  <dcterms:modified xsi:type="dcterms:W3CDTF">2026-05-09T00:13:50Z</dcterms:modified>
</cp:coreProperties>
</file>
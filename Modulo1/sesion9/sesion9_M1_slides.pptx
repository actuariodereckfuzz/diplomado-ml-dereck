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D8EA"/>
                </a:solidFill>
              </a:rPr>
              <a:t>Introduccion a Python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1316736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9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11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</a:rPr>
              <a:t>Pandas Avanzado + Primeras Visualizaciones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23957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Tabla maestra · Joins en cascada · Tips pro · Matplotlib intro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61488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94436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926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Miercoles 6 de mayo de 2026  ·  18:00 - 21:00 h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1012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32918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linea via Zoom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7588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" y="3657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Autonoma de Mexico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Agenda de Hoy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Sesion 9  ·  3 horas  ·  Miercoles 6 de mayo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18:00-18:10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8528" y="1133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Recapitulacion S8 — el dataset que construimos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18:10-18:50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165689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Tabla maestra: joins en cascada sobre datos reales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125066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18:50-19:25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217993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Tips profesionales de pandas — los que marcan la diferencia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19:25-19:35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38528" y="270296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(10 minutos)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3171139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19:35-20:10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38528" y="322600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Matplotlib: la base de toda visualizacion en Python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20:10-20:45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Primeras graficas sobre la tabla maestra actuarial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4217213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20:45-21:00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8528" y="4272077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Cierre y preview del viernes (otro profesor — T6 formal)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TABLA MAESTRA — EL OBJETIVO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Construir la Tabla Analitica de la Cartera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Un solo DataFrame con todo lo necesario para analizar — como lo haces en produccion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 empresas reales los datos nunca llegan en un solo archivo. La tarea del analista es construir la tabla analitica maestra uniendo fuentes distintas. Hoy lo hacemos con los 4 archivos que generamos la sesion pasada.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1920240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19072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cartera_polizas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9202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50k x 46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40864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" y="2249424"/>
            <a:ext cx="192024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28600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siniestros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" y="248716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18k x 30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40864" y="2340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" y="2816352"/>
            <a:ext cx="192024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852928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pagos_siniestros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305409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25k x 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40864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7472" y="3383280"/>
            <a:ext cx="1920240" cy="438912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41985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catalogo_agentes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" y="362102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x 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40864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A8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24912" y="1609344"/>
            <a:ext cx="6071616" cy="2304288"/>
          </a:xfrm>
          <a:prstGeom prst="rect">
            <a:avLst/>
          </a:prstGeom>
          <a:solidFill>
            <a:srgbClr val="1E8449">
              <a:alpha val="12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24912" y="1609344"/>
            <a:ext cx="6071616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1609344"/>
            <a:ext cx="5925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TABLA MAESTRA ACTUARIAL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16352" y="2029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id_poliza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79008" y="2029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nombre_agente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816352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ramo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79008" y="22860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g_edad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16352" y="2542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prima_total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79008" y="25420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prima_calc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816352" y="27980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nivel_riesgo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79008" y="27980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total_siniestros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816352" y="30540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monto_pagado_total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79008" y="30540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fraccion_expuesta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" y="3913632"/>
            <a:ext cx="8449056" cy="969264"/>
          </a:xfrm>
          <a:prstGeom prst="rect">
            <a:avLst/>
          </a:prstGeom>
          <a:solidFill>
            <a:srgbClr val="071228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913632"/>
            <a:ext cx="8449056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Las claves de union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4242816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 ←→ siniestros:      LEFT JOIN en 'id_poliza'    (1 poliza puede tener 0 o N siniestros)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" y="4390949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siniestros ←→ pagos:         LEFT JOIN en 'id_siniestro' (1 siniestro puede tener 0 o N pagos)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" y="4539082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 ←→ catalogo_agentes:LEFT JOIN en 'agente_id'    (catalogo — siempre tiene coincidencia)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Tabla maestra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JOINS EN CASCADA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Construir la Tabla Maestra Paso a Paso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Cada join agrega una dimension — verificamos shape y NaN en cada paso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Codigo completo — lo ejecutamos en vivo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sesion8_soluciones import limpiar_cartera_completa, ANALITICAS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Paso 1: cargar y limpiar la cartera base 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cartera = limpiar_cartera_completa()  # pipeline S8 completo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print(f'Base: {cartera.shape}')       # (50000, 31)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Paso 2: agregar info del agente ──────────────────────────────────────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agentes = pd.read_csv('datos/catalogo_agentes.csv')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pd.merge(cartera, agentes[['agente_id','nombre','region','tipo']].rename(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columns={'nombre':'nombre_agente','tipo':'tipo_agente'}),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on='agente_id', how='left')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print(f'+ Agentes: {df.shape}')       # +2 columnas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Paso 3: agregar resumen de siniestros por poliza ─────────────────────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sins = pd.read_csv('datos/siniestros.csv',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usecols=['id_poliza','id_siniestro','monto_reclamado','monto_pagado','status_siniestro'],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na_values=['N/A',''])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resumen_sin = sins.groupby('id_poliza').agg(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n_siniestros   = ('id_siniestro', 'count'),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monto_reclamado= ('monto_reclamado','sum'),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monto_pagado   = ('monto_pagado',  'sum'),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tiene_abierto  = ('status_siniestro', lambda x: (x=='En proceso').any()),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890211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).reset_index()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5038344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5186477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pd.merge(df, resumen_sin, on='id_poliza', how='left')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5334610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Polizas sin siniestros → NaN → rellenar con 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5482742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df[['n_siniestros','monto_reclamado','monto_pagado']] = \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5630875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df[['n_siniestros','monto_reclamado','monto_pagado']].fillna(0)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" y="5779008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df['tiene_abierto'] = df['tiene_abierto'].fillna(False)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" y="5927141"/>
            <a:ext cx="822960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print(f'+ Siniestros: {df.shape}')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Joins en cascada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TIPS PROFESIONALES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Tips que Marcan la Diferencia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Lo que no esta en los tutoriales de pandas — practicas de produccion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Codigo mas expresivo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assign(): encadenar columnas nuevas sin variables intermedias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(df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.assign(prima_mensual  = lambda x: x['prima_total']/12,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ratio_siniestro = lambda x: x['monto_pagado']/x['prima_total'],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nivel_riesgo    = lambda x: pd.cut(x['n_siniestros'],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bins=[-1,0,1,99],labels=['BAJO','MEDIO','ALTO']))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pipe(): pipeline legible como verbos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agregar_metricas(df):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df.assign(loss_ratio=df['monto_pagado']/df['prima_total'])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filtrar_vigentes(df):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df[df['status_poliza']=='Vigente']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(df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.pipe(agregar_metricas)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.pipe(filtrar_vigentes)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query(): filtros legibles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Menos legible: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df[(df['prima_total']&gt;5000) &amp; (df['ramo']=='GMM') &amp; (df['n_siniestros']&gt;0)]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 legible: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89021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df.query('prima_total &gt; 5000 and ramo == "GMM" and n_siniestros &gt; 0')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Analisis mas potente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crosstab(): frecuencia cruzada — mas rapido que pivot_table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pd.crosstab(df['ramo'], df['nivel_riesgo'],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values=df['prima_total'], aggfunc='sum',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margins=True, normalize='index')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qcut(): rangos por CUARTILES (no fijos)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df['cuartil_prima'] = pd.qcut(df['prima_total'], q=4,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labels=['Q1','Q2','Q3','Q4'])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Categorical con ORDEN — para que BAJO &lt; MEDIO &lt; ALTO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df['nivel_riesgo'] = pd.Categorical(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df['nivel_riesgo'],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categories=['BAJO','MEDIO','ALTO'],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ordered=True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Ahora .sort_values('nivel_riesgo') ordena correctamente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df[df['nivel_riesgo'] &gt;= 'MEDIO'] funciona!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value_counts con normalize — porcentajes directos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df['ramo'].value_counts(normalize=True).mul(100).round(1)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nlargest / nsmallest — top N sin sort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df.nlargest(10, 'prima_total')[['nombre','ramo','prima_total']]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74207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df.nsmallest(5,  'n_siniestros')[['nombre','n_siniestros']]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Tips profesionales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TIPS PROFESIONALES · PARTE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Mas Tips — Depuracion y Eficiencia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Lo que usas cuando algo no funciona o cuando el codigo es lento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Depurar y explorar datos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sample() — ver filas aleatorias (no siempre head)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df.sample(5, random_state=42)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isin() — filtrar por lista de valores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df[df['ramo'].isin(['GMM','Vida'])]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df[~df['estado'].isin(['CDMX','Jalisco'])]  # NOT isin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between() — rangos de valores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df[df['prima_total'].between(3000, 8000)]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df[df['fecha_emision'].between('2024-01-01','2024-12-31')]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where() — condicional vectorizado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df['prima_ajustada'] = df['prima_total'].where(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df['n_siniestros']==0,     # condicion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df['prima_total'] * 1.20   # valor si NO cumple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idxmax() / idxmin() — indice del maximo/minimo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df['prima_total'].idxmax()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print(df.loc[idx, ['nombre','ramo','prima_total']])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nunique() por columna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df.nunique().sort_values(ascending=False)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str.extract() — regex en columnas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num_poliza = 'GMM-24-000123'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ramo, anio y secuencia en una sola operacion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partes = df['num_poliza'].str.extract(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r'^(?P&lt;cod_ramo&gt;[A-Z]+)-(?P&lt;anio&gt;[0-9]{2})-(?P&lt;seq&gt;[0-9]+)'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pd.concat([df, partes], axis=1)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Extraer anio de emision del num_poliza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df['anio_emision_v2'] = '20' + df['num_poliza'].str.extract(r'-([0-9]{2})-')[0]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 que coincide con la fecha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df['anio_emision_v2'].astype(int) == df['fecha_emision'].dt.year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print(f'Coincidencias: {check.sum():,} / {len(df):,}')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Detectar polizas con patron incorrecto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patron = r'^[A-Z]{2,4}-[0-9]{2}-[0-9]{6}$'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invalidas = df[~df['num_poliza'].str.match(patron)]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print(f'Polizas con num invalido: {len(invalidas)}')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Tips · parte 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MATPLOTLIB — INTRODUCCION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Matplotlib: La Base de Toda Visualizacion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motor detras de pandas, seaborn y muchas otras librerias — hay que entender su logica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4241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Matplotlib puede parecer verbose al principio, pero su logica es consistente: todo vive en una Figure (la hoja) que contiene uno o mas Axes (los ejes donde se grafica). Entender esta jerarquia facilita personalizar cualquier grafica.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45920"/>
            <a:ext cx="4315968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45920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4592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 anatomia de una grafica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99339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4152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 as mpl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8965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mpl.rcParams['figure.dpi'] = 120  # mejor resolucion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377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58592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1: rapida (para explorar)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3405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plt.plot([1,2,3],[4,5,6])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88218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303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1784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2: orientada a objetos (recomendada)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2658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plt.subplots(figsize=(10,5))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ax.plot([1,2,3],[4,5,6])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2285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ax.set_title('Mi grafica')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7709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ax.set_xlabel('Eje X')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191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ax.set_ylabel('Eje Y')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06725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1538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36351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5116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Multiples graficas en una figura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6597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figsize=(14,5))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80791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axes[0].plot(...)  # izquierda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95604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axes[1].bar(...)   # derecha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510418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28032" y="1645920"/>
            <a:ext cx="3968496" cy="349300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1645920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1645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Tipos basicos de grafica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199339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Barras — comparar grupos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14152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ax.bar(categorias, valores, color='steelblue')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228965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ax.barh(categorias, valores)  # horizontal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24377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58592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Linea — tendencias en el tiempo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73405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ax.plot(fechas, valores, marker='o', linewidth=2)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88218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0303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Histograma — distribucion de una variable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31784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ax.hist(df['prima_total'], bins=30, edgecolor='white')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332658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347472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Dispersion — relacion entre dos variables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62285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ax.scatter(df['edad'], df['prima_total'], alpha=0.4)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7709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9191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Boxplot — distribucion con outliers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406725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ax.boxplot([grupo1, grupo2, grupo3])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421538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436351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Pie — proporciones (usar con cuidado)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5116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ax.pie(valores, labels=etiquetas, autopct='%1.1f%%')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Matplotlib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GRAFICAS SOBRE LA TABLA MAESTRA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4 Graficas que Responden Preguntas de Negocio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Usamos la tabla que construimos hoy — los datos ya los conocen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Grafica 1: Prima por ramo (barras)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plt.subplots(figsize=(8,4))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 = df.groupby('ramo')['prima_total'].sum().sort_values()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 = {'GMM':'#0D7A8A','Autos':'#1A5276',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'Vida':'#1E8449','Accidentes Personales':'#6C3483'}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bars = ax.barh(resumen.index, resumen.values/1_000_000,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color=[colores.get(r,'gray') for r in resumen.index])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ax.set_xlabel('Prima total (millones MXN)')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ax.set_title('Prima Total por Ramo — Q1 2026', fontsize=14, fontweight='bold')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ax.bar_label(bars, fmt='$%.1fM', padding=4)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ax.spines[['top','right']].set_visible(False)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Grafica 2: Distribucion de primas (hist)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plt.subplots(1,3, figsize=(14,4), sharey=True)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ax, ramo in zip(axes, ['GMM','Autos','Vida']):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df[df['ramo']==ramo]['prima_total']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ax.hist(datos, bins=40, color='#0D7A8A',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edgecolor='white', alpha=0.8)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ax.axvline(datos.median(), color='#F4A261',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linewidth=2, linestyle='--',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label=f'Mediana ${datos.median():,.0f}')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ax.set_title(ramo, fontweight='bold')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ax.set_xlabel('Prima (MXN)')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ax.legend(fontsize=8)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ax.spines[['top','right']].set_visible(False)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fig.suptitle('Distribucion de Primas por Ramo',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fontsize=14, fontweight='bold')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Primeras graficas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GRAFICAS SOBRE LA TABLA MAESTRA · 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Graficas 3 y 4 — Tendencias y Relaciones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Emisiones en el tiempo y relacion prima vs edad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Grafica 3: Polizas emitidas por mes (linea)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Necesitamos la fecha de emision como datetime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315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df['mes_emision'] = df['fecha_emision'].dt.to_period('M')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129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7942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por_mes = (df.groupby(['mes_emision','ramo'])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2755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.size()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7568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.reset_index(name='polizas'))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23821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7195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plt.subplots(figsize=(12,5))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2008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6821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colores_ramo = {'GMM':'#0D7A8A','Autos':'#1A5276',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1635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'Vida':'#1E8449','Accidentes Personales':'#6C3483'}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64485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1261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ramo, grupo in por_mes.groupby('ramo'):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6075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fechas = grupo['mes_emision'].astype(str)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0888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ax.plot(fechas, grupo['polizas'], marker='o',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5701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label=ramo, color=colores_ramo.get(ramo,'gray'),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05149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linewidth=2, markersize=5)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53282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01414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ax.set_title('Emision de Polizas por Mes y Ramo',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149547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fontsize=14, fontweight='bold')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ax.set_xlabel('Mes'); ax.set_ylabel('Polizas emitidas')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445813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ax.legend(); ax.grid(axis='y', alpha=0.4)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593946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plt.xticks(rotation=45, ha='right')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742078"/>
            <a:ext cx="405993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Grafica 4: Edad vs Prima (scatter)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133502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plt.subplots(figsize=(9,5))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48315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63129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Muestra de 2000 puntos (scatter de 50k es lento)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77942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muestra = df.sample(2000, random_state=42)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92755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07568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colores_scatter = {'GMM':'#0D7A8A','Autos':'#F4A261',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223821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'Vida':'#1E8449',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37195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'Accidentes Personales':'#6C3483'}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52008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66821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ramo, grupo in muestra.groupby('ramo'):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81635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ax.scatter(grupo['edad'], grupo['prima_total'],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964485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label=ramo, alpha=0.5, s=20,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112618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color=colores_scatter.get(ramo,'gray'))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26075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40888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ax.set_title('Relacion Edad vs Prima por Ramo',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55701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fontsize=14, fontweight='bold')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705149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ax.set_xlabel('Edad del asegurado')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853282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ax.set_ylabel('Prima total (MXN)')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4001414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ax.legend(markerscale=2)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149547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ax.yaxis.set_major_formatter(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297680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plt.FuncFormatter(lambda x,_: f'${x/1000:.0f}k'))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445813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ax.spines[['top','right']].set_visible(False)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593946"/>
            <a:ext cx="3749040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9  ·  Miercoles 6 de mayo 2026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Graficas 3 y 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49808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Resumen Sesion 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Pandas avanzado + primeras visualizaciones sobre datos reales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1097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Tabla maestra actuarial: joins en cascada sobre 4 fuentes de datos reales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619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15179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assign() y pipe(): pipelines expresivos sin variables intermedias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56816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query(): filtros legibles — produccion-ready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7744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" y="23591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qcut() y Categorical con orden: para que BAJO &lt; MEDIO &lt; ALTO funcione correctamente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9806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4944" y="27797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str.extract() con regex: extraer ramo y anio directamente del num_poliza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21868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94944" y="3200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Matplotlib: Figure vs Axes — la anatomia que aplica a toda la libreria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639312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4944" y="36210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4 graficas actuariales: barras, histograma por ramo, linea temporal, scatter</a:t>
            </a:r>
            <a:endParaRPr lang="en-US" sz="1200" dirty="0"/>
          </a:p>
        </p:txBody>
      </p:sp>
      <p:sp>
        <p:nvSpPr>
          <p:cNvPr id="20" name="Shape 11"/>
          <p:cNvSpPr/>
          <p:nvPr/>
        </p:nvSpPr>
        <p:spPr>
          <a:xfrm>
            <a:off x="411480" y="4078224"/>
            <a:ext cx="832104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11480" y="4078224"/>
            <a:ext cx="914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114800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59536" y="41056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Proxima sesion: Vie 8 mayo · otro profesor · T6 formal: Matplotlib + Seaborn · mismos datos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274320" y="448056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2026-05-04T16:37:35Z</dcterms:created>
  <dcterms:modified xsi:type="dcterms:W3CDTF">2026-05-04T16:37:35Z</dcterms:modified>
</cp:coreProperties>
</file>
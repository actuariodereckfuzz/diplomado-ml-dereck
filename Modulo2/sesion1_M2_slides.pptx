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81" r:id="rId2"/>
    <p:sldId id="282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C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la Eugenia Medina Diaz" userId="31c1db5119534f48" providerId="LiveId" clId="{5C899618-0CE1-4E3A-ADD1-06091A6D8A5C}"/>
    <pc:docChg chg="delSld">
      <pc:chgData name="Karla Eugenia Medina Diaz" userId="31c1db5119534f48" providerId="LiveId" clId="{5C899618-0CE1-4E3A-ADD1-06091A6D8A5C}" dt="2026-05-16T04:09:22.021" v="1" actId="47"/>
      <pc:docMkLst>
        <pc:docMk/>
      </pc:docMkLst>
      <pc:sldChg chg="del">
        <pc:chgData name="Karla Eugenia Medina Diaz" userId="31c1db5119534f48" providerId="LiveId" clId="{5C899618-0CE1-4E3A-ADD1-06091A6D8A5C}" dt="2026-05-16T04:09:22.021" v="1" actId="47"/>
        <pc:sldMkLst>
          <pc:docMk/>
          <pc:sldMk cId="835182588" sldId="2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870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43420-6E75-A375-DECE-62816D89D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3E02C-A56C-7A9B-E4BC-73E0AB8AB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94D9E9-D253-765E-3DF6-2F9F8E43F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2B80C-95B8-7FD5-FD9D-02DAC2B7B6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359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1EA9E-B575-FBF9-5FBD-1564F5607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91F25D-0364-A381-2575-BC518828C4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78790D-B88E-527B-205F-441221466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425B8-146E-4095-873F-BF4BC532E5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53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EAC1C-26B1-15D3-4EA0-0B7D6E5DB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A6AD23A-A01B-BD84-43C9-90AAACABECC1}"/>
              </a:ext>
            </a:extLst>
          </p:cNvPr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576FC3F-E642-2178-4C89-6939E1E19E55}"/>
              </a:ext>
            </a:extLst>
          </p:cNvPr>
          <p:cNvSpPr/>
          <p:nvPr/>
        </p:nvSpPr>
        <p:spPr>
          <a:xfrm>
            <a:off x="457200" y="0"/>
            <a:ext cx="137160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F8250AE-C86B-F63A-02B4-570C4201354B}"/>
              </a:ext>
            </a:extLst>
          </p:cNvPr>
          <p:cNvSpPr/>
          <p:nvPr/>
        </p:nvSpPr>
        <p:spPr>
          <a:xfrm>
            <a:off x="914400" y="1097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</a:p>
          <a:p>
            <a:pPr marL="0" indent="0">
              <a:buNone/>
            </a:pPr>
            <a:r>
              <a:rPr lang="en-US" sz="4200" b="1" kern="0" spc="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r>
              <a:rPr lang="en-US" sz="4200" b="1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de Datos</a:t>
            </a:r>
            <a:endParaRPr lang="en-US" sz="4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984431E-C184-5794-F14D-6CA3E23E80E2}"/>
              </a:ext>
            </a:extLst>
          </p:cNvPr>
          <p:cNvSpPr/>
          <p:nvPr/>
        </p:nvSpPr>
        <p:spPr>
          <a:xfrm>
            <a:off x="914400" y="24505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Temario</a:t>
            </a:r>
            <a:endParaRPr lang="en-US" sz="1400" dirty="0">
              <a:solidFill>
                <a:srgbClr val="00B050"/>
              </a:solidFill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59CD7F3-EC1A-F52F-D1B6-C7BE43A3E0EB}"/>
              </a:ext>
            </a:extLst>
          </p:cNvPr>
          <p:cNvSpPr/>
          <p:nvPr/>
        </p:nvSpPr>
        <p:spPr>
          <a:xfrm>
            <a:off x="914400" y="3017520"/>
            <a:ext cx="4114800" cy="36576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6B7780F3-9D6D-90AE-9332-79C67C9C5E3D}"/>
              </a:ext>
            </a:extLst>
          </p:cNvPr>
          <p:cNvSpPr/>
          <p:nvPr/>
        </p:nvSpPr>
        <p:spPr>
          <a:xfrm>
            <a:off x="914400" y="3218687"/>
            <a:ext cx="7772400" cy="9242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atípicos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(15 may - 20 may)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predictivos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(22 may – 27 may)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avanzada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faltantes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(29 may – 03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avanzada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(05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10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estadísticasTemario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(12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17 </a:t>
            </a:r>
            <a:r>
              <a:rPr lang="en-US" sz="1400" i="1" dirty="0" err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r>
              <a:rPr lang="en-US" sz="1400" i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4014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687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10116D-A5FA-5FA5-712A-70D256B2A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A5A4A77-89C9-1574-C8B5-0BC036760AF9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3A98277-C3AE-4768-92D7-536B438BCA0F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CE5269D-4A20-BF7A-F161-0960346BDEE2}"/>
              </a:ext>
            </a:extLst>
          </p:cNvPr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kern="0" spc="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19CB7DD-2FB6-35C6-8825-9F8EC1550E6F}"/>
              </a:ext>
            </a:extLst>
          </p:cNvPr>
          <p:cNvSpPr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Datos</a:t>
            </a:r>
            <a:endParaRPr lang="en-US" sz="4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E0DC2BC-E8F2-5562-2D8E-D7FD3622E629}"/>
              </a:ext>
            </a:extLst>
          </p:cNvPr>
          <p:cNvSpPr/>
          <p:nvPr/>
        </p:nvSpPr>
        <p:spPr>
          <a:xfrm>
            <a:off x="457200" y="2424215"/>
            <a:ext cx="8229600" cy="19877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 err="1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Profesores</a:t>
            </a:r>
            <a:endParaRPr lang="en-US" sz="2600" dirty="0">
              <a:solidFill>
                <a:srgbClr val="A8D8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Karla Medina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 Hernández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Salvador Zamora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Bello</a:t>
            </a:r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1DA70E3-FF0B-D937-7FDC-304443351C6E}"/>
              </a:ext>
            </a:extLst>
          </p:cNvPr>
          <p:cNvSpPr txBox="1"/>
          <p:nvPr/>
        </p:nvSpPr>
        <p:spPr>
          <a:xfrm>
            <a:off x="4452426" y="2424215"/>
            <a:ext cx="43820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2400" dirty="0"/>
              <a:t>Actuaría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2400" dirty="0"/>
              <a:t>Maestra en Finanzas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2400" dirty="0"/>
              <a:t>Maestra en Ciencias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2400" dirty="0"/>
              <a:t>Doctora en Economía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2400" dirty="0"/>
              <a:t>Maestra en Turismo Sostenible</a:t>
            </a:r>
          </a:p>
        </p:txBody>
      </p:sp>
    </p:spTree>
    <p:extLst>
      <p:ext uri="{BB962C8B-B14F-4D97-AF65-F5344CB8AC3E}">
        <p14:creationId xmlns:p14="http://schemas.microsoft.com/office/powerpoint/2010/main" val="391260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137160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ATÍPICOS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Datos Aseguradores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4505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· Visualización · Estrategias de Manejo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017520"/>
            <a:ext cx="4114800" cy="36576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de 10 horas  |  Nivel Actuarial y Seguros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Temas: Métodos Estadísticos · Visualización · Manejo · Aplicaciones en Seguros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del Curso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02920" cy="9144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57276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outlier? Importancia en seguros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502920" cy="91440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365760" y="228600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67004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Estadísticos: Z-Score, MAD, IQR, Percentiles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38328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502920" cy="91440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365760" y="338328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3474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76732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Visualización: Boxplots, Scatterplots, Q-Q, Densidad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118872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4709160" y="1188720"/>
            <a:ext cx="502920" cy="91440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4709160" y="118872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0352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0" y="157276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Manejo: Eliminación, Winsorización, Transformaciones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28600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4709160" y="2286000"/>
            <a:ext cx="502920" cy="91440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4709160" y="228600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0352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0" y="267004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en Seguros: Frecuencia/Severidad, Pareto, Por línea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38328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4709160" y="3383280"/>
            <a:ext cx="502920" cy="91440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4709160" y="3383280"/>
            <a:ext cx="502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03520" y="3474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03520" y="376732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ejercicios prácticos con Python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Valor Atípico (Outlier)?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observación que se desvía significativamente del resto del conjunto de datos.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196596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 Datos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incorrecta, error de digitación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60020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2514600" y="1600200"/>
            <a:ext cx="196596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2514600" y="17373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06040" y="2331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06040" y="265176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Reclamaciones falsas o infladas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60020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4663440" y="1600200"/>
            <a:ext cx="1965960" cy="54864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4663440" y="17373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🌪️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54880" y="2331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Extremo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65176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Catástrofes naturales, mega-siniestros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12280" y="160020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6812280" y="1600200"/>
            <a:ext cx="196596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6812280" y="17373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903720" y="2331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Tendencia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03720" y="265176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tendencias o mercados emergentes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548640" y="41148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En seguros, no todos los outliers son errores. Algunos representan riesgos catastróficos reales que deben modelarse con cuidado.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Reservas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754880" cy="1188720"/>
          </a:xfrm>
          <a:prstGeom prst="rect">
            <a:avLst/>
          </a:prstGeom>
          <a:solidFill>
            <a:srgbClr val="E8F4F8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de Impacto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% = (Valor Atípico ÷ Total Siniestros) × 100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03520" y="1051560"/>
            <a:ext cx="1691640" cy="100584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5303520" y="11247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303520" y="1645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siniestros en dataset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086600" y="1051560"/>
            <a:ext cx="169164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7086600" y="11247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086600" y="1645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por siniestro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Práctico: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347472" cy="3474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65760" y="2788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27889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base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80360" y="2788920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siniestros · Promedio $25,000 · Reserva esperada = $25 millones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9496" y="3136392"/>
            <a:ext cx="0" cy="338328"/>
          </a:xfrm>
          <a:prstGeom prst="line">
            <a:avLst/>
          </a:prstGeom>
          <a:noFill/>
          <a:ln w="19050">
            <a:solidFill>
              <a:srgbClr val="2ECC71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365760" y="3474720"/>
            <a:ext cx="347472" cy="3474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365760" y="3474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474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un outlier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80360" y="3474720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siniestro de $5 millones emerge en el dataset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9496" y="3822192"/>
            <a:ext cx="0" cy="338328"/>
          </a:xfrm>
          <a:prstGeom prst="line">
            <a:avLst/>
          </a:prstGeom>
          <a:noFill/>
          <a:ln w="19050">
            <a:solidFill>
              <a:srgbClr val="2ECC71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365760" y="4160520"/>
            <a:ext cx="347472" cy="3474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365760" y="41605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41605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calculado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880360" y="4160520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del total proviene de 1 solo siniestro = Reserva incorrecta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68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Estadísticos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0848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Detección de Outliers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Z-Score    › Z-Score Modificado (MAD)    › Método IQR    › Percentiles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 · MÉTODOS ESTADÍSTICOS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Z-Score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(X − μ) / σ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Valor observado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219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Media poblacional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7802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Desviación estándar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Interpretación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1417320" cy="347472"/>
          </a:xfrm>
          <a:prstGeom prst="rect">
            <a:avLst/>
          </a:prstGeom>
          <a:solidFill>
            <a:srgbClr val="0A234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4709160" y="132588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325880"/>
            <a:ext cx="1417320" cy="347472"/>
          </a:xfrm>
          <a:prstGeom prst="rect">
            <a:avLst/>
          </a:prstGeom>
          <a:solidFill>
            <a:srgbClr val="0A234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6126480" y="132588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98080" y="1325880"/>
            <a:ext cx="1417320" cy="347472"/>
          </a:xfrm>
          <a:prstGeom prst="rect">
            <a:avLst/>
          </a:prstGeom>
          <a:solidFill>
            <a:srgbClr val="0A234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7543800" y="132588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673352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4709160" y="167335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1673352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6126480" y="167335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98080" y="1673352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7543800" y="167335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2020824"/>
            <a:ext cx="141732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4709160" y="202082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2020824"/>
            <a:ext cx="141732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6126480" y="202082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98080" y="2020824"/>
            <a:ext cx="141732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7543800" y="202082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Inusual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368296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4709160" y="236829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80760" y="2368296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6126480" y="236829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498080" y="2368296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7543800" y="236829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inusual (outlier)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2715768"/>
            <a:ext cx="141732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4709160" y="271576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80760" y="2715768"/>
            <a:ext cx="141732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6126480" y="271576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498080" y="2715768"/>
            <a:ext cx="1417320" cy="34747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7543800" y="271576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3063240"/>
            <a:ext cx="841248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0E4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502920" y="3127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Práctico — </a:t>
            </a:r>
            <a:r>
              <a:rPr lang="en-US" sz="1200" b="1" dirty="0" err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Siniestros</a:t>
            </a: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autos [10K, 12K, 11K, 13K, 50K]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292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19.2K   |   σ = 15.43K   |   Z(50K) = 2.00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02920" y="3749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Con umbral de ±3, ningún outlier detectado — pero el siniestro de 50K es sospechoso (Z = 2.0).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 · MÉTODOS ESTADÍSTICOS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Z-Score: Ventajas y Limitaciones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023360" cy="502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75488" y="1078992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Ventajas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353312"/>
            <a:ext cx="380390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 calcular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interpretar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Ampliamente conocido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en cualquier lenguaje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11480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14800" cy="5029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773168" y="107899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Limitaciones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73168" y="1353312"/>
            <a:ext cx="389534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Asume distribución normal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a valores extremos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circular: outliers inflan su propio umbral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marcar demasiados puntos como anómalos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Solución: Z-Score Modificado (MAD) — ver siguiente sección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 · MÉTODOS ESTADÍSTICOS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Z-Score Modificado (MAD)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7315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= 0.6745 × (Xi − Mediana) / MAD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para calcular MAD  —  Datos: [5, 8, 10, 12, 15, 18, 22, 25, 28, 100]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365760" cy="4572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304288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2304288"/>
            <a:ext cx="5577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 + 18) / 2 = 16.5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89504"/>
            <a:ext cx="365760" cy="4572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65760" y="288950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907792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Desviaciones absolutas: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2907792"/>
            <a:ext cx="5577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|Xi − 16.5| para cada valor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493008"/>
            <a:ext cx="365760" cy="4572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365760" y="349300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511296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 = Mediana de desviaciones: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3511296"/>
            <a:ext cx="5577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(4.5 + 5.5) / 2 = 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096512"/>
            <a:ext cx="365760" cy="4572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365760" y="409651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4114800"/>
            <a:ext cx="2286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M-score del valor 100K: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4114800"/>
            <a:ext cx="5577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0.6745 × (100 − 16.5) / 5 = 11.26  →  ¡OUTLIER! (umbral: 3.5)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clave: Robusto a valores extremos · Mejor para datos sesgados · No asume normalidad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 · MÉTODOS ESTADÍSTICOS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Método IQR (Rango Intercuartil)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solidFill>
            <a:srgbClr val="E8F4F8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= Q3 − Q1      |      Lím. Inferior = Q1 − 1.5×IQR      |      Lím. Superior = Q3 + 1.5×IQR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paso a paso  —  Siniestros: [5K, 8K, 10K, 12K, 15K, 18K, 22K, 25K, 28K, 100K]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841248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(P25):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21031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= (10+1)×0.25 = 2.75  →  Q1 = 8K + 0.75×(10K−8K) = 9.5K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33472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57200" y="263347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63347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(P75):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26334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= (10+1)×0.75 = 8.25  →  Q3 = 25K + 0.25×(28K−25K) = 25.75K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163824"/>
            <a:ext cx="8412480" cy="4572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457200" y="316382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16382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31638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25.75K − 9.5K = 16.25K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694176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457200" y="369417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369417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Superior: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60320" y="36941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25.75K + 1.5 × 16.25K = 50.125K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224528"/>
            <a:ext cx="8412480" cy="457200"/>
          </a:xfrm>
          <a:prstGeom prst="rect">
            <a:avLst/>
          </a:prstGeom>
          <a:solidFill>
            <a:srgbClr val="E74C3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457200" y="422452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22452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60320" y="42245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 &gt;  50.125K  →  ¡OUTLIER CONFIRMADO! 🚨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 · MÉTODOS ESTADÍSTICOS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Percentiles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percentil es un valor por debajo del cual cae un porcentaje de los datos.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1325880" cy="82296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1463040"/>
            <a:ext cx="1325880" cy="822960"/>
          </a:xfrm>
          <a:prstGeom prst="rect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1783080" y="15087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83080" y="19202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463040"/>
            <a:ext cx="1325880" cy="8229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200400" y="15087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0" y="19202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1463040"/>
            <a:ext cx="1325880" cy="8229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4617720" y="15087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17720" y="19202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463040"/>
            <a:ext cx="1325880" cy="8229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6035040" y="15087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035040" y="19202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52360" y="1463040"/>
            <a:ext cx="1325880" cy="8229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7452360" y="15087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52360" y="19202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468880"/>
            <a:ext cx="841248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E4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502920" y="2514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en Seguros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281635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asegurador decide: "Captaré el 95% de siniestros normales y trataré el 5% superior como posibles outliers."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de Outlier = Percentil 95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3703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Métodos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023360"/>
            <a:ext cx="2103120" cy="274320"/>
          </a:xfrm>
          <a:prstGeom prst="rect">
            <a:avLst/>
          </a:prstGeom>
          <a:solidFill>
            <a:srgbClr val="0A234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411480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68880" y="4023360"/>
            <a:ext cx="2103120" cy="274320"/>
          </a:xfrm>
          <a:prstGeom prst="rect">
            <a:avLst/>
          </a:prstGeom>
          <a:solidFill>
            <a:srgbClr val="0A234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2514600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50K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4023360"/>
            <a:ext cx="2103120" cy="274320"/>
          </a:xfrm>
          <a:prstGeom prst="rect">
            <a:avLst/>
          </a:prstGeom>
          <a:solidFill>
            <a:srgbClr val="0A234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4617720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100K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75120" y="4023360"/>
            <a:ext cx="2103120" cy="274320"/>
          </a:xfrm>
          <a:prstGeom prst="rect">
            <a:avLst/>
          </a:prstGeom>
          <a:solidFill>
            <a:srgbClr val="0A234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6720840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150K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297680"/>
            <a:ext cx="2103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411480" y="4297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468880" y="4297680"/>
            <a:ext cx="2103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2514600" y="4297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 (no)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0" y="4297680"/>
            <a:ext cx="2103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9"/>
          <p:cNvSpPr/>
          <p:nvPr/>
        </p:nvSpPr>
        <p:spPr>
          <a:xfrm>
            <a:off x="4617720" y="4297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5.16 (SÍ)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675120" y="4297680"/>
            <a:ext cx="2103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Text 41"/>
          <p:cNvSpPr/>
          <p:nvPr/>
        </p:nvSpPr>
        <p:spPr>
          <a:xfrm>
            <a:off x="6720840" y="4297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8.47 (SÍ)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4572000"/>
            <a:ext cx="2103120" cy="27432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Text 43"/>
          <p:cNvSpPr/>
          <p:nvPr/>
        </p:nvSpPr>
        <p:spPr>
          <a:xfrm>
            <a:off x="411480" y="4572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Z-Modificado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468880" y="4572000"/>
            <a:ext cx="2103120" cy="27432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5"/>
          <p:cNvSpPr/>
          <p:nvPr/>
        </p:nvSpPr>
        <p:spPr>
          <a:xfrm>
            <a:off x="2514600" y="4572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(no)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0" y="4572000"/>
            <a:ext cx="2103120" cy="27432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Text 47"/>
          <p:cNvSpPr/>
          <p:nvPr/>
        </p:nvSpPr>
        <p:spPr>
          <a:xfrm>
            <a:off x="4617720" y="4572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11.26 (SÍ)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675120" y="4572000"/>
            <a:ext cx="2103120" cy="27432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Text 49"/>
          <p:cNvSpPr/>
          <p:nvPr/>
        </p:nvSpPr>
        <p:spPr>
          <a:xfrm>
            <a:off x="6720840" y="4572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18.71 (SÍ)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4846320"/>
            <a:ext cx="2103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Text 51"/>
          <p:cNvSpPr/>
          <p:nvPr/>
        </p:nvSpPr>
        <p:spPr>
          <a:xfrm>
            <a:off x="411480" y="4846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468880" y="4846320"/>
            <a:ext cx="2103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5" name="Text 53"/>
          <p:cNvSpPr/>
          <p:nvPr/>
        </p:nvSpPr>
        <p:spPr>
          <a:xfrm>
            <a:off x="2514600" y="4846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72000" y="4846320"/>
            <a:ext cx="2103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Text 55"/>
          <p:cNvSpPr/>
          <p:nvPr/>
        </p:nvSpPr>
        <p:spPr>
          <a:xfrm>
            <a:off x="4617720" y="4846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🚨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675120" y="4846320"/>
            <a:ext cx="21031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Text 57"/>
          <p:cNvSpPr/>
          <p:nvPr/>
        </p:nvSpPr>
        <p:spPr>
          <a:xfrm>
            <a:off x="6720840" y="4846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🚨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de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Atípicos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Boxplot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06040" y="3200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Scatterplot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3200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Gráfico Q-Q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03720" y="3200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〰️ Densidad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 · VISUALIZACIÓN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Diagrama de Caja (Boxplot)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0" y="1097280"/>
            <a:ext cx="0" cy="457200"/>
          </a:xfrm>
          <a:prstGeom prst="line">
            <a:avLst/>
          </a:prstGeom>
          <a:noFill/>
          <a:ln w="1905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371600" y="1097280"/>
            <a:ext cx="1828800" cy="0"/>
          </a:xfrm>
          <a:prstGeom prst="line">
            <a:avLst/>
          </a:prstGeom>
          <a:noFill/>
          <a:ln w="254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1188720" y="1554480"/>
            <a:ext cx="2194560" cy="1371600"/>
          </a:xfrm>
          <a:prstGeom prst="rect">
            <a:avLst/>
          </a:prstGeom>
          <a:solidFill>
            <a:srgbClr val="E8F4F8"/>
          </a:solidFill>
          <a:ln w="254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1188720" y="2240280"/>
            <a:ext cx="2194560" cy="0"/>
          </a:xfrm>
          <a:prstGeom prst="line">
            <a:avLst/>
          </a:prstGeom>
          <a:noFill/>
          <a:ln w="381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2286000" y="2926080"/>
            <a:ext cx="0" cy="457200"/>
          </a:xfrm>
          <a:prstGeom prst="line">
            <a:avLst/>
          </a:prstGeom>
          <a:noFill/>
          <a:ln w="1905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1371600" y="3383280"/>
            <a:ext cx="1828800" cy="0"/>
          </a:xfrm>
          <a:prstGeom prst="line">
            <a:avLst/>
          </a:prstGeom>
          <a:noFill/>
          <a:ln w="254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2194560" y="3611880"/>
            <a:ext cx="182880" cy="1828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2194560" y="3886200"/>
            <a:ext cx="182880" cy="1828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794760" y="10241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Bigote superior (Q3 + 1.5×IQR)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94760" y="14813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(Percentil 75)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94760" y="21671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(P50)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4760" y="28529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(Percentil 25)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94760" y="33101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Bigote inferior (Q1 − 1.5×IQR)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4760" y="36393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1005840"/>
            <a:ext cx="2834640" cy="38404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E4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6035040" y="10789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 un Boxplot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Caja angosta = datos concentrados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198424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Caja ancha = alta variabilidad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35040" y="250545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Mediana centrada = distribución simétrica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302666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Mediana sesgada = distribución asimétrica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35478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Puntos fuera de bigotes = outliers confirmados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4069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Muescas superpuestas = medianas similares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64008" cy="25603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 · VISUALIZACIÓN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Scatterplot  /  2.3 Gráfico Q-Q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38404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E4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Dispersión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relaciones entre dos variables y resalta puntos inusuales.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389120"/>
            <a:ext cx="128016" cy="128016"/>
          </a:xfrm>
          <a:prstGeom prst="ellipse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1188720" y="4023360"/>
            <a:ext cx="128016" cy="128016"/>
          </a:xfrm>
          <a:prstGeom prst="ellipse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1645920" y="3657600"/>
            <a:ext cx="128016" cy="128016"/>
          </a:xfrm>
          <a:prstGeom prst="ellipse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2011680" y="3383280"/>
            <a:ext cx="128016" cy="128016"/>
          </a:xfrm>
          <a:prstGeom prst="ellipse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2468880" y="3108960"/>
            <a:ext cx="128016" cy="128016"/>
          </a:xfrm>
          <a:prstGeom prst="ellipse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2834640" y="2834640"/>
            <a:ext cx="128016" cy="128016"/>
          </a:xfrm>
          <a:prstGeom prst="ellipse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3291840" y="2560320"/>
            <a:ext cx="128016" cy="128016"/>
          </a:xfrm>
          <a:prstGeom prst="ellipse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3566160" y="3657600"/>
            <a:ext cx="128016" cy="12801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200400" y="3493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Outlier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5720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típico: Siniestro vs. Antigüedad de Póliza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114800" cy="3840480"/>
          </a:xfrm>
          <a:prstGeom prst="rect">
            <a:avLst/>
          </a:prstGeom>
          <a:solidFill>
            <a:srgbClr val="F0F4F8"/>
          </a:solidFill>
          <a:ln w="12700">
            <a:solidFill>
              <a:srgbClr val="D0E4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4800600" y="10789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Q-Q (Quantile-Quantile)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14173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distribución real vs. distribución teórica (normal).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4389120"/>
            <a:ext cx="3474720" cy="0"/>
          </a:xfrm>
          <a:prstGeom prst="line">
            <a:avLst/>
          </a:prstGeom>
          <a:noFill/>
          <a:ln w="19050">
            <a:solidFill>
              <a:srgbClr val="2ECC71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5029200" y="4297680"/>
            <a:ext cx="128016" cy="128016"/>
          </a:xfrm>
          <a:prstGeom prst="ellipse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5486400" y="3840480"/>
            <a:ext cx="128016" cy="128016"/>
          </a:xfrm>
          <a:prstGeom prst="ellipse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5943600" y="3383280"/>
            <a:ext cx="128016" cy="128016"/>
          </a:xfrm>
          <a:prstGeom prst="ellipse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6400800" y="2834640"/>
            <a:ext cx="128016" cy="128016"/>
          </a:xfrm>
          <a:prstGeom prst="ellipse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6858000" y="2423160"/>
            <a:ext cx="128016" cy="128016"/>
          </a:xfrm>
          <a:prstGeom prst="ellipse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7315200" y="1783080"/>
            <a:ext cx="128016" cy="128016"/>
          </a:xfrm>
          <a:prstGeom prst="ellipse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7863840" y="1463040"/>
            <a:ext cx="128016" cy="128016"/>
          </a:xfrm>
          <a:prstGeom prst="ellipse">
            <a:avLst/>
          </a:prstGeom>
          <a:solidFill>
            <a:srgbClr val="126872"/>
          </a:solidFill>
          <a:ln w="12700">
            <a:solidFill>
              <a:srgbClr val="12687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8229600" y="1554480"/>
            <a:ext cx="128016" cy="12801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4800600" y="4480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Normal: puntos siguen línea diagonal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Colas pesadas: puntos se desvían en extremos → Outliers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3150</TotalTime>
  <Words>1121</Words>
  <Application>Microsoft Office PowerPoint</Application>
  <PresentationFormat>Presentación en pantalla (16:9)</PresentationFormat>
  <Paragraphs>246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Valores Atípicos en Seguros</dc:title>
  <dc:subject>PptxGenJS Presentation</dc:subject>
  <dc:creator>PptxGenJS</dc:creator>
  <cp:lastModifiedBy>Karla Eugenia Medina Diaz</cp:lastModifiedBy>
  <cp:revision>4</cp:revision>
  <dcterms:created xsi:type="dcterms:W3CDTF">2026-05-07T02:09:17Z</dcterms:created>
  <dcterms:modified xsi:type="dcterms:W3CDTF">2026-05-16T04:09:24Z</dcterms:modified>
</cp:coreProperties>
</file>
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28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998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7498080" y="0"/>
            <a:ext cx="1645920" cy="1371600"/>
          </a:xfrm>
          <a:prstGeom prst="rect">
            <a:avLst/>
          </a:prstGeom>
          <a:solidFill>
            <a:srgbClr val="1A5276"/>
          </a:solidFill>
          <a:ln w="12700">
            <a:solidFill>
              <a:srgbClr val="1A5276"/>
            </a:solidFill>
            <a:prstDash val="solid"/>
          </a:ln>
        </p:spPr>
        <p:txBody>
          <a:bodyPr/>
          <a:lstStyle/>
          <a:p>
            <a:endParaRPr lang="es-MX"/>
          </a:p>
        </p:txBody>
      </p:sp>
      <p:sp>
        <p:nvSpPr>
          <p:cNvPr id="4" name="Shape 2"/>
          <p:cNvSpPr/>
          <p:nvPr/>
        </p:nvSpPr>
        <p:spPr>
          <a:xfrm>
            <a:off x="8138160" y="0"/>
            <a:ext cx="1005840" cy="1371600"/>
          </a:xfrm>
          <a:prstGeom prst="rect">
            <a:avLst/>
          </a:prstGeom>
          <a:solidFill>
            <a:srgbClr val="0D7A8A"/>
          </a:solidFill>
          <a:ln w="12700">
            <a:solidFill>
              <a:srgbClr val="0D7A8A"/>
            </a:solidFill>
            <a:prstDash val="solid"/>
          </a:ln>
        </p:spPr>
        <p:txBody>
          <a:bodyPr/>
          <a:lstStyle/>
          <a:p>
            <a:endParaRPr lang="es-MX"/>
          </a:p>
        </p:txBody>
      </p:sp>
      <p:pic>
        <p:nvPicPr>
          <p:cNvPr id="5" name="Image 0" descr="preencoded.png"/>
          <p:cNvPicPr>
            <a:picLocks noChangeAspect="1"/>
          </p:cNvPicPr>
          <p:nvPr/>
        </p:nvPicPr>
        <p:blipFill>
          <a:blip r:embed="rId3"/>
          <a:stretch>
            <a:fillRect/>
          </a:stretch>
        </p:blipFill>
        <p:spPr>
          <a:xfrm>
            <a:off x="6949440" y="1371600"/>
            <a:ext cx="1920240" cy="1920240"/>
          </a:xfrm>
          <a:prstGeom prst="rect">
            <a:avLst/>
          </a:prstGeom>
        </p:spPr>
      </p:pic>
      <p:sp>
        <p:nvSpPr>
          <p:cNvPr id="6" name="Shape 3"/>
          <p:cNvSpPr/>
          <p:nvPr/>
        </p:nvSpPr>
        <p:spPr>
          <a:xfrm>
            <a:off x="365760" y="475488"/>
            <a:ext cx="2011680" cy="292608"/>
          </a:xfrm>
          <a:prstGeom prst="rect">
            <a:avLst/>
          </a:prstGeom>
          <a:solidFill>
            <a:srgbClr val="0D7A8A"/>
          </a:solidFill>
          <a:ln w="12700">
            <a:solidFill>
              <a:srgbClr val="0D7A8A"/>
            </a:solidFill>
            <a:prstDash val="solid"/>
          </a:ln>
        </p:spPr>
        <p:txBody>
          <a:bodyPr/>
          <a:lstStyle/>
          <a:p>
            <a:endParaRPr lang="es-MX"/>
          </a:p>
        </p:txBody>
      </p:sp>
      <p:sp>
        <p:nvSpPr>
          <p:cNvPr id="7" name="Text 4"/>
          <p:cNvSpPr/>
          <p:nvPr/>
        </p:nvSpPr>
        <p:spPr>
          <a:xfrm>
            <a:off x="365760" y="475488"/>
            <a:ext cx="201168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rPr>
              <a:t>MODULO 2 · TEMA 2</a:t>
            </a:r>
            <a:endParaRPr lang="en-US" sz="900" dirty="0"/>
          </a:p>
        </p:txBody>
      </p:sp>
      <p:sp>
        <p:nvSpPr>
          <p:cNvPr id="8" name="Text 5"/>
          <p:cNvSpPr/>
          <p:nvPr/>
        </p:nvSpPr>
        <p:spPr>
          <a:xfrm>
            <a:off x="365760" y="896112"/>
            <a:ext cx="6217920" cy="384048"/>
          </a:xfrm>
          <a:prstGeom prst="rect">
            <a:avLst/>
          </a:prstGeom>
          <a:noFill/>
          <a:ln/>
        </p:spPr>
        <p:txBody>
          <a:bodyPr wrap="square" lIns="0" tIns="0" rIns="0" bIns="0" rtlCol="0" anchor="ctr"/>
          <a:lstStyle/>
          <a:p>
            <a:pPr marL="0" indent="0">
              <a:buNone/>
            </a:pPr>
            <a:r>
              <a:rPr lang="en-US" sz="2000" b="1" dirty="0">
                <a:solidFill>
                  <a:srgbClr val="A8D8EA"/>
                </a:solidFill>
              </a:rPr>
              <a:t>Analisis de Datos</a:t>
            </a:r>
            <a:endParaRPr lang="en-US" sz="2000" dirty="0"/>
          </a:p>
        </p:txBody>
      </p:sp>
      <p:sp>
        <p:nvSpPr>
          <p:cNvPr id="9" name="Text 6"/>
          <p:cNvSpPr/>
          <p:nvPr/>
        </p:nvSpPr>
        <p:spPr>
          <a:xfrm>
            <a:off x="365760" y="1316736"/>
            <a:ext cx="6583680" cy="658368"/>
          </a:xfrm>
          <a:prstGeom prst="rect">
            <a:avLst/>
          </a:prstGeom>
          <a:noFill/>
          <a:ln/>
        </p:spPr>
        <p:txBody>
          <a:bodyPr wrap="square" lIns="0" tIns="0" rIns="0" bIns="0" rtlCol="0" anchor="ctr"/>
          <a:lstStyle/>
          <a:p>
            <a:pPr marL="0" indent="0">
              <a:buNone/>
            </a:pPr>
            <a:r>
              <a:rPr lang="en-US" sz="4000" b="1" dirty="0">
                <a:solidFill>
                  <a:srgbClr val="FFFFFF"/>
                </a:solidFill>
              </a:rPr>
              <a:t>Imputacion Avanzada</a:t>
            </a:r>
            <a:endParaRPr lang="en-US" sz="4000" dirty="0"/>
          </a:p>
        </p:txBody>
      </p:sp>
      <p:sp>
        <p:nvSpPr>
          <p:cNvPr id="10" name="Text 7"/>
          <p:cNvSpPr/>
          <p:nvPr/>
        </p:nvSpPr>
        <p:spPr>
          <a:xfrm>
            <a:off x="365760" y="1956816"/>
            <a:ext cx="6583680" cy="475488"/>
          </a:xfrm>
          <a:prstGeom prst="rect">
            <a:avLst/>
          </a:prstGeom>
          <a:noFill/>
          <a:ln/>
        </p:spPr>
        <p:txBody>
          <a:bodyPr wrap="square" lIns="0" tIns="0" rIns="0" bIns="0" rtlCol="0" anchor="ctr"/>
          <a:lstStyle/>
          <a:p>
            <a:pPr marL="0" indent="0">
              <a:buNone/>
            </a:pPr>
            <a:r>
              <a:rPr lang="en-US" sz="4000" b="1" dirty="0">
                <a:solidFill>
                  <a:srgbClr val="FFFFFF"/>
                </a:solidFill>
              </a:rPr>
              <a:t>de Valores Faltantes</a:t>
            </a:r>
            <a:endParaRPr lang="en-US" sz="4000" dirty="0"/>
          </a:p>
        </p:txBody>
      </p:sp>
      <p:sp>
        <p:nvSpPr>
          <p:cNvPr id="11" name="Text 8"/>
          <p:cNvSpPr/>
          <p:nvPr/>
        </p:nvSpPr>
        <p:spPr>
          <a:xfrm>
            <a:off x="365760" y="2487168"/>
            <a:ext cx="6400800" cy="274320"/>
          </a:xfrm>
          <a:prstGeom prst="rect">
            <a:avLst/>
          </a:prstGeom>
          <a:noFill/>
          <a:ln/>
        </p:spPr>
        <p:txBody>
          <a:bodyPr wrap="square" lIns="0" tIns="0" rIns="0" bIns="0" rtlCol="0" anchor="ctr"/>
          <a:lstStyle/>
          <a:p>
            <a:pPr marL="0" indent="0">
              <a:buNone/>
            </a:pPr>
            <a:r>
              <a:rPr lang="en-US" sz="1200" dirty="0">
                <a:solidFill>
                  <a:srgbClr val="8FA3B1"/>
                </a:solidFill>
              </a:rPr>
              <a:t>SimpleImputer · KNNImputer · IterativeImputer (MICE)</a:t>
            </a:r>
            <a:endParaRPr lang="en-US" sz="1200" dirty="0"/>
          </a:p>
        </p:txBody>
      </p:sp>
      <p:sp>
        <p:nvSpPr>
          <p:cNvPr id="12" name="Shape 9"/>
          <p:cNvSpPr/>
          <p:nvPr/>
        </p:nvSpPr>
        <p:spPr>
          <a:xfrm>
            <a:off x="365760" y="2834640"/>
            <a:ext cx="4389120" cy="36576"/>
          </a:xfrm>
          <a:prstGeom prst="rect">
            <a:avLst/>
          </a:prstGeom>
          <a:solidFill>
            <a:srgbClr val="0D7A8A"/>
          </a:solidFill>
          <a:ln w="12700">
            <a:solidFill>
              <a:srgbClr val="0D7A8A"/>
            </a:solidFill>
            <a:prstDash val="solid"/>
          </a:ln>
        </p:spPr>
        <p:txBody>
          <a:bodyPr/>
          <a:lstStyle/>
          <a:p>
            <a:endParaRPr lang="es-MX"/>
          </a:p>
        </p:txBody>
      </p:sp>
      <p:pic>
        <p:nvPicPr>
          <p:cNvPr id="13" name="Image 1" descr="preencoded.png"/>
          <p:cNvPicPr>
            <a:picLocks noChangeAspect="1"/>
          </p:cNvPicPr>
          <p:nvPr/>
        </p:nvPicPr>
        <p:blipFill>
          <a:blip r:embed="rId4"/>
          <a:stretch>
            <a:fillRect/>
          </a:stretch>
        </p:blipFill>
        <p:spPr>
          <a:xfrm>
            <a:off x="365760" y="2999232"/>
            <a:ext cx="237744" cy="237744"/>
          </a:xfrm>
          <a:prstGeom prst="rect">
            <a:avLst/>
          </a:prstGeom>
        </p:spPr>
      </p:pic>
      <p:sp>
        <p:nvSpPr>
          <p:cNvPr id="14" name="Text 10"/>
          <p:cNvSpPr/>
          <p:nvPr/>
        </p:nvSpPr>
        <p:spPr>
          <a:xfrm>
            <a:off x="694944" y="2980944"/>
            <a:ext cx="5943600" cy="274320"/>
          </a:xfrm>
          <a:prstGeom prst="rect">
            <a:avLst/>
          </a:prstGeom>
          <a:noFill/>
          <a:ln/>
        </p:spPr>
        <p:txBody>
          <a:bodyPr wrap="square" lIns="0" tIns="0" rIns="0" bIns="0" rtlCol="0" anchor="ctr"/>
          <a:lstStyle/>
          <a:p>
            <a:pPr marL="0" indent="0">
              <a:buNone/>
            </a:pPr>
            <a:r>
              <a:rPr lang="en-US" sz="1100" dirty="0">
                <a:solidFill>
                  <a:srgbClr val="F0F4F8"/>
                </a:solidFill>
              </a:rPr>
              <a:t>Diplomado ML en Seguros · FC UNAM · 2026</a:t>
            </a:r>
            <a:endParaRPr lang="en-US" sz="1100" dirty="0"/>
          </a:p>
        </p:txBody>
      </p:sp>
      <p:pic>
        <p:nvPicPr>
          <p:cNvPr id="15" name="Image 2" descr="preencoded.png"/>
          <p:cNvPicPr>
            <a:picLocks noChangeAspect="1"/>
          </p:cNvPicPr>
          <p:nvPr/>
        </p:nvPicPr>
        <p:blipFill>
          <a:blip r:embed="rId5"/>
          <a:stretch>
            <a:fillRect/>
          </a:stretch>
        </p:blipFill>
        <p:spPr>
          <a:xfrm>
            <a:off x="365760" y="3346704"/>
            <a:ext cx="237744" cy="237744"/>
          </a:xfrm>
          <a:prstGeom prst="rect">
            <a:avLst/>
          </a:prstGeom>
        </p:spPr>
      </p:pic>
      <p:sp>
        <p:nvSpPr>
          <p:cNvPr id="16" name="Text 11"/>
          <p:cNvSpPr/>
          <p:nvPr/>
        </p:nvSpPr>
        <p:spPr>
          <a:xfrm>
            <a:off x="694944" y="3328416"/>
            <a:ext cx="5943600" cy="274320"/>
          </a:xfrm>
          <a:prstGeom prst="rect">
            <a:avLst/>
          </a:prstGeom>
          <a:noFill/>
          <a:ln/>
        </p:spPr>
        <p:txBody>
          <a:bodyPr wrap="square" lIns="0" tIns="0" rIns="0" bIns="0" rtlCol="0" anchor="ctr"/>
          <a:lstStyle/>
          <a:p>
            <a:pPr marL="0" indent="0">
              <a:buNone/>
            </a:pPr>
            <a:r>
              <a:rPr lang="en-US" sz="1100" dirty="0">
                <a:solidFill>
                  <a:srgbClr val="8FA3B1"/>
                </a:solidFill>
              </a:rPr>
              <a:t>Instructor: Eric</a:t>
            </a:r>
            <a:endParaRPr lang="en-US" sz="1100" dirty="0"/>
          </a:p>
        </p:txBody>
      </p:sp>
      <p:sp>
        <p:nvSpPr>
          <p:cNvPr id="17" name="Shape 12"/>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18" name="Text 13"/>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900" dirty="0">
                <a:solidFill>
                  <a:srgbClr val="8FA3B1"/>
                </a:solidFill>
              </a:rPr>
              <a:t>Facultad de Ciencias · Universidad Nacional Autonoma de Mexico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Text 1"/>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500" b="1" dirty="0">
                <a:solidFill>
                  <a:srgbClr val="FFFFFF"/>
                </a:solidFill>
              </a:rPr>
              <a:t>Agenda</a:t>
            </a:r>
            <a:endParaRPr lang="en-US" sz="2500" dirty="0"/>
          </a:p>
        </p:txBody>
      </p:sp>
      <p:sp>
        <p:nvSpPr>
          <p:cNvPr id="4" name="Text 2"/>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Modulo 2 · Tema 2 · Imputacion Avanzada de Valores Faltantes</a:t>
            </a:r>
            <a:endParaRPr lang="en-US" sz="1200" dirty="0"/>
          </a:p>
        </p:txBody>
      </p:sp>
      <p:sp>
        <p:nvSpPr>
          <p:cNvPr id="5" name="Shape 3"/>
          <p:cNvSpPr/>
          <p:nvPr/>
        </p:nvSpPr>
        <p:spPr>
          <a:xfrm>
            <a:off x="347472" y="1078992"/>
            <a:ext cx="1188720" cy="438912"/>
          </a:xfrm>
          <a:prstGeom prst="rect">
            <a:avLst/>
          </a:prstGeom>
          <a:solidFill>
            <a:srgbClr val="0D7A8A"/>
          </a:solidFill>
          <a:ln w="12700">
            <a:solidFill>
              <a:srgbClr val="0D7A8A"/>
            </a:solidFill>
            <a:prstDash val="solid"/>
          </a:ln>
        </p:spPr>
        <p:txBody>
          <a:bodyPr/>
          <a:lstStyle/>
          <a:p>
            <a:endParaRPr lang="es-MX"/>
          </a:p>
        </p:txBody>
      </p:sp>
      <p:sp>
        <p:nvSpPr>
          <p:cNvPr id="6" name="Text 4"/>
          <p:cNvSpPr/>
          <p:nvPr/>
        </p:nvSpPr>
        <p:spPr>
          <a:xfrm>
            <a:off x="347472" y="1078992"/>
            <a:ext cx="1188720" cy="438912"/>
          </a:xfrm>
          <a:prstGeom prst="rect">
            <a:avLst/>
          </a:prstGeom>
          <a:noFill/>
          <a:ln/>
        </p:spPr>
        <p:txBody>
          <a:bodyPr wrap="square" lIns="0" tIns="0" rIns="0" bIns="0" rtlCol="0" anchor="ctr"/>
          <a:lstStyle/>
          <a:p>
            <a:pPr marL="0" indent="0" algn="ctr">
              <a:buNone/>
            </a:pPr>
            <a:r>
              <a:rPr lang="en-US" sz="1000" b="1" dirty="0">
                <a:solidFill>
                  <a:srgbClr val="FFFFFF"/>
                </a:solidFill>
              </a:rPr>
              <a:t>Bloque 1</a:t>
            </a:r>
            <a:endParaRPr lang="en-US" sz="1000" dirty="0"/>
          </a:p>
        </p:txBody>
      </p:sp>
      <p:sp>
        <p:nvSpPr>
          <p:cNvPr id="7" name="Shape 5"/>
          <p:cNvSpPr/>
          <p:nvPr/>
        </p:nvSpPr>
        <p:spPr>
          <a:xfrm>
            <a:off x="1609344" y="1078992"/>
            <a:ext cx="7205472" cy="43891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1737360" y="1115568"/>
            <a:ext cx="6949440" cy="237744"/>
          </a:xfrm>
          <a:prstGeom prst="rect">
            <a:avLst/>
          </a:prstGeom>
          <a:noFill/>
          <a:ln/>
        </p:spPr>
        <p:txBody>
          <a:bodyPr wrap="square" lIns="0" tIns="0" rIns="0" bIns="0" rtlCol="0" anchor="ctr"/>
          <a:lstStyle/>
          <a:p>
            <a:pPr marL="0" indent="0">
              <a:buNone/>
            </a:pPr>
            <a:r>
              <a:rPr lang="en-US" sz="1150" b="1" dirty="0">
                <a:solidFill>
                  <a:srgbClr val="374151"/>
                </a:solidFill>
              </a:rPr>
              <a:t>El problema — NaN en ML no es igual que NaN en analisis descriptivo</a:t>
            </a:r>
            <a:endParaRPr lang="en-US" sz="1150" dirty="0"/>
          </a:p>
        </p:txBody>
      </p:sp>
      <p:sp>
        <p:nvSpPr>
          <p:cNvPr id="9" name="Text 7"/>
          <p:cNvSpPr/>
          <p:nvPr/>
        </p:nvSpPr>
        <p:spPr>
          <a:xfrm>
            <a:off x="1737360" y="1316736"/>
            <a:ext cx="6949440" cy="182880"/>
          </a:xfrm>
          <a:prstGeom prst="rect">
            <a:avLst/>
          </a:prstGeom>
          <a:noFill/>
          <a:ln/>
        </p:spPr>
        <p:txBody>
          <a:bodyPr wrap="square" lIns="0" tIns="0" rIns="0" bIns="0" rtlCol="0" anchor="ctr"/>
          <a:lstStyle/>
          <a:p>
            <a:pPr marL="0" indent="0">
              <a:buNone/>
            </a:pPr>
            <a:r>
              <a:rPr lang="en-US" sz="950" dirty="0">
                <a:solidFill>
                  <a:srgbClr val="8FA3B1"/>
                </a:solidFill>
              </a:rPr>
              <a:t>MCAR · MAR · MNAR — la teoria que justifica el metodo</a:t>
            </a:r>
            <a:endParaRPr lang="en-US" sz="950" dirty="0"/>
          </a:p>
        </p:txBody>
      </p:sp>
      <p:sp>
        <p:nvSpPr>
          <p:cNvPr id="10" name="Shape 8"/>
          <p:cNvSpPr/>
          <p:nvPr/>
        </p:nvSpPr>
        <p:spPr>
          <a:xfrm>
            <a:off x="347472" y="1609344"/>
            <a:ext cx="1188720" cy="438912"/>
          </a:xfrm>
          <a:prstGeom prst="rect">
            <a:avLst/>
          </a:prstGeom>
          <a:solidFill>
            <a:srgbClr val="1A5276"/>
          </a:solidFill>
          <a:ln w="12700">
            <a:solidFill>
              <a:srgbClr val="1A5276"/>
            </a:solidFill>
            <a:prstDash val="solid"/>
          </a:ln>
        </p:spPr>
        <p:txBody>
          <a:bodyPr/>
          <a:lstStyle/>
          <a:p>
            <a:endParaRPr lang="es-MX"/>
          </a:p>
        </p:txBody>
      </p:sp>
      <p:sp>
        <p:nvSpPr>
          <p:cNvPr id="11" name="Text 9"/>
          <p:cNvSpPr/>
          <p:nvPr/>
        </p:nvSpPr>
        <p:spPr>
          <a:xfrm>
            <a:off x="347472" y="1609344"/>
            <a:ext cx="1188720" cy="438912"/>
          </a:xfrm>
          <a:prstGeom prst="rect">
            <a:avLst/>
          </a:prstGeom>
          <a:noFill/>
          <a:ln/>
        </p:spPr>
        <p:txBody>
          <a:bodyPr wrap="square" lIns="0" tIns="0" rIns="0" bIns="0" rtlCol="0" anchor="ctr"/>
          <a:lstStyle/>
          <a:p>
            <a:pPr marL="0" indent="0" algn="ctr">
              <a:buNone/>
            </a:pPr>
            <a:r>
              <a:rPr lang="en-US" sz="1000" b="1" dirty="0">
                <a:solidFill>
                  <a:srgbClr val="FFFFFF"/>
                </a:solidFill>
              </a:rPr>
              <a:t>Bloque 2</a:t>
            </a:r>
            <a:endParaRPr lang="en-US" sz="1000" dirty="0"/>
          </a:p>
        </p:txBody>
      </p:sp>
      <p:sp>
        <p:nvSpPr>
          <p:cNvPr id="12" name="Shape 10"/>
          <p:cNvSpPr/>
          <p:nvPr/>
        </p:nvSpPr>
        <p:spPr>
          <a:xfrm>
            <a:off x="1609344" y="1609344"/>
            <a:ext cx="7205472" cy="43891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3" name="Text 11"/>
          <p:cNvSpPr/>
          <p:nvPr/>
        </p:nvSpPr>
        <p:spPr>
          <a:xfrm>
            <a:off x="1737360" y="1645920"/>
            <a:ext cx="6949440" cy="237744"/>
          </a:xfrm>
          <a:prstGeom prst="rect">
            <a:avLst/>
          </a:prstGeom>
          <a:noFill/>
          <a:ln/>
        </p:spPr>
        <p:txBody>
          <a:bodyPr wrap="square" lIns="0" tIns="0" rIns="0" bIns="0" rtlCol="0" anchor="ctr"/>
          <a:lstStyle/>
          <a:p>
            <a:pPr marL="0" indent="0">
              <a:buNone/>
            </a:pPr>
            <a:r>
              <a:rPr lang="en-US" sz="1150" b="1" dirty="0">
                <a:solidFill>
                  <a:srgbClr val="374151"/>
                </a:solidFill>
              </a:rPr>
              <a:t>Imputacion univariada — SimpleImputer</a:t>
            </a:r>
            <a:endParaRPr lang="en-US" sz="1150" dirty="0"/>
          </a:p>
        </p:txBody>
      </p:sp>
      <p:sp>
        <p:nvSpPr>
          <p:cNvPr id="14" name="Text 12"/>
          <p:cNvSpPr/>
          <p:nvPr/>
        </p:nvSpPr>
        <p:spPr>
          <a:xfrm>
            <a:off x="1737360" y="1847088"/>
            <a:ext cx="6949440" cy="182880"/>
          </a:xfrm>
          <a:prstGeom prst="rect">
            <a:avLst/>
          </a:prstGeom>
          <a:noFill/>
          <a:ln/>
        </p:spPr>
        <p:txBody>
          <a:bodyPr wrap="square" lIns="0" tIns="0" rIns="0" bIns="0" rtlCol="0" anchor="ctr"/>
          <a:lstStyle/>
          <a:p>
            <a:pPr marL="0" indent="0">
              <a:buNone/>
            </a:pPr>
            <a:r>
              <a:rPr lang="en-US" sz="950" dirty="0">
                <a:solidFill>
                  <a:srgbClr val="8FA3B1"/>
                </a:solidFill>
              </a:rPr>
              <a:t>media · mediana · moda · constante · cuando usar cada una</a:t>
            </a:r>
            <a:endParaRPr lang="en-US" sz="950" dirty="0"/>
          </a:p>
        </p:txBody>
      </p:sp>
      <p:sp>
        <p:nvSpPr>
          <p:cNvPr id="15" name="Shape 13"/>
          <p:cNvSpPr/>
          <p:nvPr/>
        </p:nvSpPr>
        <p:spPr>
          <a:xfrm>
            <a:off x="347472" y="2139696"/>
            <a:ext cx="8449056" cy="292608"/>
          </a:xfrm>
          <a:prstGeom prst="rect">
            <a:avLst/>
          </a:prstGeom>
          <a:solidFill>
            <a:srgbClr val="F4A261">
              <a:alpha val="15000"/>
            </a:srgbClr>
          </a:solidFill>
          <a:ln w="12700">
            <a:solidFill>
              <a:srgbClr val="F4A261"/>
            </a:solidFill>
            <a:prstDash val="solid"/>
          </a:ln>
        </p:spPr>
        <p:txBody>
          <a:bodyPr/>
          <a:lstStyle/>
          <a:p>
            <a:endParaRPr lang="es-MX"/>
          </a:p>
        </p:txBody>
      </p:sp>
      <p:sp>
        <p:nvSpPr>
          <p:cNvPr id="16" name="Text 14"/>
          <p:cNvSpPr/>
          <p:nvPr/>
        </p:nvSpPr>
        <p:spPr>
          <a:xfrm>
            <a:off x="475488" y="2139696"/>
            <a:ext cx="8229600" cy="292608"/>
          </a:xfrm>
          <a:prstGeom prst="rect">
            <a:avLst/>
          </a:prstGeom>
          <a:noFill/>
          <a:ln/>
        </p:spPr>
        <p:txBody>
          <a:bodyPr wrap="square" lIns="0" tIns="0" rIns="0" bIns="0" rtlCol="0" anchor="ctr"/>
          <a:lstStyle/>
          <a:p>
            <a:pPr marL="0" indent="0">
              <a:buNone/>
            </a:pPr>
            <a:r>
              <a:rPr lang="en-US" sz="1050" b="1" dirty="0">
                <a:solidFill>
                  <a:srgbClr val="7D4000"/>
                </a:solidFill>
              </a:rPr>
              <a:t>  Ejercicio 1: comparar 4 estrategias de imputacion en la cartera</a:t>
            </a:r>
            <a:endParaRPr lang="en-US" sz="1050" dirty="0"/>
          </a:p>
        </p:txBody>
      </p:sp>
      <p:sp>
        <p:nvSpPr>
          <p:cNvPr id="17" name="Shape 15"/>
          <p:cNvSpPr/>
          <p:nvPr/>
        </p:nvSpPr>
        <p:spPr>
          <a:xfrm>
            <a:off x="347472" y="2670048"/>
            <a:ext cx="1188720" cy="438912"/>
          </a:xfrm>
          <a:prstGeom prst="rect">
            <a:avLst/>
          </a:prstGeom>
          <a:solidFill>
            <a:srgbClr val="6C3483"/>
          </a:solidFill>
          <a:ln w="12700">
            <a:solidFill>
              <a:srgbClr val="6C3483"/>
            </a:solidFill>
            <a:prstDash val="solid"/>
          </a:ln>
        </p:spPr>
        <p:txBody>
          <a:bodyPr/>
          <a:lstStyle/>
          <a:p>
            <a:endParaRPr lang="es-MX"/>
          </a:p>
        </p:txBody>
      </p:sp>
      <p:sp>
        <p:nvSpPr>
          <p:cNvPr id="18" name="Text 16"/>
          <p:cNvSpPr/>
          <p:nvPr/>
        </p:nvSpPr>
        <p:spPr>
          <a:xfrm>
            <a:off x="347472" y="2670048"/>
            <a:ext cx="1188720" cy="438912"/>
          </a:xfrm>
          <a:prstGeom prst="rect">
            <a:avLst/>
          </a:prstGeom>
          <a:noFill/>
          <a:ln/>
        </p:spPr>
        <p:txBody>
          <a:bodyPr wrap="square" lIns="0" tIns="0" rIns="0" bIns="0" rtlCol="0" anchor="ctr"/>
          <a:lstStyle/>
          <a:p>
            <a:pPr marL="0" indent="0" algn="ctr">
              <a:buNone/>
            </a:pPr>
            <a:r>
              <a:rPr lang="en-US" sz="1000" b="1" dirty="0">
                <a:solidFill>
                  <a:srgbClr val="FFFFFF"/>
                </a:solidFill>
              </a:rPr>
              <a:t>Bloque 3</a:t>
            </a:r>
            <a:endParaRPr lang="en-US" sz="1000" dirty="0"/>
          </a:p>
        </p:txBody>
      </p:sp>
      <p:sp>
        <p:nvSpPr>
          <p:cNvPr id="19" name="Shape 17"/>
          <p:cNvSpPr/>
          <p:nvPr/>
        </p:nvSpPr>
        <p:spPr>
          <a:xfrm>
            <a:off x="1609344" y="2670048"/>
            <a:ext cx="7205472" cy="43891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0" name="Text 18"/>
          <p:cNvSpPr/>
          <p:nvPr/>
        </p:nvSpPr>
        <p:spPr>
          <a:xfrm>
            <a:off x="1737360" y="2706624"/>
            <a:ext cx="6949440" cy="237744"/>
          </a:xfrm>
          <a:prstGeom prst="rect">
            <a:avLst/>
          </a:prstGeom>
          <a:noFill/>
          <a:ln/>
        </p:spPr>
        <p:txBody>
          <a:bodyPr wrap="square" lIns="0" tIns="0" rIns="0" bIns="0" rtlCol="0" anchor="ctr"/>
          <a:lstStyle/>
          <a:p>
            <a:pPr marL="0" indent="0">
              <a:buNone/>
            </a:pPr>
            <a:r>
              <a:rPr lang="en-US" sz="1150" b="1" dirty="0">
                <a:solidFill>
                  <a:srgbClr val="374151"/>
                </a:solidFill>
              </a:rPr>
              <a:t>Imputacion multivariante — KNNImputer e IterativeImputer (MICE)</a:t>
            </a:r>
            <a:endParaRPr lang="en-US" sz="1150" dirty="0"/>
          </a:p>
        </p:txBody>
      </p:sp>
      <p:sp>
        <p:nvSpPr>
          <p:cNvPr id="21" name="Text 19"/>
          <p:cNvSpPr/>
          <p:nvPr/>
        </p:nvSpPr>
        <p:spPr>
          <a:xfrm>
            <a:off x="1737360" y="2907792"/>
            <a:ext cx="6949440" cy="182880"/>
          </a:xfrm>
          <a:prstGeom prst="rect">
            <a:avLst/>
          </a:prstGeom>
          <a:noFill/>
          <a:ln/>
        </p:spPr>
        <p:txBody>
          <a:bodyPr wrap="square" lIns="0" tIns="0" rIns="0" bIns="0" rtlCol="0" anchor="ctr"/>
          <a:lstStyle/>
          <a:p>
            <a:pPr marL="0" indent="0">
              <a:buNone/>
            </a:pPr>
            <a:r>
              <a:rPr lang="en-US" sz="950" dirty="0">
                <a:solidFill>
                  <a:srgbClr val="8FA3B1"/>
                </a:solidFill>
              </a:rPr>
              <a:t>como funcionan · ventajas · costo computacional</a:t>
            </a:r>
            <a:endParaRPr lang="en-US" sz="950" dirty="0"/>
          </a:p>
        </p:txBody>
      </p:sp>
      <p:sp>
        <p:nvSpPr>
          <p:cNvPr id="22" name="Shape 20"/>
          <p:cNvSpPr/>
          <p:nvPr/>
        </p:nvSpPr>
        <p:spPr>
          <a:xfrm>
            <a:off x="347472" y="3200400"/>
            <a:ext cx="8449056" cy="292608"/>
          </a:xfrm>
          <a:prstGeom prst="rect">
            <a:avLst/>
          </a:prstGeom>
          <a:solidFill>
            <a:srgbClr val="F4A261">
              <a:alpha val="15000"/>
            </a:srgbClr>
          </a:solidFill>
          <a:ln w="12700">
            <a:solidFill>
              <a:srgbClr val="F4A261"/>
            </a:solidFill>
            <a:prstDash val="solid"/>
          </a:ln>
        </p:spPr>
        <p:txBody>
          <a:bodyPr/>
          <a:lstStyle/>
          <a:p>
            <a:endParaRPr lang="es-MX"/>
          </a:p>
        </p:txBody>
      </p:sp>
      <p:sp>
        <p:nvSpPr>
          <p:cNvPr id="23" name="Text 21"/>
          <p:cNvSpPr/>
          <p:nvPr/>
        </p:nvSpPr>
        <p:spPr>
          <a:xfrm>
            <a:off x="475488" y="3200400"/>
            <a:ext cx="8229600" cy="292608"/>
          </a:xfrm>
          <a:prstGeom prst="rect">
            <a:avLst/>
          </a:prstGeom>
          <a:noFill/>
          <a:ln/>
        </p:spPr>
        <p:txBody>
          <a:bodyPr wrap="square" lIns="0" tIns="0" rIns="0" bIns="0" rtlCol="0" anchor="ctr"/>
          <a:lstStyle/>
          <a:p>
            <a:pPr marL="0" indent="0">
              <a:buNone/>
            </a:pPr>
            <a:r>
              <a:rPr lang="en-US" sz="1050" b="1" dirty="0">
                <a:solidFill>
                  <a:srgbClr val="7D4000"/>
                </a:solidFill>
              </a:rPr>
              <a:t>  Ejercicio 2: KNN vs MICE en variables actuariales</a:t>
            </a:r>
            <a:endParaRPr lang="en-US" sz="1050" dirty="0"/>
          </a:p>
        </p:txBody>
      </p:sp>
      <p:sp>
        <p:nvSpPr>
          <p:cNvPr id="24" name="Shape 22"/>
          <p:cNvSpPr/>
          <p:nvPr/>
        </p:nvSpPr>
        <p:spPr>
          <a:xfrm>
            <a:off x="347472" y="3730752"/>
            <a:ext cx="1188720" cy="438912"/>
          </a:xfrm>
          <a:prstGeom prst="rect">
            <a:avLst/>
          </a:prstGeom>
          <a:solidFill>
            <a:srgbClr val="1E8449"/>
          </a:solidFill>
          <a:ln w="12700">
            <a:solidFill>
              <a:srgbClr val="1E8449"/>
            </a:solidFill>
            <a:prstDash val="solid"/>
          </a:ln>
        </p:spPr>
        <p:txBody>
          <a:bodyPr/>
          <a:lstStyle/>
          <a:p>
            <a:endParaRPr lang="es-MX"/>
          </a:p>
        </p:txBody>
      </p:sp>
      <p:sp>
        <p:nvSpPr>
          <p:cNvPr id="25" name="Text 23"/>
          <p:cNvSpPr/>
          <p:nvPr/>
        </p:nvSpPr>
        <p:spPr>
          <a:xfrm>
            <a:off x="347472" y="3730752"/>
            <a:ext cx="1188720" cy="438912"/>
          </a:xfrm>
          <a:prstGeom prst="rect">
            <a:avLst/>
          </a:prstGeom>
          <a:noFill/>
          <a:ln/>
        </p:spPr>
        <p:txBody>
          <a:bodyPr wrap="square" lIns="0" tIns="0" rIns="0" bIns="0" rtlCol="0" anchor="ctr"/>
          <a:lstStyle/>
          <a:p>
            <a:pPr marL="0" indent="0" algn="ctr">
              <a:buNone/>
            </a:pPr>
            <a:r>
              <a:rPr lang="en-US" sz="1000" b="1" dirty="0">
                <a:solidFill>
                  <a:srgbClr val="FFFFFF"/>
                </a:solidFill>
              </a:rPr>
              <a:t>Bloque 4</a:t>
            </a:r>
            <a:endParaRPr lang="en-US" sz="1000" dirty="0"/>
          </a:p>
        </p:txBody>
      </p:sp>
      <p:sp>
        <p:nvSpPr>
          <p:cNvPr id="26" name="Shape 24"/>
          <p:cNvSpPr/>
          <p:nvPr/>
        </p:nvSpPr>
        <p:spPr>
          <a:xfrm>
            <a:off x="1609344" y="3730752"/>
            <a:ext cx="7205472" cy="43891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7" name="Text 25"/>
          <p:cNvSpPr/>
          <p:nvPr/>
        </p:nvSpPr>
        <p:spPr>
          <a:xfrm>
            <a:off x="1737360" y="3767328"/>
            <a:ext cx="6949440" cy="237744"/>
          </a:xfrm>
          <a:prstGeom prst="rect">
            <a:avLst/>
          </a:prstGeom>
          <a:noFill/>
          <a:ln/>
        </p:spPr>
        <p:txBody>
          <a:bodyPr wrap="square" lIns="0" tIns="0" rIns="0" bIns="0" rtlCol="0" anchor="ctr"/>
          <a:lstStyle/>
          <a:p>
            <a:pPr marL="0" indent="0">
              <a:buNone/>
            </a:pPr>
            <a:r>
              <a:rPr lang="en-US" sz="1150" b="1" dirty="0">
                <a:solidFill>
                  <a:srgbClr val="374151"/>
                </a:solidFill>
              </a:rPr>
              <a:t>Evaluar el impacto de la imputacion</a:t>
            </a:r>
            <a:endParaRPr lang="en-US" sz="1150" dirty="0"/>
          </a:p>
        </p:txBody>
      </p:sp>
      <p:sp>
        <p:nvSpPr>
          <p:cNvPr id="28" name="Text 26"/>
          <p:cNvSpPr/>
          <p:nvPr/>
        </p:nvSpPr>
        <p:spPr>
          <a:xfrm>
            <a:off x="1737360" y="3968496"/>
            <a:ext cx="6949440" cy="182880"/>
          </a:xfrm>
          <a:prstGeom prst="rect">
            <a:avLst/>
          </a:prstGeom>
          <a:noFill/>
          <a:ln/>
        </p:spPr>
        <p:txBody>
          <a:bodyPr wrap="square" lIns="0" tIns="0" rIns="0" bIns="0" rtlCol="0" anchor="ctr"/>
          <a:lstStyle/>
          <a:p>
            <a:pPr marL="0" indent="0">
              <a:buNone/>
            </a:pPr>
            <a:r>
              <a:rPr lang="en-US" sz="950" dirty="0">
                <a:solidFill>
                  <a:srgbClr val="8FA3B1"/>
                </a:solidFill>
              </a:rPr>
              <a:t>comparar distribuciones · metricas de calidad</a:t>
            </a:r>
            <a:endParaRPr lang="en-US" sz="950" dirty="0"/>
          </a:p>
        </p:txBody>
      </p:sp>
      <p:sp>
        <p:nvSpPr>
          <p:cNvPr id="29" name="Shape 27"/>
          <p:cNvSpPr/>
          <p:nvPr/>
        </p:nvSpPr>
        <p:spPr>
          <a:xfrm>
            <a:off x="347472" y="4261104"/>
            <a:ext cx="8449056" cy="292608"/>
          </a:xfrm>
          <a:prstGeom prst="rect">
            <a:avLst/>
          </a:prstGeom>
          <a:solidFill>
            <a:srgbClr val="E37B2A">
              <a:alpha val="15000"/>
            </a:srgbClr>
          </a:solidFill>
          <a:ln w="12700">
            <a:solidFill>
              <a:srgbClr val="E37B2A"/>
            </a:solidFill>
            <a:prstDash val="solid"/>
          </a:ln>
        </p:spPr>
        <p:txBody>
          <a:bodyPr/>
          <a:lstStyle/>
          <a:p>
            <a:endParaRPr lang="es-MX"/>
          </a:p>
        </p:txBody>
      </p:sp>
      <p:sp>
        <p:nvSpPr>
          <p:cNvPr id="30" name="Text 28"/>
          <p:cNvSpPr/>
          <p:nvPr/>
        </p:nvSpPr>
        <p:spPr>
          <a:xfrm>
            <a:off x="475488" y="4261104"/>
            <a:ext cx="8229600" cy="292608"/>
          </a:xfrm>
          <a:prstGeom prst="rect">
            <a:avLst/>
          </a:prstGeom>
          <a:noFill/>
          <a:ln/>
        </p:spPr>
        <p:txBody>
          <a:bodyPr wrap="square" lIns="0" tIns="0" rIns="0" bIns="0" rtlCol="0" anchor="ctr"/>
          <a:lstStyle/>
          <a:p>
            <a:pPr marL="0" indent="0">
              <a:buNone/>
            </a:pPr>
            <a:r>
              <a:rPr lang="en-US" sz="1050" b="1" dirty="0">
                <a:solidFill>
                  <a:srgbClr val="FFFFFF"/>
                </a:solidFill>
              </a:rPr>
              <a:t>  Ejercicio integrador — pipeline completo de imputacion</a:t>
            </a:r>
            <a:endParaRPr lang="en-US" sz="1050" dirty="0"/>
          </a:p>
        </p:txBody>
      </p:sp>
      <p:sp>
        <p:nvSpPr>
          <p:cNvPr id="31" name="Shape 29"/>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2" name="Text 30"/>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Modulo 2 · T2 Imputacion Avanzada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3291840" cy="256032"/>
          </a:xfrm>
          <a:prstGeom prst="rect">
            <a:avLst/>
          </a:prstGeom>
          <a:solidFill>
            <a:srgbClr val="C0392B"/>
          </a:solidFill>
          <a:ln w="12700">
            <a:solidFill>
              <a:srgbClr val="C0392B"/>
            </a:solidFill>
            <a:prstDash val="solid"/>
          </a:ln>
        </p:spPr>
        <p:txBody>
          <a:bodyPr/>
          <a:lstStyle/>
          <a:p>
            <a:endParaRPr lang="es-MX"/>
          </a:p>
        </p:txBody>
      </p:sp>
      <p:sp>
        <p:nvSpPr>
          <p:cNvPr id="4" name="Text 2"/>
          <p:cNvSpPr/>
          <p:nvPr/>
        </p:nvSpPr>
        <p:spPr>
          <a:xfrm>
            <a:off x="365760" y="566928"/>
            <a:ext cx="329184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EL PROBLEMA — NaN EN ML</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500" b="1" dirty="0">
                <a:solidFill>
                  <a:srgbClr val="0D1B3E"/>
                </a:solidFill>
              </a:rPr>
              <a:t>NaN en ML Es Distinto a NaN en Analisis</a:t>
            </a:r>
            <a:endParaRPr lang="en-US" sz="2500" dirty="0"/>
          </a:p>
        </p:txBody>
      </p:sp>
      <p:sp>
        <p:nvSpPr>
          <p:cNvPr id="6" name="Text 4"/>
          <p:cNvSpPr/>
          <p:nvPr/>
        </p:nvSpPr>
        <p:spPr>
          <a:xfrm>
            <a:off x="365760" y="792643"/>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En analisis descriptivo pandas ignora los NaN. En ML rompen el modelo.</a:t>
            </a:r>
            <a:endParaRPr lang="en-US" sz="1200" dirty="0"/>
          </a:p>
        </p:txBody>
      </p:sp>
      <p:sp>
        <p:nvSpPr>
          <p:cNvPr id="7" name="Shape 5"/>
          <p:cNvSpPr/>
          <p:nvPr/>
        </p:nvSpPr>
        <p:spPr>
          <a:xfrm>
            <a:off x="347472" y="987552"/>
            <a:ext cx="8449056" cy="566928"/>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493776" y="1051560"/>
            <a:ext cx="8229600" cy="438912"/>
          </a:xfrm>
          <a:prstGeom prst="rect">
            <a:avLst/>
          </a:prstGeom>
          <a:noFill/>
          <a:ln/>
        </p:spPr>
        <p:txBody>
          <a:bodyPr wrap="square" lIns="0" tIns="0" rIns="0" bIns="0" rtlCol="0" anchor="ctr"/>
          <a:lstStyle/>
          <a:p>
            <a:pPr marL="0" indent="0">
              <a:buNone/>
            </a:pPr>
            <a:r>
              <a:rPr lang="en-US" sz="1100" dirty="0">
                <a:solidFill>
                  <a:srgbClr val="374151"/>
                </a:solidFill>
              </a:rPr>
              <a:t>sklearn lanza un error si hay NaN en los datos de entrada. No es opcional imputar — es obligatorio. Pero la estrategia de imputacion afecta directamente la calidad del modelo.</a:t>
            </a:r>
            <a:endParaRPr lang="en-US" sz="1100" dirty="0"/>
          </a:p>
        </p:txBody>
      </p:sp>
      <p:sp>
        <p:nvSpPr>
          <p:cNvPr id="9" name="Shape 7"/>
          <p:cNvSpPr/>
          <p:nvPr/>
        </p:nvSpPr>
        <p:spPr>
          <a:xfrm>
            <a:off x="347472" y="1664208"/>
            <a:ext cx="2688336" cy="384048"/>
          </a:xfrm>
          <a:prstGeom prst="rect">
            <a:avLst/>
          </a:prstGeom>
          <a:solidFill>
            <a:srgbClr val="1E8449"/>
          </a:solidFill>
          <a:ln w="12700">
            <a:solidFill>
              <a:srgbClr val="1E8449"/>
            </a:solidFill>
            <a:prstDash val="solid"/>
          </a:ln>
        </p:spPr>
        <p:txBody>
          <a:bodyPr/>
          <a:lstStyle/>
          <a:p>
            <a:endParaRPr lang="es-MX"/>
          </a:p>
        </p:txBody>
      </p:sp>
      <p:sp>
        <p:nvSpPr>
          <p:cNvPr id="10" name="Text 8"/>
          <p:cNvSpPr/>
          <p:nvPr/>
        </p:nvSpPr>
        <p:spPr>
          <a:xfrm>
            <a:off x="438912" y="1682496"/>
            <a:ext cx="1097280" cy="329184"/>
          </a:xfrm>
          <a:prstGeom prst="rect">
            <a:avLst/>
          </a:prstGeom>
          <a:noFill/>
          <a:ln/>
        </p:spPr>
        <p:txBody>
          <a:bodyPr wrap="square" lIns="0" tIns="0" rIns="0" bIns="0" rtlCol="0" anchor="ctr"/>
          <a:lstStyle/>
          <a:p>
            <a:pPr marL="0" indent="0">
              <a:buNone/>
            </a:pPr>
            <a:r>
              <a:rPr lang="en-US" sz="1500" b="1" dirty="0">
                <a:solidFill>
                  <a:srgbClr val="FFFFFF"/>
                </a:solidFill>
              </a:rPr>
              <a:t>MCAR</a:t>
            </a:r>
            <a:endParaRPr lang="en-US" sz="1500" dirty="0"/>
          </a:p>
        </p:txBody>
      </p:sp>
      <p:sp>
        <p:nvSpPr>
          <p:cNvPr id="11" name="Text 9"/>
          <p:cNvSpPr/>
          <p:nvPr/>
        </p:nvSpPr>
        <p:spPr>
          <a:xfrm>
            <a:off x="1572768" y="1737360"/>
            <a:ext cx="1389888" cy="256032"/>
          </a:xfrm>
          <a:prstGeom prst="rect">
            <a:avLst/>
          </a:prstGeom>
          <a:noFill/>
          <a:ln/>
        </p:spPr>
        <p:txBody>
          <a:bodyPr wrap="square" lIns="0" tIns="0" rIns="0" bIns="0" rtlCol="0" anchor="ctr"/>
          <a:lstStyle/>
          <a:p>
            <a:pPr marL="0" indent="0">
              <a:buNone/>
            </a:pPr>
            <a:r>
              <a:rPr lang="en-US" sz="750" dirty="0">
                <a:solidFill>
                  <a:srgbClr val="FFFFFF"/>
                </a:solidFill>
              </a:rPr>
              <a:t>Missing Completely At Random</a:t>
            </a:r>
            <a:endParaRPr lang="en-US" sz="750" dirty="0"/>
          </a:p>
        </p:txBody>
      </p:sp>
      <p:sp>
        <p:nvSpPr>
          <p:cNvPr id="12" name="Shape 10"/>
          <p:cNvSpPr/>
          <p:nvPr/>
        </p:nvSpPr>
        <p:spPr>
          <a:xfrm>
            <a:off x="347472" y="2048256"/>
            <a:ext cx="2688336" cy="21945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3" name="Text 11"/>
          <p:cNvSpPr/>
          <p:nvPr/>
        </p:nvSpPr>
        <p:spPr>
          <a:xfrm>
            <a:off x="438912" y="2121408"/>
            <a:ext cx="2523744" cy="1645920"/>
          </a:xfrm>
          <a:prstGeom prst="rect">
            <a:avLst/>
          </a:prstGeom>
          <a:noFill/>
          <a:ln/>
        </p:spPr>
        <p:txBody>
          <a:bodyPr wrap="square" lIns="0" tIns="0" rIns="0" bIns="0" rtlCol="0" anchor="ctr"/>
          <a:lstStyle/>
          <a:p>
            <a:pPr marL="0" indent="0">
              <a:buNone/>
            </a:pPr>
            <a:r>
              <a:rPr lang="en-US" sz="950" dirty="0">
                <a:solidFill>
                  <a:srgbClr val="374151"/>
                </a:solidFill>
              </a:rPr>
              <a:t>El dato falta por azar puro — no tiene relacion con ninguna variable.</a:t>
            </a:r>
            <a:endParaRPr lang="en-US" sz="950" dirty="0"/>
          </a:p>
          <a:p>
            <a:pPr marL="0" indent="0">
              <a:buNone/>
            </a:pPr>
            <a:r>
              <a:rPr lang="en-US" sz="950" dirty="0">
                <a:solidFill>
                  <a:srgbClr val="374151"/>
                </a:solidFill>
              </a:rPr>
              <a:t>Ejemplo: un operador no capturo el CP porque se distrajio.</a:t>
            </a:r>
            <a:endParaRPr lang="en-US" sz="950" dirty="0"/>
          </a:p>
          <a:p>
            <a:pPr marL="0" indent="0">
              <a:buNone/>
            </a:pPr>
            <a:r>
              <a:rPr lang="en-US" sz="950" dirty="0">
                <a:solidFill>
                  <a:srgbClr val="374151"/>
                </a:solidFill>
              </a:rPr>
              <a:t>Imputar con media/mediana es valido.</a:t>
            </a:r>
            <a:endParaRPr lang="en-US" sz="950" dirty="0"/>
          </a:p>
        </p:txBody>
      </p:sp>
      <p:sp>
        <p:nvSpPr>
          <p:cNvPr id="14" name="Shape 12"/>
          <p:cNvSpPr/>
          <p:nvPr/>
        </p:nvSpPr>
        <p:spPr>
          <a:xfrm>
            <a:off x="420624" y="4059936"/>
            <a:ext cx="2560320" cy="219456"/>
          </a:xfrm>
          <a:prstGeom prst="rect">
            <a:avLst/>
          </a:prstGeom>
          <a:solidFill>
            <a:srgbClr val="1E8449">
              <a:alpha val="18000"/>
            </a:srgbClr>
          </a:solidFill>
          <a:ln w="12700">
            <a:solidFill>
              <a:srgbClr val="1E8449"/>
            </a:solidFill>
            <a:prstDash val="solid"/>
          </a:ln>
        </p:spPr>
        <p:txBody>
          <a:bodyPr/>
          <a:lstStyle/>
          <a:p>
            <a:endParaRPr lang="es-MX"/>
          </a:p>
        </p:txBody>
      </p:sp>
      <p:sp>
        <p:nvSpPr>
          <p:cNvPr id="15" name="Text 13"/>
          <p:cNvSpPr/>
          <p:nvPr/>
        </p:nvSpPr>
        <p:spPr>
          <a:xfrm>
            <a:off x="475488" y="4078224"/>
            <a:ext cx="2468880" cy="182880"/>
          </a:xfrm>
          <a:prstGeom prst="rect">
            <a:avLst/>
          </a:prstGeom>
          <a:noFill/>
          <a:ln/>
        </p:spPr>
        <p:txBody>
          <a:bodyPr wrap="square" lIns="0" tIns="0" rIns="0" bIns="0" rtlCol="0" anchor="ctr"/>
          <a:lstStyle/>
          <a:p>
            <a:pPr marL="0" indent="0">
              <a:buNone/>
            </a:pPr>
            <a:r>
              <a:rPr lang="en-US" sz="900" b="1" dirty="0">
                <a:solidFill>
                  <a:srgbClr val="1E8449"/>
                </a:solidFill>
              </a:rPr>
              <a:t>✓ Cualquier metodo funciona</a:t>
            </a:r>
            <a:endParaRPr lang="en-US" sz="900" dirty="0"/>
          </a:p>
        </p:txBody>
      </p:sp>
      <p:sp>
        <p:nvSpPr>
          <p:cNvPr id="16" name="Shape 14"/>
          <p:cNvSpPr/>
          <p:nvPr/>
        </p:nvSpPr>
        <p:spPr>
          <a:xfrm>
            <a:off x="3200400" y="1664208"/>
            <a:ext cx="2688336" cy="384048"/>
          </a:xfrm>
          <a:prstGeom prst="rect">
            <a:avLst/>
          </a:prstGeom>
          <a:solidFill>
            <a:srgbClr val="F4A261"/>
          </a:solidFill>
          <a:ln w="12700">
            <a:solidFill>
              <a:srgbClr val="F4A261"/>
            </a:solidFill>
            <a:prstDash val="solid"/>
          </a:ln>
        </p:spPr>
        <p:txBody>
          <a:bodyPr/>
          <a:lstStyle/>
          <a:p>
            <a:endParaRPr lang="es-MX"/>
          </a:p>
        </p:txBody>
      </p:sp>
      <p:sp>
        <p:nvSpPr>
          <p:cNvPr id="17" name="Text 15"/>
          <p:cNvSpPr/>
          <p:nvPr/>
        </p:nvSpPr>
        <p:spPr>
          <a:xfrm>
            <a:off x="3291840" y="1682496"/>
            <a:ext cx="1097280" cy="329184"/>
          </a:xfrm>
          <a:prstGeom prst="rect">
            <a:avLst/>
          </a:prstGeom>
          <a:noFill/>
          <a:ln/>
        </p:spPr>
        <p:txBody>
          <a:bodyPr wrap="square" lIns="0" tIns="0" rIns="0" bIns="0" rtlCol="0" anchor="ctr"/>
          <a:lstStyle/>
          <a:p>
            <a:pPr marL="0" indent="0">
              <a:buNone/>
            </a:pPr>
            <a:r>
              <a:rPr lang="en-US" sz="1500" b="1" dirty="0">
                <a:solidFill>
                  <a:srgbClr val="FFFFFF"/>
                </a:solidFill>
              </a:rPr>
              <a:t>MAR</a:t>
            </a:r>
            <a:endParaRPr lang="en-US" sz="1500" dirty="0"/>
          </a:p>
        </p:txBody>
      </p:sp>
      <p:sp>
        <p:nvSpPr>
          <p:cNvPr id="18" name="Text 16"/>
          <p:cNvSpPr/>
          <p:nvPr/>
        </p:nvSpPr>
        <p:spPr>
          <a:xfrm>
            <a:off x="4425696" y="1737360"/>
            <a:ext cx="1389888" cy="256032"/>
          </a:xfrm>
          <a:prstGeom prst="rect">
            <a:avLst/>
          </a:prstGeom>
          <a:noFill/>
          <a:ln/>
        </p:spPr>
        <p:txBody>
          <a:bodyPr wrap="square" lIns="0" tIns="0" rIns="0" bIns="0" rtlCol="0" anchor="ctr"/>
          <a:lstStyle/>
          <a:p>
            <a:pPr marL="0" indent="0">
              <a:buNone/>
            </a:pPr>
            <a:r>
              <a:rPr lang="en-US" sz="750" dirty="0">
                <a:solidFill>
                  <a:srgbClr val="FFFFFF"/>
                </a:solidFill>
              </a:rPr>
              <a:t>Missing At Random</a:t>
            </a:r>
            <a:endParaRPr lang="en-US" sz="750" dirty="0"/>
          </a:p>
        </p:txBody>
      </p:sp>
      <p:sp>
        <p:nvSpPr>
          <p:cNvPr id="19" name="Shape 17"/>
          <p:cNvSpPr/>
          <p:nvPr/>
        </p:nvSpPr>
        <p:spPr>
          <a:xfrm>
            <a:off x="3200400" y="2048256"/>
            <a:ext cx="2688336" cy="21945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0" name="Text 18"/>
          <p:cNvSpPr/>
          <p:nvPr/>
        </p:nvSpPr>
        <p:spPr>
          <a:xfrm>
            <a:off x="3291840" y="2121408"/>
            <a:ext cx="2523744" cy="1645920"/>
          </a:xfrm>
          <a:prstGeom prst="rect">
            <a:avLst/>
          </a:prstGeom>
          <a:noFill/>
          <a:ln/>
        </p:spPr>
        <p:txBody>
          <a:bodyPr wrap="square" lIns="0" tIns="0" rIns="0" bIns="0" rtlCol="0" anchor="ctr"/>
          <a:lstStyle/>
          <a:p>
            <a:pPr marL="0" indent="0">
              <a:buNone/>
            </a:pPr>
            <a:r>
              <a:rPr lang="en-US" sz="950" dirty="0">
                <a:solidFill>
                  <a:srgbClr val="374151"/>
                </a:solidFill>
              </a:rPr>
              <a:t>El dato falta de forma sistematica relacionada con OTRAS variables.</a:t>
            </a:r>
            <a:endParaRPr lang="en-US" sz="950" dirty="0"/>
          </a:p>
          <a:p>
            <a:pPr marL="0" indent="0">
              <a:buNone/>
            </a:pPr>
            <a:r>
              <a:rPr lang="en-US" sz="950" dirty="0">
                <a:solidFill>
                  <a:srgbClr val="374151"/>
                </a:solidFill>
              </a:rPr>
              <a:t>Ejemplo: los asegurados mayores tienden a no reportar ocupacion.</a:t>
            </a:r>
            <a:endParaRPr lang="en-US" sz="950" dirty="0"/>
          </a:p>
          <a:p>
            <a:pPr marL="0" indent="0">
              <a:buNone/>
            </a:pPr>
            <a:r>
              <a:rPr lang="en-US" sz="950" dirty="0">
                <a:solidFill>
                  <a:srgbClr val="374151"/>
                </a:solidFill>
              </a:rPr>
              <a:t>Imputar con modelos (KNN, MICE) da mejores resultados.</a:t>
            </a:r>
            <a:endParaRPr lang="en-US" sz="950" dirty="0"/>
          </a:p>
        </p:txBody>
      </p:sp>
      <p:sp>
        <p:nvSpPr>
          <p:cNvPr id="21" name="Shape 19"/>
          <p:cNvSpPr/>
          <p:nvPr/>
        </p:nvSpPr>
        <p:spPr>
          <a:xfrm>
            <a:off x="3273552" y="4059936"/>
            <a:ext cx="2560320" cy="219456"/>
          </a:xfrm>
          <a:prstGeom prst="rect">
            <a:avLst/>
          </a:prstGeom>
          <a:solidFill>
            <a:srgbClr val="F4A261">
              <a:alpha val="18000"/>
            </a:srgbClr>
          </a:solidFill>
          <a:ln w="12700">
            <a:solidFill>
              <a:srgbClr val="F4A261"/>
            </a:solidFill>
            <a:prstDash val="solid"/>
          </a:ln>
        </p:spPr>
        <p:txBody>
          <a:bodyPr/>
          <a:lstStyle/>
          <a:p>
            <a:endParaRPr lang="es-MX"/>
          </a:p>
        </p:txBody>
      </p:sp>
      <p:sp>
        <p:nvSpPr>
          <p:cNvPr id="22" name="Text 20"/>
          <p:cNvSpPr/>
          <p:nvPr/>
        </p:nvSpPr>
        <p:spPr>
          <a:xfrm>
            <a:off x="3328416" y="4078224"/>
            <a:ext cx="2468880" cy="182880"/>
          </a:xfrm>
          <a:prstGeom prst="rect">
            <a:avLst/>
          </a:prstGeom>
          <a:noFill/>
          <a:ln/>
        </p:spPr>
        <p:txBody>
          <a:bodyPr wrap="square" lIns="0" tIns="0" rIns="0" bIns="0" rtlCol="0" anchor="ctr"/>
          <a:lstStyle/>
          <a:p>
            <a:pPr marL="0" indent="0">
              <a:buNone/>
            </a:pPr>
            <a:r>
              <a:rPr lang="en-US" sz="900" b="1" dirty="0">
                <a:solidFill>
                  <a:srgbClr val="F4A261"/>
                </a:solidFill>
              </a:rPr>
              <a:t>→ KNN o MICE recomendado</a:t>
            </a:r>
            <a:endParaRPr lang="en-US" sz="900" dirty="0"/>
          </a:p>
        </p:txBody>
      </p:sp>
      <p:sp>
        <p:nvSpPr>
          <p:cNvPr id="23" name="Shape 21"/>
          <p:cNvSpPr/>
          <p:nvPr/>
        </p:nvSpPr>
        <p:spPr>
          <a:xfrm>
            <a:off x="6053328" y="1664208"/>
            <a:ext cx="2688336" cy="384048"/>
          </a:xfrm>
          <a:prstGeom prst="rect">
            <a:avLst/>
          </a:prstGeom>
          <a:solidFill>
            <a:srgbClr val="C0392B"/>
          </a:solidFill>
          <a:ln w="12700">
            <a:solidFill>
              <a:srgbClr val="C0392B"/>
            </a:solidFill>
            <a:prstDash val="solid"/>
          </a:ln>
        </p:spPr>
        <p:txBody>
          <a:bodyPr/>
          <a:lstStyle/>
          <a:p>
            <a:endParaRPr lang="es-MX"/>
          </a:p>
        </p:txBody>
      </p:sp>
      <p:sp>
        <p:nvSpPr>
          <p:cNvPr id="24" name="Text 22"/>
          <p:cNvSpPr/>
          <p:nvPr/>
        </p:nvSpPr>
        <p:spPr>
          <a:xfrm>
            <a:off x="6144768" y="1682496"/>
            <a:ext cx="1097280" cy="329184"/>
          </a:xfrm>
          <a:prstGeom prst="rect">
            <a:avLst/>
          </a:prstGeom>
          <a:noFill/>
          <a:ln/>
        </p:spPr>
        <p:txBody>
          <a:bodyPr wrap="square" lIns="0" tIns="0" rIns="0" bIns="0" rtlCol="0" anchor="ctr"/>
          <a:lstStyle/>
          <a:p>
            <a:pPr marL="0" indent="0">
              <a:buNone/>
            </a:pPr>
            <a:r>
              <a:rPr lang="en-US" sz="1500" b="1" dirty="0">
                <a:solidFill>
                  <a:srgbClr val="FFFFFF"/>
                </a:solidFill>
              </a:rPr>
              <a:t>MNAR</a:t>
            </a:r>
            <a:endParaRPr lang="en-US" sz="1500" dirty="0"/>
          </a:p>
        </p:txBody>
      </p:sp>
      <p:sp>
        <p:nvSpPr>
          <p:cNvPr id="25" name="Text 23"/>
          <p:cNvSpPr/>
          <p:nvPr/>
        </p:nvSpPr>
        <p:spPr>
          <a:xfrm>
            <a:off x="7278624" y="1737360"/>
            <a:ext cx="1389888" cy="256032"/>
          </a:xfrm>
          <a:prstGeom prst="rect">
            <a:avLst/>
          </a:prstGeom>
          <a:noFill/>
          <a:ln/>
        </p:spPr>
        <p:txBody>
          <a:bodyPr wrap="square" lIns="0" tIns="0" rIns="0" bIns="0" rtlCol="0" anchor="ctr"/>
          <a:lstStyle/>
          <a:p>
            <a:pPr marL="0" indent="0">
              <a:buNone/>
            </a:pPr>
            <a:r>
              <a:rPr lang="en-US" sz="750" dirty="0">
                <a:solidFill>
                  <a:srgbClr val="FFFFFF"/>
                </a:solidFill>
              </a:rPr>
              <a:t>Missing Not At Random</a:t>
            </a:r>
            <a:endParaRPr lang="en-US" sz="750" dirty="0"/>
          </a:p>
        </p:txBody>
      </p:sp>
      <p:sp>
        <p:nvSpPr>
          <p:cNvPr id="26" name="Shape 24"/>
          <p:cNvSpPr/>
          <p:nvPr/>
        </p:nvSpPr>
        <p:spPr>
          <a:xfrm>
            <a:off x="6053328" y="2048256"/>
            <a:ext cx="2688336" cy="219456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7" name="Text 25"/>
          <p:cNvSpPr/>
          <p:nvPr/>
        </p:nvSpPr>
        <p:spPr>
          <a:xfrm>
            <a:off x="6144768" y="2121408"/>
            <a:ext cx="2523744" cy="1645920"/>
          </a:xfrm>
          <a:prstGeom prst="rect">
            <a:avLst/>
          </a:prstGeom>
          <a:noFill/>
          <a:ln/>
        </p:spPr>
        <p:txBody>
          <a:bodyPr wrap="square" lIns="0" tIns="0" rIns="0" bIns="0" rtlCol="0" anchor="ctr"/>
          <a:lstStyle/>
          <a:p>
            <a:pPr marL="0" indent="0">
              <a:buNone/>
            </a:pPr>
            <a:r>
              <a:rPr lang="en-US" sz="950" dirty="0">
                <a:solidFill>
                  <a:srgbClr val="374151"/>
                </a:solidFill>
              </a:rPr>
              <a:t>El dato falta por su propio valor — los mas ricos no reportan ingresos.</a:t>
            </a:r>
            <a:endParaRPr lang="en-US" sz="950" dirty="0"/>
          </a:p>
          <a:p>
            <a:pPr marL="0" indent="0">
              <a:buNone/>
            </a:pPr>
            <a:r>
              <a:rPr lang="en-US" sz="950" dirty="0">
                <a:solidFill>
                  <a:srgbClr val="374151"/>
                </a:solidFill>
              </a:rPr>
              <a:t>Ejemplo: siniestros de monto muy alto a veces no se declaran completos.</a:t>
            </a:r>
            <a:endParaRPr lang="en-US" sz="950" dirty="0"/>
          </a:p>
          <a:p>
            <a:pPr marL="0" indent="0">
              <a:buNone/>
            </a:pPr>
            <a:r>
              <a:rPr lang="en-US" sz="950" dirty="0">
                <a:solidFill>
                  <a:srgbClr val="374151"/>
                </a:solidFill>
              </a:rPr>
              <a:t>No hay imputacion perfecta — documentar y modelar.</a:t>
            </a:r>
            <a:endParaRPr lang="en-US" sz="950" dirty="0"/>
          </a:p>
        </p:txBody>
      </p:sp>
      <p:sp>
        <p:nvSpPr>
          <p:cNvPr id="28" name="Shape 26"/>
          <p:cNvSpPr/>
          <p:nvPr/>
        </p:nvSpPr>
        <p:spPr>
          <a:xfrm>
            <a:off x="6126480" y="4059936"/>
            <a:ext cx="2560320" cy="219456"/>
          </a:xfrm>
          <a:prstGeom prst="rect">
            <a:avLst/>
          </a:prstGeom>
          <a:solidFill>
            <a:srgbClr val="C0392B">
              <a:alpha val="18000"/>
            </a:srgbClr>
          </a:solidFill>
          <a:ln w="12700">
            <a:solidFill>
              <a:srgbClr val="C0392B"/>
            </a:solidFill>
            <a:prstDash val="solid"/>
          </a:ln>
        </p:spPr>
        <p:txBody>
          <a:bodyPr/>
          <a:lstStyle/>
          <a:p>
            <a:endParaRPr lang="es-MX"/>
          </a:p>
        </p:txBody>
      </p:sp>
      <p:sp>
        <p:nvSpPr>
          <p:cNvPr id="29" name="Text 27"/>
          <p:cNvSpPr/>
          <p:nvPr/>
        </p:nvSpPr>
        <p:spPr>
          <a:xfrm>
            <a:off x="6181344" y="4078224"/>
            <a:ext cx="2468880" cy="182880"/>
          </a:xfrm>
          <a:prstGeom prst="rect">
            <a:avLst/>
          </a:prstGeom>
          <a:noFill/>
          <a:ln/>
        </p:spPr>
        <p:txBody>
          <a:bodyPr wrap="square" lIns="0" tIns="0" rIns="0" bIns="0" rtlCol="0" anchor="ctr"/>
          <a:lstStyle/>
          <a:p>
            <a:pPr marL="0" indent="0">
              <a:buNone/>
            </a:pPr>
            <a:r>
              <a:rPr lang="en-US" sz="900" b="1" dirty="0">
                <a:solidFill>
                  <a:srgbClr val="C0392B"/>
                </a:solidFill>
              </a:rPr>
              <a:t>⚠ Requiere decision de negocio</a:t>
            </a:r>
            <a:endParaRPr lang="en-US" sz="900" dirty="0"/>
          </a:p>
        </p:txBody>
      </p:sp>
      <p:sp>
        <p:nvSpPr>
          <p:cNvPr id="30" name="Shape 28"/>
          <p:cNvSpPr/>
          <p:nvPr/>
        </p:nvSpPr>
        <p:spPr>
          <a:xfrm>
            <a:off x="347472" y="4537022"/>
            <a:ext cx="8449056" cy="402336"/>
          </a:xfrm>
          <a:prstGeom prst="rect">
            <a:avLst/>
          </a:prstGeom>
          <a:solidFill>
            <a:srgbClr val="F4A261">
              <a:alpha val="18000"/>
            </a:srgbClr>
          </a:solidFill>
          <a:ln w="12700">
            <a:solidFill>
              <a:srgbClr val="F4A261"/>
            </a:solidFill>
            <a:prstDash val="solid"/>
          </a:ln>
        </p:spPr>
        <p:txBody>
          <a:bodyPr/>
          <a:lstStyle/>
          <a:p>
            <a:endParaRPr lang="es-MX"/>
          </a:p>
        </p:txBody>
      </p:sp>
      <p:sp>
        <p:nvSpPr>
          <p:cNvPr id="31" name="Shape 29"/>
          <p:cNvSpPr/>
          <p:nvPr/>
        </p:nvSpPr>
        <p:spPr>
          <a:xfrm>
            <a:off x="347472" y="4556109"/>
            <a:ext cx="658368" cy="402336"/>
          </a:xfrm>
          <a:prstGeom prst="rect">
            <a:avLst/>
          </a:prstGeom>
          <a:solidFill>
            <a:srgbClr val="F4A261"/>
          </a:solidFill>
          <a:ln w="12700">
            <a:solidFill>
              <a:srgbClr val="F4A261"/>
            </a:solidFill>
            <a:prstDash val="solid"/>
          </a:ln>
        </p:spPr>
        <p:txBody>
          <a:bodyPr/>
          <a:lstStyle/>
          <a:p>
            <a:endParaRPr lang="es-MX"/>
          </a:p>
        </p:txBody>
      </p:sp>
      <p:sp>
        <p:nvSpPr>
          <p:cNvPr id="32" name="Text 30"/>
          <p:cNvSpPr/>
          <p:nvPr/>
        </p:nvSpPr>
        <p:spPr>
          <a:xfrm>
            <a:off x="347472" y="4556109"/>
            <a:ext cx="658368" cy="402336"/>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33" name="Text 31"/>
          <p:cNvSpPr/>
          <p:nvPr/>
        </p:nvSpPr>
        <p:spPr>
          <a:xfrm>
            <a:off x="1123203" y="4556109"/>
            <a:ext cx="7589520" cy="347472"/>
          </a:xfrm>
          <a:prstGeom prst="rect">
            <a:avLst/>
          </a:prstGeom>
          <a:noFill/>
          <a:ln/>
        </p:spPr>
        <p:txBody>
          <a:bodyPr wrap="square" lIns="0" tIns="0" rIns="0" bIns="0" rtlCol="0" anchor="ctr"/>
          <a:lstStyle/>
          <a:p>
            <a:pPr marL="0" indent="0">
              <a:buNone/>
            </a:pPr>
            <a:r>
              <a:rPr lang="en-US" sz="1050" b="1" dirty="0">
                <a:solidFill>
                  <a:srgbClr val="7D4000"/>
                </a:solidFill>
              </a:rPr>
              <a:t>¿Que tipo de NaN tiene prima_neta en la cartera? ¿Y deducible? ¿Y ocupacion?</a:t>
            </a:r>
            <a:endParaRPr lang="en-US" sz="1050" dirty="0"/>
          </a:p>
        </p:txBody>
      </p:sp>
      <p:sp>
        <p:nvSpPr>
          <p:cNvPr id="34" name="Shape 32"/>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35" name="Text 33"/>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Modulo 2 · T2 Imputacion Avanzada</a:t>
            </a:r>
            <a:endParaRPr lang="en-US" sz="850" dirty="0"/>
          </a:p>
        </p:txBody>
      </p:sp>
      <p:sp>
        <p:nvSpPr>
          <p:cNvPr id="36" name="Text 34"/>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El Problema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3291840" cy="256032"/>
          </a:xfrm>
          <a:prstGeom prst="rect">
            <a:avLst/>
          </a:prstGeom>
          <a:solidFill>
            <a:srgbClr val="0D7A8A"/>
          </a:solidFill>
          <a:ln w="12700">
            <a:solidFill>
              <a:srgbClr val="0D7A8A"/>
            </a:solidFill>
            <a:prstDash val="solid"/>
          </a:ln>
        </p:spPr>
        <p:txBody>
          <a:bodyPr/>
          <a:lstStyle/>
          <a:p>
            <a:endParaRPr lang="es-MX"/>
          </a:p>
        </p:txBody>
      </p:sp>
      <p:sp>
        <p:nvSpPr>
          <p:cNvPr id="4" name="Text 2"/>
          <p:cNvSpPr/>
          <p:nvPr/>
        </p:nvSpPr>
        <p:spPr>
          <a:xfrm>
            <a:off x="365760" y="566928"/>
            <a:ext cx="329184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SIMPLEIMPUTER — IMPUTACION UNIVARIADA</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500" b="1" dirty="0">
                <a:solidFill>
                  <a:srgbClr val="FFFFFF"/>
                </a:solidFill>
              </a:rPr>
              <a:t>SimpleImputer: Rapido, Transparente y Suficiente</a:t>
            </a:r>
            <a:endParaRPr lang="en-US" sz="25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La estrategia correcta cuando el NaN es MCAR o cuando hay pocas filas afectadas</a:t>
            </a:r>
            <a:endParaRPr lang="en-US" sz="1200" dirty="0"/>
          </a:p>
        </p:txBody>
      </p:sp>
      <p:sp>
        <p:nvSpPr>
          <p:cNvPr id="7" name="Shape 5"/>
          <p:cNvSpPr/>
          <p:nvPr/>
        </p:nvSpPr>
        <p:spPr>
          <a:xfrm>
            <a:off x="347472" y="987552"/>
            <a:ext cx="4315968" cy="4041648"/>
          </a:xfrm>
          <a:prstGeom prst="rect">
            <a:avLst/>
          </a:prstGeom>
          <a:solidFill>
            <a:srgbClr val="071228"/>
          </a:solidFill>
          <a:ln w="12700">
            <a:solidFill>
              <a:srgbClr val="0D7A8A"/>
            </a:solidFill>
            <a:prstDash val="solid"/>
          </a:ln>
        </p:spPr>
        <p:txBody>
          <a:bodyPr/>
          <a:lstStyle/>
          <a:p>
            <a:endParaRPr lang="es-MX"/>
          </a:p>
        </p:txBody>
      </p:sp>
      <p:sp>
        <p:nvSpPr>
          <p:cNvPr id="8" name="Shape 6"/>
          <p:cNvSpPr/>
          <p:nvPr/>
        </p:nvSpPr>
        <p:spPr>
          <a:xfrm>
            <a:off x="347472" y="987552"/>
            <a:ext cx="4315968" cy="292608"/>
          </a:xfrm>
          <a:prstGeom prst="rect">
            <a:avLst/>
          </a:prstGeom>
          <a:solidFill>
            <a:srgbClr val="0D7A8A"/>
          </a:solidFill>
          <a:ln w="12700">
            <a:solidFill>
              <a:srgbClr val="0D7A8A"/>
            </a:solidFill>
            <a:prstDash val="solid"/>
          </a:ln>
        </p:spPr>
        <p:txBody>
          <a:bodyPr/>
          <a:lstStyle/>
          <a:p>
            <a:endParaRPr lang="es-MX"/>
          </a:p>
        </p:txBody>
      </p:sp>
      <p:sp>
        <p:nvSpPr>
          <p:cNvPr id="9" name="Text 7"/>
          <p:cNvSpPr/>
          <p:nvPr/>
        </p:nvSpPr>
        <p:spPr>
          <a:xfrm>
            <a:off x="475488" y="987552"/>
            <a:ext cx="4187952" cy="292608"/>
          </a:xfrm>
          <a:prstGeom prst="rect">
            <a:avLst/>
          </a:prstGeom>
          <a:noFill/>
          <a:ln/>
        </p:spPr>
        <p:txBody>
          <a:bodyPr wrap="square" lIns="0" tIns="0" rIns="0" bIns="0" rtlCol="0" anchor="ctr"/>
          <a:lstStyle/>
          <a:p>
            <a:pPr marL="0" indent="0">
              <a:buNone/>
            </a:pPr>
            <a:r>
              <a:rPr lang="en-US" sz="950" b="1" dirty="0">
                <a:solidFill>
                  <a:srgbClr val="FFFFFF"/>
                </a:solidFill>
              </a:rPr>
              <a:t>Las 4 estrategias</a:t>
            </a:r>
            <a:endParaRPr lang="en-US" sz="950" dirty="0"/>
          </a:p>
        </p:txBody>
      </p:sp>
      <p:sp>
        <p:nvSpPr>
          <p:cNvPr id="10" name="Text 8"/>
          <p:cNvSpPr/>
          <p:nvPr/>
        </p:nvSpPr>
        <p:spPr>
          <a:xfrm>
            <a:off x="475488" y="1335024"/>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sklearn.impute import SimpleImputer</a:t>
            </a:r>
            <a:endParaRPr lang="en-US" sz="850" dirty="0"/>
          </a:p>
        </p:txBody>
      </p:sp>
      <p:sp>
        <p:nvSpPr>
          <p:cNvPr id="11" name="Text 9"/>
          <p:cNvSpPr/>
          <p:nvPr/>
        </p:nvSpPr>
        <p:spPr>
          <a:xfrm>
            <a:off x="475488" y="1483157"/>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import numpy as np</a:t>
            </a:r>
            <a:endParaRPr lang="en-US" sz="850" dirty="0"/>
          </a:p>
        </p:txBody>
      </p:sp>
      <p:sp>
        <p:nvSpPr>
          <p:cNvPr id="12" name="Text 10"/>
          <p:cNvSpPr/>
          <p:nvPr/>
        </p:nvSpPr>
        <p:spPr>
          <a:xfrm>
            <a:off x="475488" y="163129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3" name="Text 11"/>
          <p:cNvSpPr/>
          <p:nvPr/>
        </p:nvSpPr>
        <p:spPr>
          <a:xfrm>
            <a:off x="475488" y="1779422"/>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Media — para numericas con distribucion simetrica</a:t>
            </a:r>
            <a:endParaRPr lang="en-US" sz="850" dirty="0"/>
          </a:p>
        </p:txBody>
      </p:sp>
      <p:sp>
        <p:nvSpPr>
          <p:cNvPr id="14" name="Text 12"/>
          <p:cNvSpPr/>
          <p:nvPr/>
        </p:nvSpPr>
        <p:spPr>
          <a:xfrm>
            <a:off x="475488" y="1927555"/>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imp_media = SimpleImputer(strategy='mean')</a:t>
            </a:r>
            <a:endParaRPr lang="en-US" sz="850" dirty="0"/>
          </a:p>
        </p:txBody>
      </p:sp>
      <p:sp>
        <p:nvSpPr>
          <p:cNvPr id="15" name="Text 13"/>
          <p:cNvSpPr/>
          <p:nvPr/>
        </p:nvSpPr>
        <p:spPr>
          <a:xfrm>
            <a:off x="475488" y="2075688"/>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Mediana — para numericas con outliers (MAS ROBUSTO)</a:t>
            </a:r>
            <a:endParaRPr lang="en-US" sz="850" dirty="0"/>
          </a:p>
        </p:txBody>
      </p:sp>
      <p:sp>
        <p:nvSpPr>
          <p:cNvPr id="16" name="Text 14"/>
          <p:cNvSpPr/>
          <p:nvPr/>
        </p:nvSpPr>
        <p:spPr>
          <a:xfrm>
            <a:off x="475488" y="2223821"/>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imp_med   = SimpleImputer(strategy='median')</a:t>
            </a:r>
            <a:endParaRPr lang="en-US" sz="850" dirty="0"/>
          </a:p>
        </p:txBody>
      </p:sp>
      <p:sp>
        <p:nvSpPr>
          <p:cNvPr id="17" name="Text 15"/>
          <p:cNvSpPr/>
          <p:nvPr/>
        </p:nvSpPr>
        <p:spPr>
          <a:xfrm>
            <a:off x="475488" y="2371954"/>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Moda — para categoricas</a:t>
            </a:r>
            <a:endParaRPr lang="en-US" sz="850" dirty="0"/>
          </a:p>
        </p:txBody>
      </p:sp>
      <p:sp>
        <p:nvSpPr>
          <p:cNvPr id="18" name="Text 16"/>
          <p:cNvSpPr/>
          <p:nvPr/>
        </p:nvSpPr>
        <p:spPr>
          <a:xfrm>
            <a:off x="475488" y="252008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imp_moda  = SimpleImputer(strategy='most_frequent')</a:t>
            </a:r>
            <a:endParaRPr lang="en-US" sz="850" dirty="0"/>
          </a:p>
        </p:txBody>
      </p:sp>
      <p:sp>
        <p:nvSpPr>
          <p:cNvPr id="19" name="Text 17"/>
          <p:cNvSpPr/>
          <p:nvPr/>
        </p:nvSpPr>
        <p:spPr>
          <a:xfrm>
            <a:off x="475488" y="2668219"/>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Constante — para NaN que significan 'ausencia'</a:t>
            </a:r>
            <a:endParaRPr lang="en-US" sz="850" dirty="0"/>
          </a:p>
        </p:txBody>
      </p:sp>
      <p:sp>
        <p:nvSpPr>
          <p:cNvPr id="20" name="Text 18"/>
          <p:cNvSpPr/>
          <p:nvPr/>
        </p:nvSpPr>
        <p:spPr>
          <a:xfrm>
            <a:off x="475488" y="281635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imp_cte   = SimpleImputer(strategy='constant',</a:t>
            </a:r>
            <a:endParaRPr lang="en-US" sz="850" dirty="0"/>
          </a:p>
        </p:txBody>
      </p:sp>
      <p:sp>
        <p:nvSpPr>
          <p:cNvPr id="21" name="Text 19"/>
          <p:cNvSpPr/>
          <p:nvPr/>
        </p:nvSpPr>
        <p:spPr>
          <a:xfrm>
            <a:off x="475488" y="2964485"/>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fill_value=0)</a:t>
            </a:r>
            <a:endParaRPr lang="en-US" sz="850" dirty="0"/>
          </a:p>
        </p:txBody>
      </p:sp>
      <p:sp>
        <p:nvSpPr>
          <p:cNvPr id="22" name="Text 20"/>
          <p:cNvSpPr/>
          <p:nvPr/>
        </p:nvSpPr>
        <p:spPr>
          <a:xfrm>
            <a:off x="475488" y="3112618"/>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3" name="Text 21"/>
          <p:cNvSpPr/>
          <p:nvPr/>
        </p:nvSpPr>
        <p:spPr>
          <a:xfrm>
            <a:off x="475488" y="3260750"/>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Flujo estandar sklearn:</a:t>
            </a:r>
            <a:endParaRPr lang="en-US" sz="850" dirty="0"/>
          </a:p>
        </p:txBody>
      </p:sp>
      <p:sp>
        <p:nvSpPr>
          <p:cNvPr id="24" name="Text 22"/>
          <p:cNvSpPr/>
          <p:nvPr/>
        </p:nvSpPr>
        <p:spPr>
          <a:xfrm>
            <a:off x="475488" y="3408883"/>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fit() aprende el valor de imputacion del TRAIN</a:t>
            </a:r>
            <a:endParaRPr lang="en-US" sz="850" dirty="0"/>
          </a:p>
        </p:txBody>
      </p:sp>
      <p:sp>
        <p:nvSpPr>
          <p:cNvPr id="25" name="Text 23"/>
          <p:cNvSpPr/>
          <p:nvPr/>
        </p:nvSpPr>
        <p:spPr>
          <a:xfrm>
            <a:off x="475488" y="3557016"/>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transform() aplica ese valor a TRAIN y TEST</a:t>
            </a:r>
            <a:endParaRPr lang="en-US" sz="850" dirty="0"/>
          </a:p>
        </p:txBody>
      </p:sp>
      <p:sp>
        <p:nvSpPr>
          <p:cNvPr id="26" name="Text 24"/>
          <p:cNvSpPr/>
          <p:nvPr/>
        </p:nvSpPr>
        <p:spPr>
          <a:xfrm>
            <a:off x="475488" y="3705149"/>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X_train = df_train[['prima_neta','suma_asegurada']]</a:t>
            </a:r>
            <a:endParaRPr lang="en-US" sz="850" dirty="0"/>
          </a:p>
        </p:txBody>
      </p:sp>
      <p:sp>
        <p:nvSpPr>
          <p:cNvPr id="27" name="Text 25"/>
          <p:cNvSpPr/>
          <p:nvPr/>
        </p:nvSpPr>
        <p:spPr>
          <a:xfrm>
            <a:off x="475488" y="385328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X_test  = df_test[['prima_neta','suma_asegurada']]</a:t>
            </a:r>
            <a:endParaRPr lang="en-US" sz="850" dirty="0"/>
          </a:p>
        </p:txBody>
      </p:sp>
      <p:sp>
        <p:nvSpPr>
          <p:cNvPr id="28" name="Text 26"/>
          <p:cNvSpPr/>
          <p:nvPr/>
        </p:nvSpPr>
        <p:spPr>
          <a:xfrm>
            <a:off x="475488" y="4001414"/>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9" name="Text 27"/>
          <p:cNvSpPr/>
          <p:nvPr/>
        </p:nvSpPr>
        <p:spPr>
          <a:xfrm>
            <a:off x="475488" y="4149547"/>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imp_med.fit(X_train)      # aprende la mediana del train</a:t>
            </a:r>
            <a:endParaRPr lang="en-US" sz="850" dirty="0"/>
          </a:p>
        </p:txBody>
      </p:sp>
      <p:sp>
        <p:nvSpPr>
          <p:cNvPr id="30" name="Text 28"/>
          <p:cNvSpPr/>
          <p:nvPr/>
        </p:nvSpPr>
        <p:spPr>
          <a:xfrm>
            <a:off x="475488" y="429768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X_train_imp = imp_med.transform(X_train)</a:t>
            </a:r>
            <a:endParaRPr lang="en-US" sz="850" dirty="0"/>
          </a:p>
        </p:txBody>
      </p:sp>
      <p:sp>
        <p:nvSpPr>
          <p:cNvPr id="31" name="Text 29"/>
          <p:cNvSpPr/>
          <p:nvPr/>
        </p:nvSpPr>
        <p:spPr>
          <a:xfrm>
            <a:off x="475488" y="4445813"/>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X_test_imp  = imp_med.transform(X_test)</a:t>
            </a:r>
            <a:endParaRPr lang="en-US" sz="850" dirty="0"/>
          </a:p>
        </p:txBody>
      </p:sp>
      <p:sp>
        <p:nvSpPr>
          <p:cNvPr id="32" name="Text 30"/>
          <p:cNvSpPr/>
          <p:nvPr/>
        </p:nvSpPr>
        <p:spPr>
          <a:xfrm>
            <a:off x="475488" y="459394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3" name="Text 31"/>
          <p:cNvSpPr/>
          <p:nvPr/>
        </p:nvSpPr>
        <p:spPr>
          <a:xfrm>
            <a:off x="475488" y="4742078"/>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NUNCA hagas fit en el test — seria data leakage</a:t>
            </a:r>
            <a:endParaRPr lang="en-US" sz="850" dirty="0"/>
          </a:p>
        </p:txBody>
      </p:sp>
      <p:sp>
        <p:nvSpPr>
          <p:cNvPr id="34" name="Text 32"/>
          <p:cNvSpPr/>
          <p:nvPr/>
        </p:nvSpPr>
        <p:spPr>
          <a:xfrm>
            <a:off x="475488" y="4890211"/>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imp.fit(X_test)  ← INCORRECTO</a:t>
            </a:r>
            <a:endParaRPr lang="en-US" sz="850" dirty="0"/>
          </a:p>
        </p:txBody>
      </p:sp>
      <p:sp>
        <p:nvSpPr>
          <p:cNvPr id="35" name="Shape 33"/>
          <p:cNvSpPr/>
          <p:nvPr/>
        </p:nvSpPr>
        <p:spPr>
          <a:xfrm>
            <a:off x="4828032" y="987552"/>
            <a:ext cx="3968496" cy="4041648"/>
          </a:xfrm>
          <a:prstGeom prst="rect">
            <a:avLst/>
          </a:prstGeom>
          <a:solidFill>
            <a:srgbClr val="071228"/>
          </a:solidFill>
          <a:ln w="12700">
            <a:solidFill>
              <a:srgbClr val="0D7A8A"/>
            </a:solidFill>
            <a:prstDash val="solid"/>
          </a:ln>
        </p:spPr>
        <p:txBody>
          <a:bodyPr/>
          <a:lstStyle/>
          <a:p>
            <a:endParaRPr lang="es-MX"/>
          </a:p>
        </p:txBody>
      </p:sp>
      <p:sp>
        <p:nvSpPr>
          <p:cNvPr id="36" name="Shape 34"/>
          <p:cNvSpPr/>
          <p:nvPr/>
        </p:nvSpPr>
        <p:spPr>
          <a:xfrm>
            <a:off x="4828032" y="987552"/>
            <a:ext cx="3968496" cy="292608"/>
          </a:xfrm>
          <a:prstGeom prst="rect">
            <a:avLst/>
          </a:prstGeom>
          <a:solidFill>
            <a:srgbClr val="1A5276"/>
          </a:solidFill>
          <a:ln w="12700">
            <a:solidFill>
              <a:srgbClr val="1A5276"/>
            </a:solidFill>
            <a:prstDash val="solid"/>
          </a:ln>
        </p:spPr>
        <p:txBody>
          <a:bodyPr/>
          <a:lstStyle/>
          <a:p>
            <a:endParaRPr lang="es-MX"/>
          </a:p>
        </p:txBody>
      </p:sp>
      <p:sp>
        <p:nvSpPr>
          <p:cNvPr id="37" name="Text 35"/>
          <p:cNvSpPr/>
          <p:nvPr/>
        </p:nvSpPr>
        <p:spPr>
          <a:xfrm>
            <a:off x="4956048" y="987552"/>
            <a:ext cx="3840480" cy="292608"/>
          </a:xfrm>
          <a:prstGeom prst="rect">
            <a:avLst/>
          </a:prstGeom>
          <a:noFill/>
          <a:ln/>
        </p:spPr>
        <p:txBody>
          <a:bodyPr wrap="square" lIns="0" tIns="0" rIns="0" bIns="0" rtlCol="0" anchor="ctr"/>
          <a:lstStyle/>
          <a:p>
            <a:pPr marL="0" indent="0">
              <a:buNone/>
            </a:pPr>
            <a:r>
              <a:rPr lang="en-US" sz="950" b="1" dirty="0">
                <a:solidFill>
                  <a:srgbClr val="FFFFFF"/>
                </a:solidFill>
              </a:rPr>
              <a:t>Cuando usar cada estrategia</a:t>
            </a:r>
            <a:endParaRPr lang="en-US" sz="950" dirty="0"/>
          </a:p>
        </p:txBody>
      </p:sp>
      <p:sp>
        <p:nvSpPr>
          <p:cNvPr id="38" name="Text 36"/>
          <p:cNvSpPr/>
          <p:nvPr/>
        </p:nvSpPr>
        <p:spPr>
          <a:xfrm>
            <a:off x="4956048" y="1335024"/>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Variables actuariales y estrategia recomendada:</a:t>
            </a:r>
            <a:endParaRPr lang="en-US" sz="850" dirty="0"/>
          </a:p>
        </p:txBody>
      </p:sp>
      <p:sp>
        <p:nvSpPr>
          <p:cNvPr id="39" name="Text 37"/>
          <p:cNvSpPr/>
          <p:nvPr/>
        </p:nvSpPr>
        <p:spPr>
          <a:xfrm>
            <a:off x="4956048" y="1483157"/>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a:t>
            </a:r>
            <a:endParaRPr lang="en-US" sz="850" dirty="0"/>
          </a:p>
        </p:txBody>
      </p:sp>
      <p:sp>
        <p:nvSpPr>
          <p:cNvPr id="40" name="Text 38"/>
          <p:cNvSpPr/>
          <p:nvPr/>
        </p:nvSpPr>
        <p:spPr>
          <a:xfrm>
            <a:off x="4956048" y="1631290"/>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prima_neta:    MEDIANA (tiene outliers altos)</a:t>
            </a:r>
            <a:endParaRPr lang="en-US" sz="850" dirty="0"/>
          </a:p>
        </p:txBody>
      </p:sp>
      <p:sp>
        <p:nvSpPr>
          <p:cNvPr id="41" name="Text 39"/>
          <p:cNvSpPr/>
          <p:nvPr/>
        </p:nvSpPr>
        <p:spPr>
          <a:xfrm>
            <a:off x="4956048" y="1779422"/>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suma_asegurada:MEDIANA (muy sesgada a la derecha)</a:t>
            </a:r>
            <a:endParaRPr lang="en-US" sz="850" dirty="0"/>
          </a:p>
        </p:txBody>
      </p:sp>
      <p:sp>
        <p:nvSpPr>
          <p:cNvPr id="42" name="Text 40"/>
          <p:cNvSpPr/>
          <p:nvPr/>
        </p:nvSpPr>
        <p:spPr>
          <a:xfrm>
            <a:off x="4956048" y="1927555"/>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edad:          MEDIA   (simetrica, sin outliers)</a:t>
            </a:r>
            <a:endParaRPr lang="en-US" sz="850" dirty="0"/>
          </a:p>
        </p:txBody>
      </p:sp>
      <p:sp>
        <p:nvSpPr>
          <p:cNvPr id="43" name="Text 41"/>
          <p:cNvSpPr/>
          <p:nvPr/>
        </p:nvSpPr>
        <p:spPr>
          <a:xfrm>
            <a:off x="4956048" y="2075688"/>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n_siniestros:  CONSTANTE=0 (ausencia = no tuvo)</a:t>
            </a:r>
            <a:endParaRPr lang="en-US" sz="850" dirty="0"/>
          </a:p>
        </p:txBody>
      </p:sp>
      <p:sp>
        <p:nvSpPr>
          <p:cNvPr id="44" name="Text 42"/>
          <p:cNvSpPr/>
          <p:nvPr/>
        </p:nvSpPr>
        <p:spPr>
          <a:xfrm>
            <a:off x="4956048" y="2223821"/>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monto_pagado:  CONSTANTE=0 (ausencia = no pago)</a:t>
            </a:r>
            <a:endParaRPr lang="en-US" sz="850" dirty="0"/>
          </a:p>
        </p:txBody>
      </p:sp>
      <p:sp>
        <p:nvSpPr>
          <p:cNvPr id="45" name="Text 43"/>
          <p:cNvSpPr/>
          <p:nvPr/>
        </p:nvSpPr>
        <p:spPr>
          <a:xfrm>
            <a:off x="4956048" y="2371954"/>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6" name="Text 44"/>
          <p:cNvSpPr/>
          <p:nvPr/>
        </p:nvSpPr>
        <p:spPr>
          <a:xfrm>
            <a:off x="4956048" y="2520086"/>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Variables categoricas:</a:t>
            </a:r>
            <a:endParaRPr lang="en-US" sz="850" dirty="0"/>
          </a:p>
        </p:txBody>
      </p:sp>
      <p:sp>
        <p:nvSpPr>
          <p:cNvPr id="47" name="Text 45"/>
          <p:cNvSpPr/>
          <p:nvPr/>
        </p:nvSpPr>
        <p:spPr>
          <a:xfrm>
            <a:off x="4956048" y="2668219"/>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ramo:          MOST_FREQUENT o 'Desconocido'</a:t>
            </a:r>
            <a:endParaRPr lang="en-US" sz="850" dirty="0"/>
          </a:p>
        </p:txBody>
      </p:sp>
      <p:sp>
        <p:nvSpPr>
          <p:cNvPr id="48" name="Text 46"/>
          <p:cNvSpPr/>
          <p:nvPr/>
        </p:nvSpPr>
        <p:spPr>
          <a:xfrm>
            <a:off x="4956048" y="2816352"/>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tipo_vehiculo: MOST_FREQUENT (solo para Autos)</a:t>
            </a:r>
            <a:endParaRPr lang="en-US" sz="850" dirty="0"/>
          </a:p>
        </p:txBody>
      </p:sp>
      <p:sp>
        <p:nvSpPr>
          <p:cNvPr id="49" name="Text 47"/>
          <p:cNvSpPr/>
          <p:nvPr/>
        </p:nvSpPr>
        <p:spPr>
          <a:xfrm>
            <a:off x="4956048" y="2964485"/>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0" name="Text 48"/>
          <p:cNvSpPr/>
          <p:nvPr/>
        </p:nvSpPr>
        <p:spPr>
          <a:xfrm>
            <a:off x="4956048" y="3112618"/>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Error comun: imputar con la media cuando hay</a:t>
            </a:r>
            <a:endParaRPr lang="en-US" sz="850" dirty="0"/>
          </a:p>
        </p:txBody>
      </p:sp>
      <p:sp>
        <p:nvSpPr>
          <p:cNvPr id="51" name="Text 49"/>
          <p:cNvSpPr/>
          <p:nvPr/>
        </p:nvSpPr>
        <p:spPr>
          <a:xfrm>
            <a:off x="4956048" y="3260750"/>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outliers extremos</a:t>
            </a:r>
            <a:endParaRPr lang="en-US" sz="850" dirty="0"/>
          </a:p>
        </p:txBody>
      </p:sp>
      <p:sp>
        <p:nvSpPr>
          <p:cNvPr id="52" name="Text 50"/>
          <p:cNvSpPr/>
          <p:nvPr/>
        </p:nvSpPr>
        <p:spPr>
          <a:xfrm>
            <a:off x="4956048" y="3408883"/>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primas = [2400,2600,3100,2900,180000]</a:t>
            </a:r>
            <a:endParaRPr lang="en-US" sz="850" dirty="0"/>
          </a:p>
        </p:txBody>
      </p:sp>
      <p:sp>
        <p:nvSpPr>
          <p:cNvPr id="53" name="Text 51"/>
          <p:cNvSpPr/>
          <p:nvPr/>
        </p:nvSpPr>
        <p:spPr>
          <a:xfrm>
            <a:off x="4956048" y="3557016"/>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media  = np.mean(primas)   # 38200 — distorsionado</a:t>
            </a:r>
            <a:endParaRPr lang="en-US" sz="850" dirty="0"/>
          </a:p>
        </p:txBody>
      </p:sp>
      <p:sp>
        <p:nvSpPr>
          <p:cNvPr id="54" name="Text 52"/>
          <p:cNvSpPr/>
          <p:nvPr/>
        </p:nvSpPr>
        <p:spPr>
          <a:xfrm>
            <a:off x="4956048" y="3705149"/>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mediana= np.median(primas) # 2900  — representativo</a:t>
            </a:r>
            <a:endParaRPr lang="en-US" sz="850" dirty="0"/>
          </a:p>
        </p:txBody>
      </p:sp>
      <p:sp>
        <p:nvSpPr>
          <p:cNvPr id="55" name="Text 53"/>
          <p:cNvSpPr/>
          <p:nvPr/>
        </p:nvSpPr>
        <p:spPr>
          <a:xfrm>
            <a:off x="4956048" y="3853282"/>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6" name="Text 54"/>
          <p:cNvSpPr/>
          <p:nvPr/>
        </p:nvSpPr>
        <p:spPr>
          <a:xfrm>
            <a:off x="4956048" y="4001414"/>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En actuaria los montos casi siempre tienen</a:t>
            </a:r>
            <a:endParaRPr lang="en-US" sz="850" dirty="0"/>
          </a:p>
        </p:txBody>
      </p:sp>
      <p:sp>
        <p:nvSpPr>
          <p:cNvPr id="57" name="Text 55"/>
          <p:cNvSpPr/>
          <p:nvPr/>
        </p:nvSpPr>
        <p:spPr>
          <a:xfrm>
            <a:off x="4956048" y="4149547"/>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distribucion log-normal — usa mediana.</a:t>
            </a:r>
            <a:endParaRPr lang="en-US" sz="850" dirty="0"/>
          </a:p>
        </p:txBody>
      </p:sp>
      <p:sp>
        <p:nvSpPr>
          <p:cNvPr id="58" name="Shape 56"/>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59" name="Text 57"/>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Modulo 2 · T2 Imputacion Avanzada</a:t>
            </a:r>
            <a:endParaRPr lang="en-US" sz="850" dirty="0"/>
          </a:p>
        </p:txBody>
      </p:sp>
      <p:sp>
        <p:nvSpPr>
          <p:cNvPr id="60" name="Text 58"/>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SimpleImputer</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3291840" cy="256032"/>
          </a:xfrm>
          <a:prstGeom prst="rect">
            <a:avLst/>
          </a:prstGeom>
          <a:solidFill>
            <a:srgbClr val="6C3483"/>
          </a:solidFill>
          <a:ln w="12700">
            <a:solidFill>
              <a:srgbClr val="6C3483"/>
            </a:solidFill>
            <a:prstDash val="solid"/>
          </a:ln>
        </p:spPr>
        <p:txBody>
          <a:bodyPr/>
          <a:lstStyle/>
          <a:p>
            <a:endParaRPr lang="es-MX"/>
          </a:p>
        </p:txBody>
      </p:sp>
      <p:sp>
        <p:nvSpPr>
          <p:cNvPr id="4" name="Text 2"/>
          <p:cNvSpPr/>
          <p:nvPr/>
        </p:nvSpPr>
        <p:spPr>
          <a:xfrm>
            <a:off x="365760" y="566928"/>
            <a:ext cx="329184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KNNIMPUTER — IMPUTACION POR VECINOS</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500" b="1" dirty="0">
                <a:solidFill>
                  <a:srgbClr val="0D1B3E"/>
                </a:solidFill>
              </a:rPr>
              <a:t>KNNImputer: Usa el Contexto de Cada Registro</a:t>
            </a:r>
            <a:endParaRPr lang="en-US" sz="2500" dirty="0"/>
          </a:p>
        </p:txBody>
      </p:sp>
      <p:sp>
        <p:nvSpPr>
          <p:cNvPr id="6" name="Text 4"/>
          <p:cNvSpPr/>
          <p:nvPr/>
        </p:nvSpPr>
        <p:spPr>
          <a:xfrm>
            <a:off x="365760" y="775411"/>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En lugar de un valor global, usa los k registros mas similares para estimar el faltante</a:t>
            </a:r>
            <a:endParaRPr lang="en-US" sz="1200" dirty="0"/>
          </a:p>
        </p:txBody>
      </p:sp>
      <p:sp>
        <p:nvSpPr>
          <p:cNvPr id="7" name="Shape 5"/>
          <p:cNvSpPr/>
          <p:nvPr/>
        </p:nvSpPr>
        <p:spPr>
          <a:xfrm>
            <a:off x="347472" y="987552"/>
            <a:ext cx="8449056" cy="603504"/>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493776" y="1051560"/>
            <a:ext cx="8229600" cy="475488"/>
          </a:xfrm>
          <a:prstGeom prst="rect">
            <a:avLst/>
          </a:prstGeom>
          <a:noFill/>
          <a:ln/>
        </p:spPr>
        <p:txBody>
          <a:bodyPr wrap="square" lIns="0" tIns="0" rIns="0" bIns="0" rtlCol="0" anchor="ctr"/>
          <a:lstStyle/>
          <a:p>
            <a:pPr marL="0" indent="0">
              <a:buNone/>
            </a:pPr>
            <a:r>
              <a:rPr lang="en-US" sz="1100" dirty="0">
                <a:solidFill>
                  <a:srgbClr val="374151"/>
                </a:solidFill>
              </a:rPr>
              <a:t>KNNImputer busca los k vecinos mas cercanos de cada fila con NaN (usando las columnas sin NaN como distancia) y promedia sus valores para imputar. Es especialmente util cuando el NaN es MAR — cuando el faltante depende de otras variables.</a:t>
            </a:r>
            <a:endParaRPr lang="en-US" sz="1100" dirty="0"/>
          </a:p>
        </p:txBody>
      </p:sp>
      <p:sp>
        <p:nvSpPr>
          <p:cNvPr id="9" name="Shape 7"/>
          <p:cNvSpPr/>
          <p:nvPr/>
        </p:nvSpPr>
        <p:spPr>
          <a:xfrm>
            <a:off x="347472" y="1682496"/>
            <a:ext cx="4315968" cy="3401568"/>
          </a:xfrm>
          <a:prstGeom prst="rect">
            <a:avLst/>
          </a:prstGeom>
          <a:solidFill>
            <a:srgbClr val="071228"/>
          </a:solidFill>
          <a:ln w="12700">
            <a:solidFill>
              <a:srgbClr val="0D7A8A"/>
            </a:solidFill>
            <a:prstDash val="solid"/>
          </a:ln>
        </p:spPr>
        <p:txBody>
          <a:bodyPr/>
          <a:lstStyle/>
          <a:p>
            <a:endParaRPr lang="es-MX"/>
          </a:p>
        </p:txBody>
      </p:sp>
      <p:sp>
        <p:nvSpPr>
          <p:cNvPr id="10" name="Shape 8"/>
          <p:cNvSpPr/>
          <p:nvPr/>
        </p:nvSpPr>
        <p:spPr>
          <a:xfrm>
            <a:off x="347472" y="1682496"/>
            <a:ext cx="4315968" cy="292608"/>
          </a:xfrm>
          <a:prstGeom prst="rect">
            <a:avLst/>
          </a:prstGeom>
          <a:solidFill>
            <a:srgbClr val="6C3483"/>
          </a:solidFill>
          <a:ln w="12700">
            <a:solidFill>
              <a:srgbClr val="6C3483"/>
            </a:solidFill>
            <a:prstDash val="solid"/>
          </a:ln>
        </p:spPr>
        <p:txBody>
          <a:bodyPr/>
          <a:lstStyle/>
          <a:p>
            <a:endParaRPr lang="es-MX"/>
          </a:p>
        </p:txBody>
      </p:sp>
      <p:sp>
        <p:nvSpPr>
          <p:cNvPr id="11" name="Text 9"/>
          <p:cNvSpPr/>
          <p:nvPr/>
        </p:nvSpPr>
        <p:spPr>
          <a:xfrm>
            <a:off x="475488" y="1682496"/>
            <a:ext cx="4187952" cy="292608"/>
          </a:xfrm>
          <a:prstGeom prst="rect">
            <a:avLst/>
          </a:prstGeom>
          <a:noFill/>
          <a:ln/>
        </p:spPr>
        <p:txBody>
          <a:bodyPr wrap="square" lIns="0" tIns="0" rIns="0" bIns="0" rtlCol="0" anchor="ctr"/>
          <a:lstStyle/>
          <a:p>
            <a:pPr marL="0" indent="0">
              <a:buNone/>
            </a:pPr>
            <a:r>
              <a:rPr lang="en-US" sz="950" b="1" dirty="0">
                <a:solidFill>
                  <a:srgbClr val="FFFFFF"/>
                </a:solidFill>
              </a:rPr>
              <a:t>Como funciona y como usarlo</a:t>
            </a:r>
            <a:endParaRPr lang="en-US" sz="950" dirty="0"/>
          </a:p>
        </p:txBody>
      </p:sp>
      <p:sp>
        <p:nvSpPr>
          <p:cNvPr id="12" name="Text 10"/>
          <p:cNvSpPr/>
          <p:nvPr/>
        </p:nvSpPr>
        <p:spPr>
          <a:xfrm>
            <a:off x="475488" y="2029968"/>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sklearn.impute import KNNImputer</a:t>
            </a:r>
            <a:endParaRPr lang="en-US" sz="850" dirty="0"/>
          </a:p>
        </p:txBody>
      </p:sp>
      <p:sp>
        <p:nvSpPr>
          <p:cNvPr id="13" name="Text 11"/>
          <p:cNvSpPr/>
          <p:nvPr/>
        </p:nvSpPr>
        <p:spPr>
          <a:xfrm>
            <a:off x="475488" y="2178101"/>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4" name="Text 12"/>
          <p:cNvSpPr/>
          <p:nvPr/>
        </p:nvSpPr>
        <p:spPr>
          <a:xfrm>
            <a:off x="475488" y="2326234"/>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n_neighbors: cuantos vecinos usar</a:t>
            </a:r>
            <a:endParaRPr lang="en-US" sz="850" dirty="0"/>
          </a:p>
        </p:txBody>
      </p:sp>
      <p:sp>
        <p:nvSpPr>
          <p:cNvPr id="15" name="Text 13"/>
          <p:cNvSpPr/>
          <p:nvPr/>
        </p:nvSpPr>
        <p:spPr>
          <a:xfrm>
            <a:off x="475488" y="2474366"/>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mas vecinos = mas suave, menos vecinos = mas local</a:t>
            </a:r>
            <a:endParaRPr lang="en-US" sz="850" dirty="0"/>
          </a:p>
        </p:txBody>
      </p:sp>
      <p:sp>
        <p:nvSpPr>
          <p:cNvPr id="16" name="Text 14"/>
          <p:cNvSpPr/>
          <p:nvPr/>
        </p:nvSpPr>
        <p:spPr>
          <a:xfrm>
            <a:off x="475488" y="2622499"/>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imp_knn = KNNImputer(n_neighbors=5)</a:t>
            </a:r>
            <a:endParaRPr lang="en-US" sz="850" dirty="0"/>
          </a:p>
        </p:txBody>
      </p:sp>
      <p:sp>
        <p:nvSpPr>
          <p:cNvPr id="17" name="Text 15"/>
          <p:cNvSpPr/>
          <p:nvPr/>
        </p:nvSpPr>
        <p:spPr>
          <a:xfrm>
            <a:off x="475488" y="277063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8" name="Text 16"/>
          <p:cNvSpPr/>
          <p:nvPr/>
        </p:nvSpPr>
        <p:spPr>
          <a:xfrm>
            <a:off x="475488" y="2918765"/>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Requiere que TODAS las variables numericas</a:t>
            </a:r>
            <a:endParaRPr lang="en-US" sz="850" dirty="0"/>
          </a:p>
        </p:txBody>
      </p:sp>
      <p:sp>
        <p:nvSpPr>
          <p:cNvPr id="19" name="Text 17"/>
          <p:cNvSpPr/>
          <p:nvPr/>
        </p:nvSpPr>
        <p:spPr>
          <a:xfrm>
            <a:off x="475488" y="3066898"/>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esten en la misma escala (normalizar antes)</a:t>
            </a:r>
            <a:endParaRPr lang="en-US" sz="850" dirty="0"/>
          </a:p>
        </p:txBody>
      </p:sp>
      <p:sp>
        <p:nvSpPr>
          <p:cNvPr id="20" name="Text 18"/>
          <p:cNvSpPr/>
          <p:nvPr/>
        </p:nvSpPr>
        <p:spPr>
          <a:xfrm>
            <a:off x="475488" y="321503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sklearn.preprocessing import StandardScaler</a:t>
            </a:r>
            <a:endParaRPr lang="en-US" sz="850" dirty="0"/>
          </a:p>
        </p:txBody>
      </p:sp>
      <p:sp>
        <p:nvSpPr>
          <p:cNvPr id="21" name="Text 19"/>
          <p:cNvSpPr/>
          <p:nvPr/>
        </p:nvSpPr>
        <p:spPr>
          <a:xfrm>
            <a:off x="475488" y="3363163"/>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2" name="Text 20"/>
          <p:cNvSpPr/>
          <p:nvPr/>
        </p:nvSpPr>
        <p:spPr>
          <a:xfrm>
            <a:off x="475488" y="3511296"/>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Pipeline completo:</a:t>
            </a:r>
            <a:endParaRPr lang="en-US" sz="850" dirty="0"/>
          </a:p>
        </p:txBody>
      </p:sp>
      <p:sp>
        <p:nvSpPr>
          <p:cNvPr id="23" name="Text 21"/>
          <p:cNvSpPr/>
          <p:nvPr/>
        </p:nvSpPr>
        <p:spPr>
          <a:xfrm>
            <a:off x="475488" y="3659429"/>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features = ['prima_neta','edad',</a:t>
            </a:r>
            <a:endParaRPr lang="en-US" sz="850" dirty="0"/>
          </a:p>
        </p:txBody>
      </p:sp>
      <p:sp>
        <p:nvSpPr>
          <p:cNvPr id="24" name="Text 22"/>
          <p:cNvSpPr/>
          <p:nvPr/>
        </p:nvSpPr>
        <p:spPr>
          <a:xfrm>
            <a:off x="475488" y="380756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'suma_asegurada','n_siniestros']</a:t>
            </a:r>
            <a:endParaRPr lang="en-US" sz="850" dirty="0"/>
          </a:p>
        </p:txBody>
      </p:sp>
      <p:sp>
        <p:nvSpPr>
          <p:cNvPr id="25" name="Text 23"/>
          <p:cNvSpPr/>
          <p:nvPr/>
        </p:nvSpPr>
        <p:spPr>
          <a:xfrm>
            <a:off x="475488" y="3955694"/>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 = df[features]</a:t>
            </a:r>
            <a:endParaRPr lang="en-US" sz="850" dirty="0"/>
          </a:p>
        </p:txBody>
      </p:sp>
      <p:sp>
        <p:nvSpPr>
          <p:cNvPr id="26" name="Text 24"/>
          <p:cNvSpPr/>
          <p:nvPr/>
        </p:nvSpPr>
        <p:spPr>
          <a:xfrm>
            <a:off x="475488" y="4103827"/>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7" name="Text 25"/>
          <p:cNvSpPr/>
          <p:nvPr/>
        </p:nvSpPr>
        <p:spPr>
          <a:xfrm>
            <a:off x="475488" y="425196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scaler = StandardScaler()</a:t>
            </a:r>
            <a:endParaRPr lang="en-US" sz="850" dirty="0"/>
          </a:p>
        </p:txBody>
      </p:sp>
      <p:sp>
        <p:nvSpPr>
          <p:cNvPr id="28" name="Text 26"/>
          <p:cNvSpPr/>
          <p:nvPr/>
        </p:nvSpPr>
        <p:spPr>
          <a:xfrm>
            <a:off x="475488" y="4400093"/>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X_scaled = scaler.fit_transform(X)</a:t>
            </a:r>
            <a:endParaRPr lang="en-US" sz="850" dirty="0"/>
          </a:p>
        </p:txBody>
      </p:sp>
      <p:sp>
        <p:nvSpPr>
          <p:cNvPr id="29" name="Text 27"/>
          <p:cNvSpPr/>
          <p:nvPr/>
        </p:nvSpPr>
        <p:spPr>
          <a:xfrm>
            <a:off x="475488" y="454822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0" name="Text 28"/>
          <p:cNvSpPr/>
          <p:nvPr/>
        </p:nvSpPr>
        <p:spPr>
          <a:xfrm>
            <a:off x="475488" y="4696358"/>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imp_knn = KNNImputer(n_neighbors=5)</a:t>
            </a:r>
            <a:endParaRPr lang="en-US" sz="850" dirty="0"/>
          </a:p>
        </p:txBody>
      </p:sp>
      <p:sp>
        <p:nvSpPr>
          <p:cNvPr id="31" name="Text 29"/>
          <p:cNvSpPr/>
          <p:nvPr/>
        </p:nvSpPr>
        <p:spPr>
          <a:xfrm>
            <a:off x="475488" y="4844491"/>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X_imputed = imp_knn.fit_transform(X_scaled)</a:t>
            </a:r>
            <a:endParaRPr lang="en-US" sz="850" dirty="0"/>
          </a:p>
        </p:txBody>
      </p:sp>
      <p:sp>
        <p:nvSpPr>
          <p:cNvPr id="32" name="Text 30"/>
          <p:cNvSpPr/>
          <p:nvPr/>
        </p:nvSpPr>
        <p:spPr>
          <a:xfrm>
            <a:off x="475488" y="4992624"/>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3" name="Text 31"/>
          <p:cNvSpPr/>
          <p:nvPr/>
        </p:nvSpPr>
        <p:spPr>
          <a:xfrm>
            <a:off x="475488" y="5140757"/>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Regresar a escala original</a:t>
            </a:r>
            <a:endParaRPr lang="en-US" sz="850" dirty="0"/>
          </a:p>
        </p:txBody>
      </p:sp>
      <p:sp>
        <p:nvSpPr>
          <p:cNvPr id="34" name="Text 32"/>
          <p:cNvSpPr/>
          <p:nvPr/>
        </p:nvSpPr>
        <p:spPr>
          <a:xfrm>
            <a:off x="475488" y="528889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X_result = scaler.inverse_transform(X_imputed)</a:t>
            </a:r>
            <a:endParaRPr lang="en-US" sz="850" dirty="0"/>
          </a:p>
        </p:txBody>
      </p:sp>
      <p:sp>
        <p:nvSpPr>
          <p:cNvPr id="35" name="Shape 33"/>
          <p:cNvSpPr/>
          <p:nvPr/>
        </p:nvSpPr>
        <p:spPr>
          <a:xfrm>
            <a:off x="4828032" y="1682496"/>
            <a:ext cx="3968496" cy="3401568"/>
          </a:xfrm>
          <a:prstGeom prst="rect">
            <a:avLst/>
          </a:prstGeom>
          <a:solidFill>
            <a:srgbClr val="071228"/>
          </a:solidFill>
          <a:ln w="12700">
            <a:solidFill>
              <a:srgbClr val="0D7A8A"/>
            </a:solidFill>
            <a:prstDash val="solid"/>
          </a:ln>
        </p:spPr>
        <p:txBody>
          <a:bodyPr/>
          <a:lstStyle/>
          <a:p>
            <a:endParaRPr lang="es-MX"/>
          </a:p>
        </p:txBody>
      </p:sp>
      <p:sp>
        <p:nvSpPr>
          <p:cNvPr id="36" name="Shape 34"/>
          <p:cNvSpPr/>
          <p:nvPr/>
        </p:nvSpPr>
        <p:spPr>
          <a:xfrm>
            <a:off x="4828032" y="1682496"/>
            <a:ext cx="3968496" cy="292608"/>
          </a:xfrm>
          <a:prstGeom prst="rect">
            <a:avLst/>
          </a:prstGeom>
          <a:solidFill>
            <a:srgbClr val="1A5276"/>
          </a:solidFill>
          <a:ln w="12700">
            <a:solidFill>
              <a:srgbClr val="1A5276"/>
            </a:solidFill>
            <a:prstDash val="solid"/>
          </a:ln>
        </p:spPr>
        <p:txBody>
          <a:bodyPr/>
          <a:lstStyle/>
          <a:p>
            <a:endParaRPr lang="es-MX"/>
          </a:p>
        </p:txBody>
      </p:sp>
      <p:sp>
        <p:nvSpPr>
          <p:cNvPr id="37" name="Text 35"/>
          <p:cNvSpPr/>
          <p:nvPr/>
        </p:nvSpPr>
        <p:spPr>
          <a:xfrm>
            <a:off x="4956048" y="1682496"/>
            <a:ext cx="3840480" cy="292608"/>
          </a:xfrm>
          <a:prstGeom prst="rect">
            <a:avLst/>
          </a:prstGeom>
          <a:noFill/>
          <a:ln/>
        </p:spPr>
        <p:txBody>
          <a:bodyPr wrap="square" lIns="0" tIns="0" rIns="0" bIns="0" rtlCol="0" anchor="ctr"/>
          <a:lstStyle/>
          <a:p>
            <a:pPr marL="0" indent="0">
              <a:buNone/>
            </a:pPr>
            <a:r>
              <a:rPr lang="en-US" sz="950" b="1" dirty="0">
                <a:solidFill>
                  <a:srgbClr val="FFFFFF"/>
                </a:solidFill>
              </a:rPr>
              <a:t>Ventajas, limitaciones y contexto actuarial</a:t>
            </a:r>
            <a:endParaRPr lang="en-US" sz="950" dirty="0"/>
          </a:p>
        </p:txBody>
      </p:sp>
      <p:sp>
        <p:nvSpPr>
          <p:cNvPr id="38" name="Text 36"/>
          <p:cNvSpPr/>
          <p:nvPr/>
        </p:nvSpPr>
        <p:spPr>
          <a:xfrm>
            <a:off x="4956048" y="2029968"/>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VENTAJAS</a:t>
            </a:r>
            <a:endParaRPr lang="en-US" sz="850" dirty="0"/>
          </a:p>
        </p:txBody>
      </p:sp>
      <p:sp>
        <p:nvSpPr>
          <p:cNvPr id="39" name="Text 37"/>
          <p:cNvSpPr/>
          <p:nvPr/>
        </p:nvSpPr>
        <p:spPr>
          <a:xfrm>
            <a:off x="4956048" y="2178101"/>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 Preserva relaciones entre variables</a:t>
            </a:r>
            <a:endParaRPr lang="en-US" sz="850" dirty="0"/>
          </a:p>
        </p:txBody>
      </p:sp>
      <p:sp>
        <p:nvSpPr>
          <p:cNvPr id="40" name="Text 38"/>
          <p:cNvSpPr/>
          <p:nvPr/>
        </p:nvSpPr>
        <p:spPr>
          <a:xfrm>
            <a:off x="4956048" y="2326234"/>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 No asume una distribucion especifica</a:t>
            </a:r>
            <a:endParaRPr lang="en-US" sz="850" dirty="0"/>
          </a:p>
        </p:txBody>
      </p:sp>
      <p:sp>
        <p:nvSpPr>
          <p:cNvPr id="41" name="Text 39"/>
          <p:cNvSpPr/>
          <p:nvPr/>
        </p:nvSpPr>
        <p:spPr>
          <a:xfrm>
            <a:off x="4956048" y="2474366"/>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 Funciona bien con MAR</a:t>
            </a:r>
            <a:endParaRPr lang="en-US" sz="850" dirty="0"/>
          </a:p>
        </p:txBody>
      </p:sp>
      <p:sp>
        <p:nvSpPr>
          <p:cNvPr id="42" name="Text 40"/>
          <p:cNvSpPr/>
          <p:nvPr/>
        </p:nvSpPr>
        <p:spPr>
          <a:xfrm>
            <a:off x="4956048" y="2622499"/>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3" name="Text 41"/>
          <p:cNvSpPr/>
          <p:nvPr/>
        </p:nvSpPr>
        <p:spPr>
          <a:xfrm>
            <a:off x="4956048" y="2770632"/>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LIMITACIONES</a:t>
            </a:r>
            <a:endParaRPr lang="en-US" sz="850" dirty="0"/>
          </a:p>
        </p:txBody>
      </p:sp>
      <p:sp>
        <p:nvSpPr>
          <p:cNvPr id="44" name="Text 42"/>
          <p:cNvSpPr/>
          <p:nvPr/>
        </p:nvSpPr>
        <p:spPr>
          <a:xfrm>
            <a:off x="4956048" y="2918765"/>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 Lento en datasets grandes (O(n^2))</a:t>
            </a:r>
            <a:endParaRPr lang="en-US" sz="850" dirty="0"/>
          </a:p>
        </p:txBody>
      </p:sp>
      <p:sp>
        <p:nvSpPr>
          <p:cNvPr id="45" name="Text 43"/>
          <p:cNvSpPr/>
          <p:nvPr/>
        </p:nvSpPr>
        <p:spPr>
          <a:xfrm>
            <a:off x="4956048" y="3066898"/>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 Sensible a escala — normalizar siempre</a:t>
            </a:r>
            <a:endParaRPr lang="en-US" sz="850" dirty="0"/>
          </a:p>
        </p:txBody>
      </p:sp>
      <p:sp>
        <p:nvSpPr>
          <p:cNvPr id="46" name="Text 44"/>
          <p:cNvSpPr/>
          <p:nvPr/>
        </p:nvSpPr>
        <p:spPr>
          <a:xfrm>
            <a:off x="4956048" y="3215030"/>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 Malo con muchas columnas (maldicion dim.)</a:t>
            </a:r>
            <a:endParaRPr lang="en-US" sz="850" dirty="0"/>
          </a:p>
        </p:txBody>
      </p:sp>
      <p:sp>
        <p:nvSpPr>
          <p:cNvPr id="47" name="Text 45"/>
          <p:cNvSpPr/>
          <p:nvPr/>
        </p:nvSpPr>
        <p:spPr>
          <a:xfrm>
            <a:off x="4956048" y="3363163"/>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8" name="Text 46"/>
          <p:cNvSpPr/>
          <p:nvPr/>
        </p:nvSpPr>
        <p:spPr>
          <a:xfrm>
            <a:off x="4956048" y="3511296"/>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EN ACTUARIA: util cuando imputas prima_neta</a:t>
            </a:r>
            <a:endParaRPr lang="en-US" sz="850" dirty="0"/>
          </a:p>
        </p:txBody>
      </p:sp>
      <p:sp>
        <p:nvSpPr>
          <p:cNvPr id="49" name="Text 47"/>
          <p:cNvSpPr/>
          <p:nvPr/>
        </p:nvSpPr>
        <p:spPr>
          <a:xfrm>
            <a:off x="4956048" y="3659429"/>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y crees que el valor depende de edad,</a:t>
            </a:r>
            <a:endParaRPr lang="en-US" sz="850" dirty="0"/>
          </a:p>
        </p:txBody>
      </p:sp>
      <p:sp>
        <p:nvSpPr>
          <p:cNvPr id="50" name="Text 48"/>
          <p:cNvSpPr/>
          <p:nvPr/>
        </p:nvSpPr>
        <p:spPr>
          <a:xfrm>
            <a:off x="4956048" y="3807562"/>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suma_asegurada y ramo simultaneamente.</a:t>
            </a:r>
            <a:endParaRPr lang="en-US" sz="850" dirty="0"/>
          </a:p>
        </p:txBody>
      </p:sp>
      <p:sp>
        <p:nvSpPr>
          <p:cNvPr id="51" name="Text 49"/>
          <p:cNvSpPr/>
          <p:nvPr/>
        </p:nvSpPr>
        <p:spPr>
          <a:xfrm>
            <a:off x="4956048" y="3955694"/>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2" name="Text 50"/>
          <p:cNvSpPr/>
          <p:nvPr/>
        </p:nvSpPr>
        <p:spPr>
          <a:xfrm>
            <a:off x="4956048" y="4103827"/>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Ejemplo:</a:t>
            </a:r>
            <a:endParaRPr lang="en-US" sz="850" dirty="0"/>
          </a:p>
        </p:txBody>
      </p:sp>
      <p:sp>
        <p:nvSpPr>
          <p:cNvPr id="53" name="Text 51"/>
          <p:cNvSpPr/>
          <p:nvPr/>
        </p:nvSpPr>
        <p:spPr>
          <a:xfrm>
            <a:off x="4956048" y="4251960"/>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Poliza con prima_neta=NaN, edad=55,</a:t>
            </a:r>
            <a:endParaRPr lang="en-US" sz="850" dirty="0"/>
          </a:p>
        </p:txBody>
      </p:sp>
      <p:sp>
        <p:nvSpPr>
          <p:cNvPr id="54" name="Text 52"/>
          <p:cNvSpPr/>
          <p:nvPr/>
        </p:nvSpPr>
        <p:spPr>
          <a:xfrm>
            <a:off x="4956048" y="4400093"/>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suma=1M, ramo=GMM</a:t>
            </a:r>
            <a:endParaRPr lang="en-US" sz="850" dirty="0"/>
          </a:p>
        </p:txBody>
      </p:sp>
      <p:sp>
        <p:nvSpPr>
          <p:cNvPr id="55" name="Text 53"/>
          <p:cNvSpPr/>
          <p:nvPr/>
        </p:nvSpPr>
        <p:spPr>
          <a:xfrm>
            <a:off x="4956048" y="4548226"/>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KNN busca 5 polizas similares en</a:t>
            </a:r>
            <a:endParaRPr lang="en-US" sz="850" dirty="0"/>
          </a:p>
        </p:txBody>
      </p:sp>
      <p:sp>
        <p:nvSpPr>
          <p:cNvPr id="56" name="Text 54"/>
          <p:cNvSpPr/>
          <p:nvPr/>
        </p:nvSpPr>
        <p:spPr>
          <a:xfrm>
            <a:off x="4956048" y="4696358"/>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edad+suma+ramo y promedia sus primas.</a:t>
            </a:r>
            <a:endParaRPr lang="en-US" sz="850" dirty="0"/>
          </a:p>
        </p:txBody>
      </p:sp>
      <p:sp>
        <p:nvSpPr>
          <p:cNvPr id="57" name="Text 55"/>
          <p:cNvSpPr/>
          <p:nvPr/>
        </p:nvSpPr>
        <p:spPr>
          <a:xfrm>
            <a:off x="4956048" y="4844491"/>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Resultado: mas realista que la mediana global.</a:t>
            </a:r>
            <a:endParaRPr lang="en-US" sz="850" dirty="0"/>
          </a:p>
        </p:txBody>
      </p:sp>
      <p:sp>
        <p:nvSpPr>
          <p:cNvPr id="58" name="Shape 56"/>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59" name="Text 57"/>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Modulo 2 · T2 Imputacion Avanzada</a:t>
            </a:r>
            <a:endParaRPr lang="en-US" sz="850" dirty="0"/>
          </a:p>
        </p:txBody>
      </p:sp>
      <p:sp>
        <p:nvSpPr>
          <p:cNvPr id="60" name="Text 58"/>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KNNImputer</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3291840" cy="256032"/>
          </a:xfrm>
          <a:prstGeom prst="rect">
            <a:avLst/>
          </a:prstGeom>
          <a:solidFill>
            <a:srgbClr val="6C3483"/>
          </a:solidFill>
          <a:ln w="12700">
            <a:solidFill>
              <a:srgbClr val="6C3483"/>
            </a:solidFill>
            <a:prstDash val="solid"/>
          </a:ln>
        </p:spPr>
        <p:txBody>
          <a:bodyPr/>
          <a:lstStyle/>
          <a:p>
            <a:endParaRPr lang="es-MX"/>
          </a:p>
        </p:txBody>
      </p:sp>
      <p:sp>
        <p:nvSpPr>
          <p:cNvPr id="4" name="Text 2"/>
          <p:cNvSpPr/>
          <p:nvPr/>
        </p:nvSpPr>
        <p:spPr>
          <a:xfrm>
            <a:off x="365760" y="566928"/>
            <a:ext cx="329184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ITERATIVEIMPUTER — MICE</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500" b="1" dirty="0">
                <a:solidFill>
                  <a:srgbClr val="FFFFFF"/>
                </a:solidFill>
              </a:rPr>
              <a:t>IterativeImputer (MICE): El Metodo Mas Poderoso</a:t>
            </a:r>
            <a:endParaRPr lang="en-US" sz="25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Modela cada columna con NaN como variable dependiente de las demas — itera hasta converger</a:t>
            </a:r>
            <a:endParaRPr lang="en-US" sz="1200" dirty="0"/>
          </a:p>
        </p:txBody>
      </p:sp>
      <p:sp>
        <p:nvSpPr>
          <p:cNvPr id="7" name="Shape 5"/>
          <p:cNvSpPr/>
          <p:nvPr/>
        </p:nvSpPr>
        <p:spPr>
          <a:xfrm>
            <a:off x="347472" y="987552"/>
            <a:ext cx="8449056" cy="530352"/>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493776" y="1042416"/>
            <a:ext cx="8229600" cy="402336"/>
          </a:xfrm>
          <a:prstGeom prst="rect">
            <a:avLst/>
          </a:prstGeom>
          <a:noFill/>
          <a:ln/>
        </p:spPr>
        <p:txBody>
          <a:bodyPr wrap="square" lIns="0" tIns="0" rIns="0" bIns="0" rtlCol="0" anchor="ctr"/>
          <a:lstStyle/>
          <a:p>
            <a:pPr marL="0" indent="0">
              <a:buNone/>
            </a:pPr>
            <a:r>
              <a:rPr lang="en-US" sz="1100" dirty="0">
                <a:solidFill>
                  <a:srgbClr val="F0F4F8"/>
                </a:solidFill>
              </a:rPr>
              <a:t>MICE = Multiple Imputation by Chained Equations. En cada iteracion ajusta un modelo de regresion para cada columna con NaN usando las otras como features. Repite hasta que los valores convergen. Es el gold standard en imputacion estadistica.</a:t>
            </a:r>
            <a:endParaRPr lang="en-US" sz="1100" dirty="0"/>
          </a:p>
        </p:txBody>
      </p:sp>
      <p:sp>
        <p:nvSpPr>
          <p:cNvPr id="9" name="Shape 7"/>
          <p:cNvSpPr/>
          <p:nvPr/>
        </p:nvSpPr>
        <p:spPr>
          <a:xfrm>
            <a:off x="347472" y="1609344"/>
            <a:ext cx="4315968" cy="3511296"/>
          </a:xfrm>
          <a:prstGeom prst="rect">
            <a:avLst/>
          </a:prstGeom>
          <a:solidFill>
            <a:srgbClr val="071228"/>
          </a:solidFill>
          <a:ln w="12700">
            <a:solidFill>
              <a:srgbClr val="0D7A8A"/>
            </a:solidFill>
            <a:prstDash val="solid"/>
          </a:ln>
        </p:spPr>
        <p:txBody>
          <a:bodyPr/>
          <a:lstStyle/>
          <a:p>
            <a:endParaRPr lang="es-MX"/>
          </a:p>
        </p:txBody>
      </p:sp>
      <p:sp>
        <p:nvSpPr>
          <p:cNvPr id="10" name="Shape 8"/>
          <p:cNvSpPr/>
          <p:nvPr/>
        </p:nvSpPr>
        <p:spPr>
          <a:xfrm>
            <a:off x="347472" y="1609344"/>
            <a:ext cx="4315968" cy="292608"/>
          </a:xfrm>
          <a:prstGeom prst="rect">
            <a:avLst/>
          </a:prstGeom>
          <a:solidFill>
            <a:srgbClr val="6C3483"/>
          </a:solidFill>
          <a:ln w="12700">
            <a:solidFill>
              <a:srgbClr val="6C3483"/>
            </a:solidFill>
            <a:prstDash val="solid"/>
          </a:ln>
        </p:spPr>
        <p:txBody>
          <a:bodyPr/>
          <a:lstStyle/>
          <a:p>
            <a:endParaRPr lang="es-MX"/>
          </a:p>
        </p:txBody>
      </p:sp>
      <p:sp>
        <p:nvSpPr>
          <p:cNvPr id="11" name="Text 9"/>
          <p:cNvSpPr/>
          <p:nvPr/>
        </p:nvSpPr>
        <p:spPr>
          <a:xfrm>
            <a:off x="475488" y="1609344"/>
            <a:ext cx="4187952" cy="292608"/>
          </a:xfrm>
          <a:prstGeom prst="rect">
            <a:avLst/>
          </a:prstGeom>
          <a:noFill/>
          <a:ln/>
        </p:spPr>
        <p:txBody>
          <a:bodyPr wrap="square" lIns="0" tIns="0" rIns="0" bIns="0" rtlCol="0" anchor="ctr"/>
          <a:lstStyle/>
          <a:p>
            <a:pPr marL="0" indent="0">
              <a:buNone/>
            </a:pPr>
            <a:r>
              <a:rPr lang="en-US" sz="950" b="1" dirty="0">
                <a:solidFill>
                  <a:srgbClr val="FFFFFF"/>
                </a:solidFill>
              </a:rPr>
              <a:t>Implementacion en sklearn</a:t>
            </a:r>
            <a:endParaRPr lang="en-US" sz="950" dirty="0"/>
          </a:p>
        </p:txBody>
      </p:sp>
      <p:sp>
        <p:nvSpPr>
          <p:cNvPr id="12" name="Text 10"/>
          <p:cNvSpPr/>
          <p:nvPr/>
        </p:nvSpPr>
        <p:spPr>
          <a:xfrm>
            <a:off x="475488" y="195681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sklearn.impute import IterativeImputer</a:t>
            </a:r>
            <a:endParaRPr lang="en-US" sz="850" dirty="0"/>
          </a:p>
        </p:txBody>
      </p:sp>
      <p:sp>
        <p:nvSpPr>
          <p:cNvPr id="13" name="Text 11"/>
          <p:cNvSpPr/>
          <p:nvPr/>
        </p:nvSpPr>
        <p:spPr>
          <a:xfrm>
            <a:off x="475488" y="2104949"/>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sklearn.experimental import enable_iterative_imputer</a:t>
            </a:r>
            <a:endParaRPr lang="en-US" sz="850" dirty="0"/>
          </a:p>
        </p:txBody>
      </p:sp>
      <p:sp>
        <p:nvSpPr>
          <p:cNvPr id="14" name="Text 12"/>
          <p:cNvSpPr/>
          <p:nvPr/>
        </p:nvSpPr>
        <p:spPr>
          <a:xfrm>
            <a:off x="475488" y="225308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5" name="Text 13"/>
          <p:cNvSpPr/>
          <p:nvPr/>
        </p:nvSpPr>
        <p:spPr>
          <a:xfrm>
            <a:off x="475488" y="2401214"/>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Nota: hay que activar el import experimental</a:t>
            </a:r>
            <a:endParaRPr lang="en-US" sz="850" dirty="0"/>
          </a:p>
        </p:txBody>
      </p:sp>
      <p:sp>
        <p:nvSpPr>
          <p:cNvPr id="16" name="Text 14"/>
          <p:cNvSpPr/>
          <p:nvPr/>
        </p:nvSpPr>
        <p:spPr>
          <a:xfrm>
            <a:off x="475488" y="2549347"/>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enable_iterative_imputer debe ir ANTES</a:t>
            </a:r>
            <a:endParaRPr lang="en-US" sz="850" dirty="0"/>
          </a:p>
        </p:txBody>
      </p:sp>
      <p:sp>
        <p:nvSpPr>
          <p:cNvPr id="17" name="Text 15"/>
          <p:cNvSpPr/>
          <p:nvPr/>
        </p:nvSpPr>
        <p:spPr>
          <a:xfrm>
            <a:off x="475488" y="269748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8" name="Text 16"/>
          <p:cNvSpPr/>
          <p:nvPr/>
        </p:nvSpPr>
        <p:spPr>
          <a:xfrm>
            <a:off x="475488" y="2845613"/>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imp_mice = IterativeImputer(</a:t>
            </a:r>
            <a:endParaRPr lang="en-US" sz="850" dirty="0"/>
          </a:p>
        </p:txBody>
      </p:sp>
      <p:sp>
        <p:nvSpPr>
          <p:cNvPr id="19" name="Text 17"/>
          <p:cNvSpPr/>
          <p:nvPr/>
        </p:nvSpPr>
        <p:spPr>
          <a:xfrm>
            <a:off x="475488" y="299374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max_iter   = 10,    # iteraciones maximas</a:t>
            </a:r>
            <a:endParaRPr lang="en-US" sz="850" dirty="0"/>
          </a:p>
        </p:txBody>
      </p:sp>
      <p:sp>
        <p:nvSpPr>
          <p:cNvPr id="20" name="Text 18"/>
          <p:cNvSpPr/>
          <p:nvPr/>
        </p:nvSpPr>
        <p:spPr>
          <a:xfrm>
            <a:off x="475488" y="3141878"/>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random_state = 42,  # reproducibilidad</a:t>
            </a:r>
            <a:endParaRPr lang="en-US" sz="850" dirty="0"/>
          </a:p>
        </p:txBody>
      </p:sp>
      <p:sp>
        <p:nvSpPr>
          <p:cNvPr id="21" name="Text 19"/>
          <p:cNvSpPr/>
          <p:nvPr/>
        </p:nvSpPr>
        <p:spPr>
          <a:xfrm>
            <a:off x="475488" y="3290011"/>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initial_strategy='median',  # valor inicial</a:t>
            </a:r>
            <a:endParaRPr lang="en-US" sz="850" dirty="0"/>
          </a:p>
        </p:txBody>
      </p:sp>
      <p:sp>
        <p:nvSpPr>
          <p:cNvPr id="22" name="Text 20"/>
          <p:cNvSpPr/>
          <p:nvPr/>
        </p:nvSpPr>
        <p:spPr>
          <a:xfrm>
            <a:off x="475488" y="3438144"/>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23" name="Text 21"/>
          <p:cNvSpPr/>
          <p:nvPr/>
        </p:nvSpPr>
        <p:spPr>
          <a:xfrm>
            <a:off x="475488" y="3586277"/>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4" name="Text 22"/>
          <p:cNvSpPr/>
          <p:nvPr/>
        </p:nvSpPr>
        <p:spPr>
          <a:xfrm>
            <a:off x="475488" y="373441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features = ['prima_neta','edad',</a:t>
            </a:r>
            <a:endParaRPr lang="en-US" sz="850" dirty="0"/>
          </a:p>
        </p:txBody>
      </p:sp>
      <p:sp>
        <p:nvSpPr>
          <p:cNvPr id="25" name="Text 23"/>
          <p:cNvSpPr/>
          <p:nvPr/>
        </p:nvSpPr>
        <p:spPr>
          <a:xfrm>
            <a:off x="475488" y="388254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'suma_asegurada','deducible',</a:t>
            </a:r>
            <a:endParaRPr lang="en-US" sz="850" dirty="0"/>
          </a:p>
        </p:txBody>
      </p:sp>
      <p:sp>
        <p:nvSpPr>
          <p:cNvPr id="26" name="Text 24"/>
          <p:cNvSpPr/>
          <p:nvPr/>
        </p:nvSpPr>
        <p:spPr>
          <a:xfrm>
            <a:off x="475488" y="4030675"/>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'n_siniestros']</a:t>
            </a:r>
            <a:endParaRPr lang="en-US" sz="850" dirty="0"/>
          </a:p>
        </p:txBody>
      </p:sp>
      <p:sp>
        <p:nvSpPr>
          <p:cNvPr id="27" name="Text 25"/>
          <p:cNvSpPr/>
          <p:nvPr/>
        </p:nvSpPr>
        <p:spPr>
          <a:xfrm>
            <a:off x="475488" y="4178808"/>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 = df[features]</a:t>
            </a:r>
            <a:endParaRPr lang="en-US" sz="850" dirty="0"/>
          </a:p>
        </p:txBody>
      </p:sp>
      <p:sp>
        <p:nvSpPr>
          <p:cNvPr id="28" name="Text 26"/>
          <p:cNvSpPr/>
          <p:nvPr/>
        </p:nvSpPr>
        <p:spPr>
          <a:xfrm>
            <a:off x="475488" y="4326941"/>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9" name="Text 27"/>
          <p:cNvSpPr/>
          <p:nvPr/>
        </p:nvSpPr>
        <p:spPr>
          <a:xfrm>
            <a:off x="475488" y="4475074"/>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fit_transform: aprende Y transforma en un paso</a:t>
            </a:r>
            <a:endParaRPr lang="en-US" sz="850" dirty="0"/>
          </a:p>
        </p:txBody>
      </p:sp>
      <p:sp>
        <p:nvSpPr>
          <p:cNvPr id="30" name="Text 28"/>
          <p:cNvSpPr/>
          <p:nvPr/>
        </p:nvSpPr>
        <p:spPr>
          <a:xfrm>
            <a:off x="475488" y="462320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X_imputed = imp_mice.fit_transform(X)</a:t>
            </a:r>
            <a:endParaRPr lang="en-US" sz="850" dirty="0"/>
          </a:p>
        </p:txBody>
      </p:sp>
      <p:sp>
        <p:nvSpPr>
          <p:cNvPr id="31" name="Text 29"/>
          <p:cNvSpPr/>
          <p:nvPr/>
        </p:nvSpPr>
        <p:spPr>
          <a:xfrm>
            <a:off x="475488" y="4771339"/>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2" name="Text 30"/>
          <p:cNvSpPr/>
          <p:nvPr/>
        </p:nvSpPr>
        <p:spPr>
          <a:xfrm>
            <a:off x="475488" y="491947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df_imp = pd.DataFrame(X_imputed, columns=features)</a:t>
            </a:r>
            <a:endParaRPr lang="en-US" sz="850" dirty="0"/>
          </a:p>
        </p:txBody>
      </p:sp>
      <p:sp>
        <p:nvSpPr>
          <p:cNvPr id="33" name="Text 31"/>
          <p:cNvSpPr/>
          <p:nvPr/>
        </p:nvSpPr>
        <p:spPr>
          <a:xfrm>
            <a:off x="475488" y="5067605"/>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print(df_imp.isna().sum())  # debe dar todo 0</a:t>
            </a:r>
            <a:endParaRPr lang="en-US" sz="850" dirty="0"/>
          </a:p>
        </p:txBody>
      </p:sp>
      <p:sp>
        <p:nvSpPr>
          <p:cNvPr id="34" name="Shape 32"/>
          <p:cNvSpPr/>
          <p:nvPr/>
        </p:nvSpPr>
        <p:spPr>
          <a:xfrm>
            <a:off x="4828032" y="1609344"/>
            <a:ext cx="3968496" cy="3511296"/>
          </a:xfrm>
          <a:prstGeom prst="rect">
            <a:avLst/>
          </a:prstGeom>
          <a:solidFill>
            <a:srgbClr val="071228"/>
          </a:solidFill>
          <a:ln w="12700">
            <a:solidFill>
              <a:srgbClr val="0D7A8A"/>
            </a:solidFill>
            <a:prstDash val="solid"/>
          </a:ln>
        </p:spPr>
        <p:txBody>
          <a:bodyPr/>
          <a:lstStyle/>
          <a:p>
            <a:endParaRPr lang="es-MX"/>
          </a:p>
        </p:txBody>
      </p:sp>
      <p:sp>
        <p:nvSpPr>
          <p:cNvPr id="35" name="Shape 33"/>
          <p:cNvSpPr/>
          <p:nvPr/>
        </p:nvSpPr>
        <p:spPr>
          <a:xfrm>
            <a:off x="4828032" y="1609344"/>
            <a:ext cx="3968496" cy="292608"/>
          </a:xfrm>
          <a:prstGeom prst="rect">
            <a:avLst/>
          </a:prstGeom>
          <a:solidFill>
            <a:srgbClr val="0D7A8A"/>
          </a:solidFill>
          <a:ln w="12700">
            <a:solidFill>
              <a:srgbClr val="0D7A8A"/>
            </a:solidFill>
            <a:prstDash val="solid"/>
          </a:ln>
        </p:spPr>
        <p:txBody>
          <a:bodyPr/>
          <a:lstStyle/>
          <a:p>
            <a:endParaRPr lang="es-MX"/>
          </a:p>
        </p:txBody>
      </p:sp>
      <p:sp>
        <p:nvSpPr>
          <p:cNvPr id="36" name="Text 34"/>
          <p:cNvSpPr/>
          <p:nvPr/>
        </p:nvSpPr>
        <p:spPr>
          <a:xfrm>
            <a:off x="4956048" y="1609344"/>
            <a:ext cx="3840480" cy="292608"/>
          </a:xfrm>
          <a:prstGeom prst="rect">
            <a:avLst/>
          </a:prstGeom>
          <a:noFill/>
          <a:ln/>
        </p:spPr>
        <p:txBody>
          <a:bodyPr wrap="square" lIns="0" tIns="0" rIns="0" bIns="0" rtlCol="0" anchor="ctr"/>
          <a:lstStyle/>
          <a:p>
            <a:pPr marL="0" indent="0">
              <a:buNone/>
            </a:pPr>
            <a:r>
              <a:rPr lang="en-US" sz="950" b="1" dirty="0">
                <a:solidFill>
                  <a:srgbClr val="FFFFFF"/>
                </a:solidFill>
              </a:rPr>
              <a:t>Como itera MICE — paso a paso</a:t>
            </a:r>
            <a:endParaRPr lang="en-US" sz="950" dirty="0"/>
          </a:p>
        </p:txBody>
      </p:sp>
      <p:sp>
        <p:nvSpPr>
          <p:cNvPr id="37" name="Text 35"/>
          <p:cNvSpPr/>
          <p:nvPr/>
        </p:nvSpPr>
        <p:spPr>
          <a:xfrm>
            <a:off x="4956048" y="1956816"/>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Supongamos que prima_neta y deducible tienen NaN</a:t>
            </a:r>
            <a:endParaRPr lang="en-US" sz="850" dirty="0"/>
          </a:p>
        </p:txBody>
      </p:sp>
      <p:sp>
        <p:nvSpPr>
          <p:cNvPr id="38" name="Text 36"/>
          <p:cNvSpPr/>
          <p:nvPr/>
        </p:nvSpPr>
        <p:spPr>
          <a:xfrm>
            <a:off x="4956048" y="2104949"/>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9" name="Text 37"/>
          <p:cNvSpPr/>
          <p:nvPr/>
        </p:nvSpPr>
        <p:spPr>
          <a:xfrm>
            <a:off x="4956048" y="2253082"/>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Iteracion 1:</a:t>
            </a:r>
            <a:endParaRPr lang="en-US" sz="850" dirty="0"/>
          </a:p>
        </p:txBody>
      </p:sp>
      <p:sp>
        <p:nvSpPr>
          <p:cNvPr id="40" name="Text 38"/>
          <p:cNvSpPr/>
          <p:nvPr/>
        </p:nvSpPr>
        <p:spPr>
          <a:xfrm>
            <a:off x="4956048" y="2401214"/>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1. Imputa prima_neta con mediana (valor inicial)</a:t>
            </a:r>
            <a:endParaRPr lang="en-US" sz="850" dirty="0"/>
          </a:p>
        </p:txBody>
      </p:sp>
      <p:sp>
        <p:nvSpPr>
          <p:cNvPr id="41" name="Text 39"/>
          <p:cNvSpPr/>
          <p:nvPr/>
        </p:nvSpPr>
        <p:spPr>
          <a:xfrm>
            <a:off x="4956048" y="2549347"/>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2. Ajusta: prima_neta ~ edad + suma + deducible</a:t>
            </a:r>
            <a:endParaRPr lang="en-US" sz="850" dirty="0"/>
          </a:p>
        </p:txBody>
      </p:sp>
      <p:sp>
        <p:nvSpPr>
          <p:cNvPr id="42" name="Text 40"/>
          <p:cNvSpPr/>
          <p:nvPr/>
        </p:nvSpPr>
        <p:spPr>
          <a:xfrm>
            <a:off x="4956048" y="2697480"/>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3. Predice prima_neta donde falta</a:t>
            </a:r>
            <a:endParaRPr lang="en-US" sz="850" dirty="0"/>
          </a:p>
        </p:txBody>
      </p:sp>
      <p:sp>
        <p:nvSpPr>
          <p:cNvPr id="43" name="Text 41"/>
          <p:cNvSpPr/>
          <p:nvPr/>
        </p:nvSpPr>
        <p:spPr>
          <a:xfrm>
            <a:off x="4956048" y="2845613"/>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4" name="Text 42"/>
          <p:cNvSpPr/>
          <p:nvPr/>
        </p:nvSpPr>
        <p:spPr>
          <a:xfrm>
            <a:off x="4956048" y="2993746"/>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4. Imputa deducible con mediana (valor inicial)</a:t>
            </a:r>
            <a:endParaRPr lang="en-US" sz="850" dirty="0"/>
          </a:p>
        </p:txBody>
      </p:sp>
      <p:sp>
        <p:nvSpPr>
          <p:cNvPr id="45" name="Text 43"/>
          <p:cNvSpPr/>
          <p:nvPr/>
        </p:nvSpPr>
        <p:spPr>
          <a:xfrm>
            <a:off x="4956048" y="3141878"/>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5. Ajusta: deducible ~ edad + suma + prima_neta</a:t>
            </a:r>
            <a:endParaRPr lang="en-US" sz="850" dirty="0"/>
          </a:p>
        </p:txBody>
      </p:sp>
      <p:sp>
        <p:nvSpPr>
          <p:cNvPr id="46" name="Text 44"/>
          <p:cNvSpPr/>
          <p:nvPr/>
        </p:nvSpPr>
        <p:spPr>
          <a:xfrm>
            <a:off x="4956048" y="3290011"/>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6. Predice deducible donde falta</a:t>
            </a:r>
            <a:endParaRPr lang="en-US" sz="850" dirty="0"/>
          </a:p>
        </p:txBody>
      </p:sp>
      <p:sp>
        <p:nvSpPr>
          <p:cNvPr id="47" name="Text 45"/>
          <p:cNvSpPr/>
          <p:nvPr/>
        </p:nvSpPr>
        <p:spPr>
          <a:xfrm>
            <a:off x="4956048" y="3438144"/>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8" name="Text 46"/>
          <p:cNvSpPr/>
          <p:nvPr/>
        </p:nvSpPr>
        <p:spPr>
          <a:xfrm>
            <a:off x="4956048" y="3586277"/>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Iteracion 2: repite usando los valores del paso 1</a:t>
            </a:r>
            <a:endParaRPr lang="en-US" sz="850" dirty="0"/>
          </a:p>
        </p:txBody>
      </p:sp>
      <p:sp>
        <p:nvSpPr>
          <p:cNvPr id="49" name="Text 47"/>
          <p:cNvSpPr/>
          <p:nvPr/>
        </p:nvSpPr>
        <p:spPr>
          <a:xfrm>
            <a:off x="4956048" y="3734410"/>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a:t>
            </a:r>
            <a:endParaRPr lang="en-US" sz="850" dirty="0"/>
          </a:p>
        </p:txBody>
      </p:sp>
      <p:sp>
        <p:nvSpPr>
          <p:cNvPr id="50" name="Text 48"/>
          <p:cNvSpPr/>
          <p:nvPr/>
        </p:nvSpPr>
        <p:spPr>
          <a:xfrm>
            <a:off x="4956048" y="3882542"/>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Iteracion 10: los valores convergen</a:t>
            </a:r>
            <a:endParaRPr lang="en-US" sz="850" dirty="0"/>
          </a:p>
        </p:txBody>
      </p:sp>
      <p:sp>
        <p:nvSpPr>
          <p:cNvPr id="51" name="Text 49"/>
          <p:cNvSpPr/>
          <p:nvPr/>
        </p:nvSpPr>
        <p:spPr>
          <a:xfrm>
            <a:off x="4956048" y="4030675"/>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2" name="Text 50"/>
          <p:cNvSpPr/>
          <p:nvPr/>
        </p:nvSpPr>
        <p:spPr>
          <a:xfrm>
            <a:off x="4956048" y="4178808"/>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Resultado: cada valor imputado es consistente</a:t>
            </a:r>
            <a:endParaRPr lang="en-US" sz="850" dirty="0"/>
          </a:p>
        </p:txBody>
      </p:sp>
      <p:sp>
        <p:nvSpPr>
          <p:cNvPr id="53" name="Text 51"/>
          <p:cNvSpPr/>
          <p:nvPr/>
        </p:nvSpPr>
        <p:spPr>
          <a:xfrm>
            <a:off x="4956048" y="4326941"/>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con el patron multivariado del dataset.</a:t>
            </a:r>
            <a:endParaRPr lang="en-US" sz="850" dirty="0"/>
          </a:p>
        </p:txBody>
      </p:sp>
      <p:sp>
        <p:nvSpPr>
          <p:cNvPr id="54" name="Text 52"/>
          <p:cNvSpPr/>
          <p:nvPr/>
        </p:nvSpPr>
        <p:spPr>
          <a:xfrm>
            <a:off x="4956048" y="4475074"/>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Mucho mejor que SimpleImputer cuando las</a:t>
            </a:r>
            <a:endParaRPr lang="en-US" sz="850" dirty="0"/>
          </a:p>
        </p:txBody>
      </p:sp>
      <p:sp>
        <p:nvSpPr>
          <p:cNvPr id="55" name="Text 53"/>
          <p:cNvSpPr/>
          <p:nvPr/>
        </p:nvSpPr>
        <p:spPr>
          <a:xfrm>
            <a:off x="4956048" y="4623206"/>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variables estan correlacionadas entre si.</a:t>
            </a:r>
            <a:endParaRPr lang="en-US" sz="850" dirty="0"/>
          </a:p>
        </p:txBody>
      </p:sp>
      <p:sp>
        <p:nvSpPr>
          <p:cNvPr id="56" name="Shape 54"/>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57" name="Text 55"/>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Modulo 2 · T2 Imputacion Avanzada</a:t>
            </a:r>
            <a:endParaRPr lang="en-US" sz="850" dirty="0"/>
          </a:p>
        </p:txBody>
      </p:sp>
      <p:sp>
        <p:nvSpPr>
          <p:cNvPr id="58" name="Text 56"/>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IterativeImputer MICE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3291840" cy="256032"/>
          </a:xfrm>
          <a:prstGeom prst="rect">
            <a:avLst/>
          </a:prstGeom>
          <a:solidFill>
            <a:srgbClr val="1E8449"/>
          </a:solidFill>
          <a:ln w="12700">
            <a:solidFill>
              <a:srgbClr val="1E8449"/>
            </a:solidFill>
            <a:prstDash val="solid"/>
          </a:ln>
        </p:spPr>
        <p:txBody>
          <a:bodyPr/>
          <a:lstStyle/>
          <a:p>
            <a:endParaRPr lang="es-MX"/>
          </a:p>
        </p:txBody>
      </p:sp>
      <p:sp>
        <p:nvSpPr>
          <p:cNvPr id="4" name="Text 2"/>
          <p:cNvSpPr/>
          <p:nvPr/>
        </p:nvSpPr>
        <p:spPr>
          <a:xfrm>
            <a:off x="365760" y="566928"/>
            <a:ext cx="329184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EVALUAR EL IMPACTO</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500" b="1" dirty="0">
                <a:solidFill>
                  <a:srgbClr val="0D1B3E"/>
                </a:solidFill>
              </a:rPr>
              <a:t>¿Como Sabes si tu Imputacion Fue Buena?</a:t>
            </a:r>
            <a:endParaRPr lang="en-US" sz="2500" dirty="0"/>
          </a:p>
        </p:txBody>
      </p:sp>
      <p:sp>
        <p:nvSpPr>
          <p:cNvPr id="6" name="Text 4"/>
          <p:cNvSpPr/>
          <p:nvPr/>
        </p:nvSpPr>
        <p:spPr>
          <a:xfrm>
            <a:off x="365760" y="757123"/>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Una buena imputacion preserva la distribucion original de los datos</a:t>
            </a:r>
            <a:endParaRPr lang="en-US" sz="1200" dirty="0"/>
          </a:p>
        </p:txBody>
      </p:sp>
      <p:sp>
        <p:nvSpPr>
          <p:cNvPr id="7" name="Shape 5"/>
          <p:cNvSpPr/>
          <p:nvPr/>
        </p:nvSpPr>
        <p:spPr>
          <a:xfrm>
            <a:off x="347472" y="987552"/>
            <a:ext cx="8449056" cy="548640"/>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493776" y="1051560"/>
            <a:ext cx="8229600" cy="420624"/>
          </a:xfrm>
          <a:prstGeom prst="rect">
            <a:avLst/>
          </a:prstGeom>
          <a:noFill/>
          <a:ln/>
        </p:spPr>
        <p:txBody>
          <a:bodyPr wrap="square" lIns="0" tIns="0" rIns="0" bIns="0" rtlCol="0" anchor="ctr"/>
          <a:lstStyle/>
          <a:p>
            <a:pPr marL="0" indent="0">
              <a:buNone/>
            </a:pPr>
            <a:r>
              <a:rPr lang="en-US" sz="1100" dirty="0">
                <a:solidFill>
                  <a:srgbClr val="374151"/>
                </a:solidFill>
              </a:rPr>
              <a:t>El criterio de calidad es simple: despues de imputar, la distribucion de la variable debe verse como antes (sin los NaN). Si la media, mediana y forma cambian mucho, la imputacion distorsiona los datos.</a:t>
            </a:r>
            <a:endParaRPr lang="en-US" sz="1100" dirty="0"/>
          </a:p>
        </p:txBody>
      </p:sp>
      <p:sp>
        <p:nvSpPr>
          <p:cNvPr id="9" name="Shape 7"/>
          <p:cNvSpPr/>
          <p:nvPr/>
        </p:nvSpPr>
        <p:spPr>
          <a:xfrm>
            <a:off x="347472" y="1627632"/>
            <a:ext cx="4315968" cy="3493008"/>
          </a:xfrm>
          <a:prstGeom prst="rect">
            <a:avLst/>
          </a:prstGeom>
          <a:solidFill>
            <a:srgbClr val="071228"/>
          </a:solidFill>
          <a:ln w="12700">
            <a:solidFill>
              <a:srgbClr val="0D7A8A"/>
            </a:solidFill>
            <a:prstDash val="solid"/>
          </a:ln>
        </p:spPr>
        <p:txBody>
          <a:bodyPr/>
          <a:lstStyle/>
          <a:p>
            <a:endParaRPr lang="es-MX"/>
          </a:p>
        </p:txBody>
      </p:sp>
      <p:sp>
        <p:nvSpPr>
          <p:cNvPr id="10" name="Shape 8"/>
          <p:cNvSpPr/>
          <p:nvPr/>
        </p:nvSpPr>
        <p:spPr>
          <a:xfrm>
            <a:off x="347472" y="1627632"/>
            <a:ext cx="4315968" cy="292608"/>
          </a:xfrm>
          <a:prstGeom prst="rect">
            <a:avLst/>
          </a:prstGeom>
          <a:solidFill>
            <a:srgbClr val="1E8449"/>
          </a:solidFill>
          <a:ln w="12700">
            <a:solidFill>
              <a:srgbClr val="1E8449"/>
            </a:solidFill>
            <a:prstDash val="solid"/>
          </a:ln>
        </p:spPr>
        <p:txBody>
          <a:bodyPr/>
          <a:lstStyle/>
          <a:p>
            <a:endParaRPr lang="es-MX"/>
          </a:p>
        </p:txBody>
      </p:sp>
      <p:sp>
        <p:nvSpPr>
          <p:cNvPr id="11" name="Text 9"/>
          <p:cNvSpPr/>
          <p:nvPr/>
        </p:nvSpPr>
        <p:spPr>
          <a:xfrm>
            <a:off x="475488" y="1627632"/>
            <a:ext cx="4187952" cy="292608"/>
          </a:xfrm>
          <a:prstGeom prst="rect">
            <a:avLst/>
          </a:prstGeom>
          <a:noFill/>
          <a:ln/>
        </p:spPr>
        <p:txBody>
          <a:bodyPr wrap="square" lIns="0" tIns="0" rIns="0" bIns="0" rtlCol="0" anchor="ctr"/>
          <a:lstStyle/>
          <a:p>
            <a:pPr marL="0" indent="0">
              <a:buNone/>
            </a:pPr>
            <a:r>
              <a:rPr lang="en-US" sz="950" b="1" dirty="0">
                <a:solidFill>
                  <a:srgbClr val="FFFFFF"/>
                </a:solidFill>
              </a:rPr>
              <a:t>Comparar distribuciones</a:t>
            </a:r>
            <a:endParaRPr lang="en-US" sz="950" dirty="0"/>
          </a:p>
        </p:txBody>
      </p:sp>
      <p:sp>
        <p:nvSpPr>
          <p:cNvPr id="12" name="Text 10"/>
          <p:cNvSpPr/>
          <p:nvPr/>
        </p:nvSpPr>
        <p:spPr>
          <a:xfrm>
            <a:off x="475488" y="1975104"/>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import matplotlib.pyplot as plt</a:t>
            </a:r>
            <a:endParaRPr lang="en-US" sz="850" dirty="0"/>
          </a:p>
        </p:txBody>
      </p:sp>
      <p:sp>
        <p:nvSpPr>
          <p:cNvPr id="13" name="Text 11"/>
          <p:cNvSpPr/>
          <p:nvPr/>
        </p:nvSpPr>
        <p:spPr>
          <a:xfrm>
            <a:off x="475488" y="2123237"/>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import seaborn as sns</a:t>
            </a:r>
            <a:endParaRPr lang="en-US" sz="850" dirty="0"/>
          </a:p>
        </p:txBody>
      </p:sp>
      <p:sp>
        <p:nvSpPr>
          <p:cNvPr id="14" name="Text 12"/>
          <p:cNvSpPr/>
          <p:nvPr/>
        </p:nvSpPr>
        <p:spPr>
          <a:xfrm>
            <a:off x="475488" y="227137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5" name="Text 13"/>
          <p:cNvSpPr/>
          <p:nvPr/>
        </p:nvSpPr>
        <p:spPr>
          <a:xfrm>
            <a:off x="475488" y="241950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col = 'prima_neta'</a:t>
            </a:r>
            <a:endParaRPr lang="en-US" sz="850" dirty="0"/>
          </a:p>
        </p:txBody>
      </p:sp>
      <p:sp>
        <p:nvSpPr>
          <p:cNvPr id="16" name="Text 14"/>
          <p:cNvSpPr/>
          <p:nvPr/>
        </p:nvSpPr>
        <p:spPr>
          <a:xfrm>
            <a:off x="475488" y="2567635"/>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original = df[col].dropna()</a:t>
            </a:r>
            <a:endParaRPr lang="en-US" sz="850" dirty="0"/>
          </a:p>
        </p:txBody>
      </p:sp>
      <p:sp>
        <p:nvSpPr>
          <p:cNvPr id="17" name="Text 15"/>
          <p:cNvSpPr/>
          <p:nvPr/>
        </p:nvSpPr>
        <p:spPr>
          <a:xfrm>
            <a:off x="475488" y="2715768"/>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imputado = df_imputado[col]</a:t>
            </a:r>
            <a:endParaRPr lang="en-US" sz="850" dirty="0"/>
          </a:p>
        </p:txBody>
      </p:sp>
      <p:sp>
        <p:nvSpPr>
          <p:cNvPr id="18" name="Text 16"/>
          <p:cNvSpPr/>
          <p:nvPr/>
        </p:nvSpPr>
        <p:spPr>
          <a:xfrm>
            <a:off x="475488" y="2863901"/>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9" name="Text 17"/>
          <p:cNvSpPr/>
          <p:nvPr/>
        </p:nvSpPr>
        <p:spPr>
          <a:xfrm>
            <a:off x="475488" y="3012034"/>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fig, axes = plt.subplots(1, 2, figsize=(12,4))</a:t>
            </a:r>
            <a:endParaRPr lang="en-US" sz="850" dirty="0"/>
          </a:p>
        </p:txBody>
      </p:sp>
      <p:sp>
        <p:nvSpPr>
          <p:cNvPr id="20" name="Text 18"/>
          <p:cNvSpPr/>
          <p:nvPr/>
        </p:nvSpPr>
        <p:spPr>
          <a:xfrm>
            <a:off x="475488" y="316016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1" name="Text 19"/>
          <p:cNvSpPr/>
          <p:nvPr/>
        </p:nvSpPr>
        <p:spPr>
          <a:xfrm>
            <a:off x="475488" y="3308299"/>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Histogramas superpuestos</a:t>
            </a:r>
            <a:endParaRPr lang="en-US" sz="850" dirty="0"/>
          </a:p>
        </p:txBody>
      </p:sp>
      <p:sp>
        <p:nvSpPr>
          <p:cNvPr id="22" name="Text 20"/>
          <p:cNvSpPr/>
          <p:nvPr/>
        </p:nvSpPr>
        <p:spPr>
          <a:xfrm>
            <a:off x="475488" y="3456432"/>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axes[0].hist(original, bins=40, alpha=0.6,</a:t>
            </a:r>
            <a:endParaRPr lang="en-US" sz="850" dirty="0"/>
          </a:p>
        </p:txBody>
      </p:sp>
      <p:sp>
        <p:nvSpPr>
          <p:cNvPr id="23" name="Text 21"/>
          <p:cNvSpPr/>
          <p:nvPr/>
        </p:nvSpPr>
        <p:spPr>
          <a:xfrm>
            <a:off x="475488" y="3604565"/>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label='Original', color='steelblue')</a:t>
            </a:r>
            <a:endParaRPr lang="en-US" sz="850" dirty="0"/>
          </a:p>
        </p:txBody>
      </p:sp>
      <p:sp>
        <p:nvSpPr>
          <p:cNvPr id="24" name="Text 22"/>
          <p:cNvSpPr/>
          <p:nvPr/>
        </p:nvSpPr>
        <p:spPr>
          <a:xfrm>
            <a:off x="475488" y="3752698"/>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axes[0].hist(imputado, bins=40, alpha=0.4,</a:t>
            </a:r>
            <a:endParaRPr lang="en-US" sz="850" dirty="0"/>
          </a:p>
        </p:txBody>
      </p:sp>
      <p:sp>
        <p:nvSpPr>
          <p:cNvPr id="25" name="Text 23"/>
          <p:cNvSpPr/>
          <p:nvPr/>
        </p:nvSpPr>
        <p:spPr>
          <a:xfrm>
            <a:off x="475488" y="390083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label='Imputado', color='orange')</a:t>
            </a:r>
            <a:endParaRPr lang="en-US" sz="850" dirty="0"/>
          </a:p>
        </p:txBody>
      </p:sp>
      <p:sp>
        <p:nvSpPr>
          <p:cNvPr id="26" name="Text 24"/>
          <p:cNvSpPr/>
          <p:nvPr/>
        </p:nvSpPr>
        <p:spPr>
          <a:xfrm>
            <a:off x="475488" y="4048963"/>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axes[0].legend()</a:t>
            </a:r>
            <a:endParaRPr lang="en-US" sz="850" dirty="0"/>
          </a:p>
        </p:txBody>
      </p:sp>
      <p:sp>
        <p:nvSpPr>
          <p:cNvPr id="27" name="Text 25"/>
          <p:cNvSpPr/>
          <p:nvPr/>
        </p:nvSpPr>
        <p:spPr>
          <a:xfrm>
            <a:off x="475488" y="419709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axes[0].set_title('Distribucion antes y despues')</a:t>
            </a:r>
            <a:endParaRPr lang="en-US" sz="850" dirty="0"/>
          </a:p>
        </p:txBody>
      </p:sp>
      <p:sp>
        <p:nvSpPr>
          <p:cNvPr id="28" name="Text 26"/>
          <p:cNvSpPr/>
          <p:nvPr/>
        </p:nvSpPr>
        <p:spPr>
          <a:xfrm>
            <a:off x="475488" y="4345229"/>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9" name="Text 27"/>
          <p:cNvSpPr/>
          <p:nvPr/>
        </p:nvSpPr>
        <p:spPr>
          <a:xfrm>
            <a:off x="475488" y="4493362"/>
            <a:ext cx="4059936"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Boxplot comparativo</a:t>
            </a:r>
            <a:endParaRPr lang="en-US" sz="850" dirty="0"/>
          </a:p>
        </p:txBody>
      </p:sp>
      <p:sp>
        <p:nvSpPr>
          <p:cNvPr id="30" name="Text 28"/>
          <p:cNvSpPr/>
          <p:nvPr/>
        </p:nvSpPr>
        <p:spPr>
          <a:xfrm>
            <a:off x="475488" y="4641494"/>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datos_box = pd.DataFrame({</a:t>
            </a:r>
            <a:endParaRPr lang="en-US" sz="850" dirty="0"/>
          </a:p>
        </p:txBody>
      </p:sp>
      <p:sp>
        <p:nvSpPr>
          <p:cNvPr id="31" name="Text 29"/>
          <p:cNvSpPr/>
          <p:nvPr/>
        </p:nvSpPr>
        <p:spPr>
          <a:xfrm>
            <a:off x="475488" y="4789627"/>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'Original': original.reset_index(drop=True),</a:t>
            </a:r>
            <a:endParaRPr lang="en-US" sz="850" dirty="0"/>
          </a:p>
        </p:txBody>
      </p:sp>
      <p:sp>
        <p:nvSpPr>
          <p:cNvPr id="32" name="Text 30"/>
          <p:cNvSpPr/>
          <p:nvPr/>
        </p:nvSpPr>
        <p:spPr>
          <a:xfrm>
            <a:off x="475488" y="4937760"/>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'Imputado': imputado.reset_index(drop=True),</a:t>
            </a:r>
            <a:endParaRPr lang="en-US" sz="850" dirty="0"/>
          </a:p>
        </p:txBody>
      </p:sp>
      <p:sp>
        <p:nvSpPr>
          <p:cNvPr id="33" name="Text 31"/>
          <p:cNvSpPr/>
          <p:nvPr/>
        </p:nvSpPr>
        <p:spPr>
          <a:xfrm>
            <a:off x="475488" y="5085893"/>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34" name="Text 32"/>
          <p:cNvSpPr/>
          <p:nvPr/>
        </p:nvSpPr>
        <p:spPr>
          <a:xfrm>
            <a:off x="475488" y="5234026"/>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datos_box.boxplot(ax=axes[1])</a:t>
            </a:r>
            <a:endParaRPr lang="en-US" sz="850" dirty="0"/>
          </a:p>
        </p:txBody>
      </p:sp>
      <p:sp>
        <p:nvSpPr>
          <p:cNvPr id="35" name="Text 33"/>
          <p:cNvSpPr/>
          <p:nvPr/>
        </p:nvSpPr>
        <p:spPr>
          <a:xfrm>
            <a:off x="475488" y="5382158"/>
            <a:ext cx="4059936"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plt.tight_layout(); plt.show()</a:t>
            </a:r>
            <a:endParaRPr lang="en-US" sz="850" dirty="0"/>
          </a:p>
        </p:txBody>
      </p:sp>
      <p:sp>
        <p:nvSpPr>
          <p:cNvPr id="36" name="Shape 34"/>
          <p:cNvSpPr/>
          <p:nvPr/>
        </p:nvSpPr>
        <p:spPr>
          <a:xfrm>
            <a:off x="4828032" y="1627632"/>
            <a:ext cx="3968496" cy="3493008"/>
          </a:xfrm>
          <a:prstGeom prst="rect">
            <a:avLst/>
          </a:prstGeom>
          <a:solidFill>
            <a:srgbClr val="071228"/>
          </a:solidFill>
          <a:ln w="12700">
            <a:solidFill>
              <a:srgbClr val="0D7A8A"/>
            </a:solidFill>
            <a:prstDash val="solid"/>
          </a:ln>
        </p:spPr>
        <p:txBody>
          <a:bodyPr/>
          <a:lstStyle/>
          <a:p>
            <a:endParaRPr lang="es-MX"/>
          </a:p>
        </p:txBody>
      </p:sp>
      <p:sp>
        <p:nvSpPr>
          <p:cNvPr id="37" name="Shape 35"/>
          <p:cNvSpPr/>
          <p:nvPr/>
        </p:nvSpPr>
        <p:spPr>
          <a:xfrm>
            <a:off x="4828032" y="1627632"/>
            <a:ext cx="3968496" cy="292608"/>
          </a:xfrm>
          <a:prstGeom prst="rect">
            <a:avLst/>
          </a:prstGeom>
          <a:solidFill>
            <a:srgbClr val="1A5276"/>
          </a:solidFill>
          <a:ln w="12700">
            <a:solidFill>
              <a:srgbClr val="1A5276"/>
            </a:solidFill>
            <a:prstDash val="solid"/>
          </a:ln>
        </p:spPr>
        <p:txBody>
          <a:bodyPr/>
          <a:lstStyle/>
          <a:p>
            <a:endParaRPr lang="es-MX"/>
          </a:p>
        </p:txBody>
      </p:sp>
      <p:sp>
        <p:nvSpPr>
          <p:cNvPr id="38" name="Text 36"/>
          <p:cNvSpPr/>
          <p:nvPr/>
        </p:nvSpPr>
        <p:spPr>
          <a:xfrm>
            <a:off x="4956048" y="1627632"/>
            <a:ext cx="3840480" cy="292608"/>
          </a:xfrm>
          <a:prstGeom prst="rect">
            <a:avLst/>
          </a:prstGeom>
          <a:noFill/>
          <a:ln/>
        </p:spPr>
        <p:txBody>
          <a:bodyPr wrap="square" lIns="0" tIns="0" rIns="0" bIns="0" rtlCol="0" anchor="ctr"/>
          <a:lstStyle/>
          <a:p>
            <a:pPr marL="0" indent="0">
              <a:buNone/>
            </a:pPr>
            <a:r>
              <a:rPr lang="en-US" sz="950" b="1" dirty="0">
                <a:solidFill>
                  <a:srgbClr val="FFFFFF"/>
                </a:solidFill>
              </a:rPr>
              <a:t>Metricas cuantitativas</a:t>
            </a:r>
            <a:endParaRPr lang="en-US" sz="950" dirty="0"/>
          </a:p>
        </p:txBody>
      </p:sp>
      <p:sp>
        <p:nvSpPr>
          <p:cNvPr id="39" name="Text 37"/>
          <p:cNvSpPr/>
          <p:nvPr/>
        </p:nvSpPr>
        <p:spPr>
          <a:xfrm>
            <a:off x="4956048" y="1975104"/>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scipy import stats</a:t>
            </a:r>
            <a:endParaRPr lang="en-US" sz="850" dirty="0"/>
          </a:p>
        </p:txBody>
      </p:sp>
      <p:sp>
        <p:nvSpPr>
          <p:cNvPr id="40" name="Text 38"/>
          <p:cNvSpPr/>
          <p:nvPr/>
        </p:nvSpPr>
        <p:spPr>
          <a:xfrm>
            <a:off x="4956048" y="2123237"/>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1" name="Text 39"/>
          <p:cNvSpPr/>
          <p:nvPr/>
        </p:nvSpPr>
        <p:spPr>
          <a:xfrm>
            <a:off x="4956048" y="2271370"/>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Comparar media y mediana</a:t>
            </a:r>
            <a:endParaRPr lang="en-US" sz="850" dirty="0"/>
          </a:p>
        </p:txBody>
      </p:sp>
      <p:sp>
        <p:nvSpPr>
          <p:cNvPr id="42" name="Text 40"/>
          <p:cNvSpPr/>
          <p:nvPr/>
        </p:nvSpPr>
        <p:spPr>
          <a:xfrm>
            <a:off x="4956048" y="2419502"/>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print(f'Media original:  {original.mean():,.2f}')</a:t>
            </a:r>
            <a:endParaRPr lang="en-US" sz="850" dirty="0"/>
          </a:p>
        </p:txBody>
      </p:sp>
      <p:sp>
        <p:nvSpPr>
          <p:cNvPr id="43" name="Text 41"/>
          <p:cNvSpPr/>
          <p:nvPr/>
        </p:nvSpPr>
        <p:spPr>
          <a:xfrm>
            <a:off x="4956048" y="2567635"/>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print(f'Media imputada:  {imputado.mean():,.2f}')</a:t>
            </a:r>
            <a:endParaRPr lang="en-US" sz="850" dirty="0"/>
          </a:p>
        </p:txBody>
      </p:sp>
      <p:sp>
        <p:nvSpPr>
          <p:cNvPr id="44" name="Text 42"/>
          <p:cNvSpPr/>
          <p:nvPr/>
        </p:nvSpPr>
        <p:spPr>
          <a:xfrm>
            <a:off x="4956048" y="2715768"/>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print(f'Mediana original:{original.median():,.2f}')</a:t>
            </a:r>
            <a:endParaRPr lang="en-US" sz="850" dirty="0"/>
          </a:p>
        </p:txBody>
      </p:sp>
      <p:sp>
        <p:nvSpPr>
          <p:cNvPr id="45" name="Text 43"/>
          <p:cNvSpPr/>
          <p:nvPr/>
        </p:nvSpPr>
        <p:spPr>
          <a:xfrm>
            <a:off x="4956048" y="2863901"/>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print(f'Mediana imputada:{imputado.median():,.2f}')</a:t>
            </a:r>
            <a:endParaRPr lang="en-US" sz="850" dirty="0"/>
          </a:p>
        </p:txBody>
      </p:sp>
      <p:sp>
        <p:nvSpPr>
          <p:cNvPr id="46" name="Text 44"/>
          <p:cNvSpPr/>
          <p:nvPr/>
        </p:nvSpPr>
        <p:spPr>
          <a:xfrm>
            <a:off x="4956048" y="3012034"/>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7" name="Text 45"/>
          <p:cNvSpPr/>
          <p:nvPr/>
        </p:nvSpPr>
        <p:spPr>
          <a:xfrm>
            <a:off x="4956048" y="3160166"/>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Test KS: H0 = misma distribucion</a:t>
            </a:r>
            <a:endParaRPr lang="en-US" sz="850" dirty="0"/>
          </a:p>
        </p:txBody>
      </p:sp>
      <p:sp>
        <p:nvSpPr>
          <p:cNvPr id="48" name="Text 46"/>
          <p:cNvSpPr/>
          <p:nvPr/>
        </p:nvSpPr>
        <p:spPr>
          <a:xfrm>
            <a:off x="4956048" y="3308299"/>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Si p &gt; 0.05 la imputacion no distorsiona</a:t>
            </a:r>
            <a:endParaRPr lang="en-US" sz="850" dirty="0"/>
          </a:p>
        </p:txBody>
      </p:sp>
      <p:sp>
        <p:nvSpPr>
          <p:cNvPr id="49" name="Text 47"/>
          <p:cNvSpPr/>
          <p:nvPr/>
        </p:nvSpPr>
        <p:spPr>
          <a:xfrm>
            <a:off x="4956048" y="3456432"/>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ks_stat, p_val = stats.ks_2samp(</a:t>
            </a:r>
            <a:endParaRPr lang="en-US" sz="850" dirty="0"/>
          </a:p>
        </p:txBody>
      </p:sp>
      <p:sp>
        <p:nvSpPr>
          <p:cNvPr id="50" name="Text 48"/>
          <p:cNvSpPr/>
          <p:nvPr/>
        </p:nvSpPr>
        <p:spPr>
          <a:xfrm>
            <a:off x="4956048" y="3604565"/>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original, imputado)</a:t>
            </a:r>
            <a:endParaRPr lang="en-US" sz="850" dirty="0"/>
          </a:p>
        </p:txBody>
      </p:sp>
      <p:sp>
        <p:nvSpPr>
          <p:cNvPr id="51" name="Text 49"/>
          <p:cNvSpPr/>
          <p:nvPr/>
        </p:nvSpPr>
        <p:spPr>
          <a:xfrm>
            <a:off x="4956048" y="3752698"/>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print(f'KS p-value: {p_val:.4f}')</a:t>
            </a:r>
            <a:endParaRPr lang="en-US" sz="850" dirty="0"/>
          </a:p>
        </p:txBody>
      </p:sp>
      <p:sp>
        <p:nvSpPr>
          <p:cNvPr id="52" name="Text 50"/>
          <p:cNvSpPr/>
          <p:nvPr/>
        </p:nvSpPr>
        <p:spPr>
          <a:xfrm>
            <a:off x="4956048" y="3900830"/>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3" name="Text 51"/>
          <p:cNvSpPr/>
          <p:nvPr/>
        </p:nvSpPr>
        <p:spPr>
          <a:xfrm>
            <a:off x="4956048" y="4048963"/>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Comparar correlaciones antes y despues</a:t>
            </a:r>
            <a:endParaRPr lang="en-US" sz="850" dirty="0"/>
          </a:p>
        </p:txBody>
      </p:sp>
      <p:sp>
        <p:nvSpPr>
          <p:cNvPr id="54" name="Text 52"/>
          <p:cNvSpPr/>
          <p:nvPr/>
        </p:nvSpPr>
        <p:spPr>
          <a:xfrm>
            <a:off x="4956048" y="4197096"/>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corr_antes  = df[features].corr()</a:t>
            </a:r>
            <a:endParaRPr lang="en-US" sz="850" dirty="0"/>
          </a:p>
        </p:txBody>
      </p:sp>
      <p:sp>
        <p:nvSpPr>
          <p:cNvPr id="55" name="Text 53"/>
          <p:cNvSpPr/>
          <p:nvPr/>
        </p:nvSpPr>
        <p:spPr>
          <a:xfrm>
            <a:off x="4956048" y="4345229"/>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corr_despues= df_imputado[features].corr()</a:t>
            </a:r>
            <a:endParaRPr lang="en-US" sz="850" dirty="0"/>
          </a:p>
        </p:txBody>
      </p:sp>
      <p:sp>
        <p:nvSpPr>
          <p:cNvPr id="56" name="Text 54"/>
          <p:cNvSpPr/>
          <p:nvPr/>
        </p:nvSpPr>
        <p:spPr>
          <a:xfrm>
            <a:off x="4956048" y="4493362"/>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57" name="Text 55"/>
          <p:cNvSpPr/>
          <p:nvPr/>
        </p:nvSpPr>
        <p:spPr>
          <a:xfrm>
            <a:off x="4956048" y="4641494"/>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Si las correlaciones cambian mucho,</a:t>
            </a:r>
            <a:endParaRPr lang="en-US" sz="850" dirty="0"/>
          </a:p>
        </p:txBody>
      </p:sp>
      <p:sp>
        <p:nvSpPr>
          <p:cNvPr id="58" name="Text 56"/>
          <p:cNvSpPr/>
          <p:nvPr/>
        </p:nvSpPr>
        <p:spPr>
          <a:xfrm>
            <a:off x="4956048" y="4789627"/>
            <a:ext cx="374904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la imputacion introdujo sesgo.</a:t>
            </a:r>
            <a:endParaRPr lang="en-US" sz="850" dirty="0"/>
          </a:p>
        </p:txBody>
      </p:sp>
      <p:sp>
        <p:nvSpPr>
          <p:cNvPr id="59" name="Text 57"/>
          <p:cNvSpPr/>
          <p:nvPr/>
        </p:nvSpPr>
        <p:spPr>
          <a:xfrm>
            <a:off x="4956048" y="4937760"/>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diff_corr = (corr_antes - corr_despues).abs()</a:t>
            </a:r>
            <a:endParaRPr lang="en-US" sz="850" dirty="0"/>
          </a:p>
        </p:txBody>
      </p:sp>
      <p:sp>
        <p:nvSpPr>
          <p:cNvPr id="60" name="Text 58"/>
          <p:cNvSpPr/>
          <p:nvPr/>
        </p:nvSpPr>
        <p:spPr>
          <a:xfrm>
            <a:off x="4956048" y="5085893"/>
            <a:ext cx="374904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print(f'Max dif correlacion: {diff_corr.max().max():.4f}')</a:t>
            </a:r>
            <a:endParaRPr lang="en-US" sz="850" dirty="0"/>
          </a:p>
        </p:txBody>
      </p:sp>
      <p:sp>
        <p:nvSpPr>
          <p:cNvPr id="61" name="Shape 59"/>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62" name="Text 60"/>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Modulo 2 · T2 Imputacion Avanzada</a:t>
            </a:r>
            <a:endParaRPr lang="en-US" sz="850" dirty="0"/>
          </a:p>
        </p:txBody>
      </p:sp>
      <p:sp>
        <p:nvSpPr>
          <p:cNvPr id="63" name="Text 61"/>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Evaluar impacto</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3291840" cy="256032"/>
          </a:xfrm>
          <a:prstGeom prst="rect">
            <a:avLst/>
          </a:prstGeom>
          <a:solidFill>
            <a:srgbClr val="0D7A8A"/>
          </a:solidFill>
          <a:ln w="12700">
            <a:solidFill>
              <a:srgbClr val="0D7A8A"/>
            </a:solidFill>
            <a:prstDash val="solid"/>
          </a:ln>
        </p:spPr>
        <p:txBody>
          <a:bodyPr/>
          <a:lstStyle/>
          <a:p>
            <a:endParaRPr lang="es-MX"/>
          </a:p>
        </p:txBody>
      </p:sp>
      <p:sp>
        <p:nvSpPr>
          <p:cNvPr id="4" name="Text 2"/>
          <p:cNvSpPr/>
          <p:nvPr/>
        </p:nvSpPr>
        <p:spPr>
          <a:xfrm>
            <a:off x="365760" y="566928"/>
            <a:ext cx="329184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PIPELINE SKLEARN — PRODUCCION</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500" b="1" dirty="0">
                <a:solidFill>
                  <a:srgbClr val="FFFFFF"/>
                </a:solidFill>
              </a:rPr>
              <a:t>Pipeline: Imputacion + Modelo en Un Solo Objeto</a:t>
            </a:r>
            <a:endParaRPr lang="en-US" sz="25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A8D8EA"/>
                </a:solidFill>
              </a:rPr>
              <a:t>En produccion nunca se aplica el imputer por separado — se encapsula en un Pipeline</a:t>
            </a:r>
            <a:endParaRPr lang="en-US" sz="1200" dirty="0"/>
          </a:p>
        </p:txBody>
      </p:sp>
      <p:sp>
        <p:nvSpPr>
          <p:cNvPr id="7" name="Shape 5"/>
          <p:cNvSpPr/>
          <p:nvPr/>
        </p:nvSpPr>
        <p:spPr>
          <a:xfrm>
            <a:off x="347472" y="987552"/>
            <a:ext cx="8449056" cy="566928"/>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sp>
        <p:nvSpPr>
          <p:cNvPr id="8" name="Text 6"/>
          <p:cNvSpPr/>
          <p:nvPr/>
        </p:nvSpPr>
        <p:spPr>
          <a:xfrm>
            <a:off x="493776" y="1051560"/>
            <a:ext cx="8229600" cy="438912"/>
          </a:xfrm>
          <a:prstGeom prst="rect">
            <a:avLst/>
          </a:prstGeom>
          <a:noFill/>
          <a:ln/>
        </p:spPr>
        <p:txBody>
          <a:bodyPr wrap="square" lIns="0" tIns="0" rIns="0" bIns="0" rtlCol="0" anchor="ctr"/>
          <a:lstStyle/>
          <a:p>
            <a:pPr marL="0" indent="0">
              <a:buNone/>
            </a:pPr>
            <a:r>
              <a:rPr lang="en-US" sz="1100" dirty="0">
                <a:solidFill>
                  <a:srgbClr val="F0F4F8"/>
                </a:solidFill>
              </a:rPr>
              <a:t>El Pipeline de sklearn encadena transformaciones y modelos. Se entrena con fit() y predice con predict() como si fuera un solo estimador. Esto garantiza que la imputacion sea consistente entre entrenamiento y produccion.</a:t>
            </a:r>
            <a:endParaRPr lang="en-US" sz="1100" dirty="0"/>
          </a:p>
        </p:txBody>
      </p:sp>
      <p:sp>
        <p:nvSpPr>
          <p:cNvPr id="9" name="Shape 7"/>
          <p:cNvSpPr/>
          <p:nvPr/>
        </p:nvSpPr>
        <p:spPr>
          <a:xfrm>
            <a:off x="347472" y="1645920"/>
            <a:ext cx="8449056" cy="3456432"/>
          </a:xfrm>
          <a:prstGeom prst="rect">
            <a:avLst/>
          </a:prstGeom>
          <a:solidFill>
            <a:srgbClr val="071228"/>
          </a:solidFill>
          <a:ln w="12700">
            <a:solidFill>
              <a:srgbClr val="0D7A8A"/>
            </a:solidFill>
            <a:prstDash val="solid"/>
          </a:ln>
        </p:spPr>
        <p:txBody>
          <a:bodyPr/>
          <a:lstStyle/>
          <a:p>
            <a:endParaRPr lang="es-MX"/>
          </a:p>
        </p:txBody>
      </p:sp>
      <p:sp>
        <p:nvSpPr>
          <p:cNvPr id="10" name="Shape 8"/>
          <p:cNvSpPr/>
          <p:nvPr/>
        </p:nvSpPr>
        <p:spPr>
          <a:xfrm>
            <a:off x="347472" y="1645920"/>
            <a:ext cx="8449056" cy="292608"/>
          </a:xfrm>
          <a:prstGeom prst="rect">
            <a:avLst/>
          </a:prstGeom>
          <a:solidFill>
            <a:srgbClr val="0D7A8A"/>
          </a:solidFill>
          <a:ln w="12700">
            <a:solidFill>
              <a:srgbClr val="0D7A8A"/>
            </a:solidFill>
            <a:prstDash val="solid"/>
          </a:ln>
        </p:spPr>
        <p:txBody>
          <a:bodyPr/>
          <a:lstStyle/>
          <a:p>
            <a:endParaRPr lang="es-MX"/>
          </a:p>
        </p:txBody>
      </p:sp>
      <p:sp>
        <p:nvSpPr>
          <p:cNvPr id="11" name="Text 9"/>
          <p:cNvSpPr/>
          <p:nvPr/>
        </p:nvSpPr>
        <p:spPr>
          <a:xfrm>
            <a:off x="475488" y="1645920"/>
            <a:ext cx="8229600" cy="292608"/>
          </a:xfrm>
          <a:prstGeom prst="rect">
            <a:avLst/>
          </a:prstGeom>
          <a:noFill/>
          <a:ln/>
        </p:spPr>
        <p:txBody>
          <a:bodyPr wrap="square" lIns="0" tIns="0" rIns="0" bIns="0" rtlCol="0" anchor="ctr"/>
          <a:lstStyle/>
          <a:p>
            <a:pPr marL="0" indent="0">
              <a:buNone/>
            </a:pPr>
            <a:r>
              <a:rPr lang="en-US" sz="1000" b="1" dirty="0">
                <a:solidFill>
                  <a:srgbClr val="FFFFFF"/>
                </a:solidFill>
              </a:rPr>
              <a:t>Pipeline completo: imputacion + escalado + modelo</a:t>
            </a:r>
            <a:endParaRPr lang="en-US" sz="1000" dirty="0"/>
          </a:p>
        </p:txBody>
      </p:sp>
      <p:sp>
        <p:nvSpPr>
          <p:cNvPr id="12" name="Text 10"/>
          <p:cNvSpPr/>
          <p:nvPr/>
        </p:nvSpPr>
        <p:spPr>
          <a:xfrm>
            <a:off x="475488" y="1993392"/>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sklearn.pipeline import Pipeline</a:t>
            </a:r>
            <a:endParaRPr lang="en-US" sz="850" dirty="0"/>
          </a:p>
        </p:txBody>
      </p:sp>
      <p:sp>
        <p:nvSpPr>
          <p:cNvPr id="13" name="Text 11"/>
          <p:cNvSpPr/>
          <p:nvPr/>
        </p:nvSpPr>
        <p:spPr>
          <a:xfrm>
            <a:off x="475488" y="2141525"/>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sklearn.preprocessing import StandardScaler</a:t>
            </a:r>
            <a:endParaRPr lang="en-US" sz="850" dirty="0"/>
          </a:p>
        </p:txBody>
      </p:sp>
      <p:sp>
        <p:nvSpPr>
          <p:cNvPr id="14" name="Text 12"/>
          <p:cNvSpPr/>
          <p:nvPr/>
        </p:nvSpPr>
        <p:spPr>
          <a:xfrm>
            <a:off x="475488" y="2289658"/>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sklearn.impute import SimpleImputer, KNNImputer</a:t>
            </a:r>
            <a:endParaRPr lang="en-US" sz="850" dirty="0"/>
          </a:p>
        </p:txBody>
      </p:sp>
      <p:sp>
        <p:nvSpPr>
          <p:cNvPr id="15" name="Text 13"/>
          <p:cNvSpPr/>
          <p:nvPr/>
        </p:nvSpPr>
        <p:spPr>
          <a:xfrm>
            <a:off x="475488" y="2437790"/>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sklearn.linear_model import LinearRegression</a:t>
            </a:r>
            <a:endParaRPr lang="en-US" sz="850" dirty="0"/>
          </a:p>
        </p:txBody>
      </p:sp>
      <p:sp>
        <p:nvSpPr>
          <p:cNvPr id="16" name="Text 14"/>
          <p:cNvSpPr/>
          <p:nvPr/>
        </p:nvSpPr>
        <p:spPr>
          <a:xfrm>
            <a:off x="475488" y="2585923"/>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from sklearn.model_selection import train_test_split</a:t>
            </a:r>
            <a:endParaRPr lang="en-US" sz="850" dirty="0"/>
          </a:p>
        </p:txBody>
      </p:sp>
      <p:sp>
        <p:nvSpPr>
          <p:cNvPr id="17" name="Text 15"/>
          <p:cNvSpPr/>
          <p:nvPr/>
        </p:nvSpPr>
        <p:spPr>
          <a:xfrm>
            <a:off x="475488" y="2734056"/>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18" name="Text 16"/>
          <p:cNvSpPr/>
          <p:nvPr/>
        </p:nvSpPr>
        <p:spPr>
          <a:xfrm>
            <a:off x="475488" y="2882189"/>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features = ['edad','suma_asegurada','deducible','n_siniestros']</a:t>
            </a:r>
            <a:endParaRPr lang="en-US" sz="850" dirty="0"/>
          </a:p>
        </p:txBody>
      </p:sp>
      <p:sp>
        <p:nvSpPr>
          <p:cNvPr id="19" name="Text 17"/>
          <p:cNvSpPr/>
          <p:nvPr/>
        </p:nvSpPr>
        <p:spPr>
          <a:xfrm>
            <a:off x="475488" y="3030322"/>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 = df[features]</a:t>
            </a:r>
            <a:endParaRPr lang="en-US" sz="850" dirty="0"/>
          </a:p>
        </p:txBody>
      </p:sp>
      <p:sp>
        <p:nvSpPr>
          <p:cNvPr id="20" name="Text 18"/>
          <p:cNvSpPr/>
          <p:nvPr/>
        </p:nvSpPr>
        <p:spPr>
          <a:xfrm>
            <a:off x="475488" y="3178454"/>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y = df['prima_total']</a:t>
            </a:r>
            <a:endParaRPr lang="en-US" sz="850" dirty="0"/>
          </a:p>
        </p:txBody>
      </p:sp>
      <p:sp>
        <p:nvSpPr>
          <p:cNvPr id="21" name="Text 19"/>
          <p:cNvSpPr/>
          <p:nvPr/>
        </p:nvSpPr>
        <p:spPr>
          <a:xfrm>
            <a:off x="475488" y="3326587"/>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X_train, X_test, y_train, y_test = train_test_split(X, y, test_size=0.2, random_state=42)</a:t>
            </a:r>
            <a:endParaRPr lang="en-US" sz="850" dirty="0"/>
          </a:p>
        </p:txBody>
      </p:sp>
      <p:sp>
        <p:nvSpPr>
          <p:cNvPr id="22" name="Text 20"/>
          <p:cNvSpPr/>
          <p:nvPr/>
        </p:nvSpPr>
        <p:spPr>
          <a:xfrm>
            <a:off x="475488" y="3474720"/>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23" name="Text 21"/>
          <p:cNvSpPr/>
          <p:nvPr/>
        </p:nvSpPr>
        <p:spPr>
          <a:xfrm>
            <a:off x="475488" y="3622853"/>
            <a:ext cx="822960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Pipeline con SimpleImputer</a:t>
            </a:r>
            <a:endParaRPr lang="en-US" sz="850" dirty="0"/>
          </a:p>
        </p:txBody>
      </p:sp>
      <p:sp>
        <p:nvSpPr>
          <p:cNvPr id="24" name="Text 22"/>
          <p:cNvSpPr/>
          <p:nvPr/>
        </p:nvSpPr>
        <p:spPr>
          <a:xfrm>
            <a:off x="475488" y="3770986"/>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pipe_simple = Pipeline([</a:t>
            </a:r>
            <a:endParaRPr lang="en-US" sz="850" dirty="0"/>
          </a:p>
        </p:txBody>
      </p:sp>
      <p:sp>
        <p:nvSpPr>
          <p:cNvPr id="25" name="Text 23"/>
          <p:cNvSpPr/>
          <p:nvPr/>
        </p:nvSpPr>
        <p:spPr>
          <a:xfrm>
            <a:off x="475488" y="3919118"/>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('imputer', SimpleImputer(strategy='median')),  # paso 1</a:t>
            </a:r>
            <a:endParaRPr lang="en-US" sz="850" dirty="0"/>
          </a:p>
        </p:txBody>
      </p:sp>
      <p:sp>
        <p:nvSpPr>
          <p:cNvPr id="26" name="Text 24"/>
          <p:cNvSpPr/>
          <p:nvPr/>
        </p:nvSpPr>
        <p:spPr>
          <a:xfrm>
            <a:off x="475488" y="4067251"/>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('scaler',  StandardScaler()),                  # paso 2</a:t>
            </a:r>
            <a:endParaRPr lang="en-US" sz="850" dirty="0"/>
          </a:p>
        </p:txBody>
      </p:sp>
      <p:sp>
        <p:nvSpPr>
          <p:cNvPr id="27" name="Text 25"/>
          <p:cNvSpPr/>
          <p:nvPr/>
        </p:nvSpPr>
        <p:spPr>
          <a:xfrm>
            <a:off x="475488" y="4215384"/>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('modelo',  LinearRegression()),               # paso 3</a:t>
            </a:r>
            <a:endParaRPr lang="en-US" sz="850" dirty="0"/>
          </a:p>
        </p:txBody>
      </p:sp>
      <p:sp>
        <p:nvSpPr>
          <p:cNvPr id="28" name="Text 26"/>
          <p:cNvSpPr/>
          <p:nvPr/>
        </p:nvSpPr>
        <p:spPr>
          <a:xfrm>
            <a:off x="475488" y="4363517"/>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29" name="Text 27"/>
          <p:cNvSpPr/>
          <p:nvPr/>
        </p:nvSpPr>
        <p:spPr>
          <a:xfrm>
            <a:off x="475488" y="4511650"/>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pipe_simple.fit(X_train, y_train)   # entrena los 3 pasos en orden</a:t>
            </a:r>
            <a:endParaRPr lang="en-US" sz="850" dirty="0"/>
          </a:p>
        </p:txBody>
      </p:sp>
      <p:sp>
        <p:nvSpPr>
          <p:cNvPr id="30" name="Text 28"/>
          <p:cNvSpPr/>
          <p:nvPr/>
        </p:nvSpPr>
        <p:spPr>
          <a:xfrm>
            <a:off x="475488" y="4659782"/>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r2_simple = pipe_simple.score(X_test, y_test)</a:t>
            </a:r>
            <a:endParaRPr lang="en-US" sz="850" dirty="0"/>
          </a:p>
        </p:txBody>
      </p:sp>
      <p:sp>
        <p:nvSpPr>
          <p:cNvPr id="31" name="Text 29"/>
          <p:cNvSpPr/>
          <p:nvPr/>
        </p:nvSpPr>
        <p:spPr>
          <a:xfrm>
            <a:off x="475488" y="4807915"/>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32" name="Text 30"/>
          <p:cNvSpPr/>
          <p:nvPr/>
        </p:nvSpPr>
        <p:spPr>
          <a:xfrm>
            <a:off x="475488" y="4956048"/>
            <a:ext cx="8229600" cy="148133"/>
          </a:xfrm>
          <a:prstGeom prst="rect">
            <a:avLst/>
          </a:prstGeom>
          <a:noFill/>
          <a:ln/>
        </p:spPr>
        <p:txBody>
          <a:bodyPr wrap="square" lIns="0" tIns="0" rIns="0" bIns="0" rtlCol="0" anchor="ctr"/>
          <a:lstStyle/>
          <a:p>
            <a:pPr marL="0" indent="0">
              <a:buNone/>
            </a:pPr>
            <a:r>
              <a:rPr lang="en-US" sz="850" dirty="0">
                <a:solidFill>
                  <a:srgbClr val="5B8FA0"/>
                </a:solidFill>
                <a:latin typeface="Courier New" pitchFamily="34" charset="0"/>
                <a:ea typeface="Courier New" pitchFamily="34" charset="-122"/>
                <a:cs typeface="Courier New" pitchFamily="34" charset="-120"/>
              </a:rPr>
              <a:t># Pipeline con KNNImputer — cambia solo el primer paso</a:t>
            </a:r>
            <a:endParaRPr lang="en-US" sz="850" dirty="0"/>
          </a:p>
        </p:txBody>
      </p:sp>
      <p:sp>
        <p:nvSpPr>
          <p:cNvPr id="33" name="Text 31"/>
          <p:cNvSpPr/>
          <p:nvPr/>
        </p:nvSpPr>
        <p:spPr>
          <a:xfrm>
            <a:off x="475488" y="5104181"/>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pipe_knn = Pipeline([</a:t>
            </a:r>
            <a:endParaRPr lang="en-US" sz="850" dirty="0"/>
          </a:p>
        </p:txBody>
      </p:sp>
      <p:sp>
        <p:nvSpPr>
          <p:cNvPr id="34" name="Text 32"/>
          <p:cNvSpPr/>
          <p:nvPr/>
        </p:nvSpPr>
        <p:spPr>
          <a:xfrm>
            <a:off x="475488" y="5252314"/>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('imputer', KNNImputer(n_neighbors=5)),</a:t>
            </a:r>
            <a:endParaRPr lang="en-US" sz="850" dirty="0"/>
          </a:p>
        </p:txBody>
      </p:sp>
      <p:sp>
        <p:nvSpPr>
          <p:cNvPr id="35" name="Text 33"/>
          <p:cNvSpPr/>
          <p:nvPr/>
        </p:nvSpPr>
        <p:spPr>
          <a:xfrm>
            <a:off x="475488" y="5400446"/>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('scaler',  StandardScaler()),</a:t>
            </a:r>
            <a:endParaRPr lang="en-US" sz="850" dirty="0"/>
          </a:p>
        </p:txBody>
      </p:sp>
      <p:sp>
        <p:nvSpPr>
          <p:cNvPr id="36" name="Text 34"/>
          <p:cNvSpPr/>
          <p:nvPr/>
        </p:nvSpPr>
        <p:spPr>
          <a:xfrm>
            <a:off x="475488" y="5548579"/>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('modelo',  LinearRegression()),</a:t>
            </a:r>
            <a:endParaRPr lang="en-US" sz="850" dirty="0"/>
          </a:p>
        </p:txBody>
      </p:sp>
      <p:sp>
        <p:nvSpPr>
          <p:cNvPr id="37" name="Text 35"/>
          <p:cNvSpPr/>
          <p:nvPr/>
        </p:nvSpPr>
        <p:spPr>
          <a:xfrm>
            <a:off x="475488" y="5696712"/>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a:t>
            </a:r>
            <a:endParaRPr lang="en-US" sz="850" dirty="0"/>
          </a:p>
        </p:txBody>
      </p:sp>
      <p:sp>
        <p:nvSpPr>
          <p:cNvPr id="38" name="Text 36"/>
          <p:cNvSpPr/>
          <p:nvPr/>
        </p:nvSpPr>
        <p:spPr>
          <a:xfrm>
            <a:off x="475488" y="5844845"/>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pipe_knn.fit(X_train, y_train)</a:t>
            </a:r>
            <a:endParaRPr lang="en-US" sz="850" dirty="0"/>
          </a:p>
        </p:txBody>
      </p:sp>
      <p:sp>
        <p:nvSpPr>
          <p:cNvPr id="39" name="Text 37"/>
          <p:cNvSpPr/>
          <p:nvPr/>
        </p:nvSpPr>
        <p:spPr>
          <a:xfrm>
            <a:off x="475488" y="5992978"/>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r2_knn = pipe_knn.score(X_test, y_test)</a:t>
            </a:r>
            <a:endParaRPr lang="en-US" sz="850" dirty="0"/>
          </a:p>
        </p:txBody>
      </p:sp>
      <p:sp>
        <p:nvSpPr>
          <p:cNvPr id="40" name="Text 38"/>
          <p:cNvSpPr/>
          <p:nvPr/>
        </p:nvSpPr>
        <p:spPr>
          <a:xfrm>
            <a:off x="475488" y="6141110"/>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 </a:t>
            </a:r>
            <a:endParaRPr lang="en-US" sz="850" dirty="0"/>
          </a:p>
        </p:txBody>
      </p:sp>
      <p:sp>
        <p:nvSpPr>
          <p:cNvPr id="41" name="Text 39"/>
          <p:cNvSpPr/>
          <p:nvPr/>
        </p:nvSpPr>
        <p:spPr>
          <a:xfrm>
            <a:off x="475488" y="6289243"/>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print(f'R2 SimpleImputer: {r2_simple:.4f}')</a:t>
            </a:r>
            <a:endParaRPr lang="en-US" sz="850" dirty="0"/>
          </a:p>
        </p:txBody>
      </p:sp>
      <p:sp>
        <p:nvSpPr>
          <p:cNvPr id="42" name="Text 40"/>
          <p:cNvSpPr/>
          <p:nvPr/>
        </p:nvSpPr>
        <p:spPr>
          <a:xfrm>
            <a:off x="475488" y="6437376"/>
            <a:ext cx="8229600" cy="148133"/>
          </a:xfrm>
          <a:prstGeom prst="rect">
            <a:avLst/>
          </a:prstGeom>
          <a:noFill/>
          <a:ln/>
        </p:spPr>
        <p:txBody>
          <a:bodyPr wrap="square" lIns="0" tIns="0" rIns="0" bIns="0" rtlCol="0" anchor="ctr"/>
          <a:lstStyle/>
          <a:p>
            <a:pPr marL="0" indent="0">
              <a:buNone/>
            </a:pPr>
            <a:r>
              <a:rPr lang="en-US" sz="850" dirty="0">
                <a:solidFill>
                  <a:srgbClr val="A8D8EA"/>
                </a:solidFill>
                <a:latin typeface="Courier New" pitchFamily="34" charset="0"/>
                <a:ea typeface="Courier New" pitchFamily="34" charset="-122"/>
                <a:cs typeface="Courier New" pitchFamily="34" charset="-120"/>
              </a:rPr>
              <a:t>print(f'R2 KNNImputer:    {r2_knn:.4f}')</a:t>
            </a:r>
            <a:endParaRPr lang="en-US" sz="850" dirty="0"/>
          </a:p>
        </p:txBody>
      </p:sp>
      <p:sp>
        <p:nvSpPr>
          <p:cNvPr id="43" name="Shape 41"/>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44" name="Text 42"/>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Modulo 2 · T2 Imputacion Avanzada</a:t>
            </a:r>
            <a:endParaRPr lang="en-US" sz="850" dirty="0"/>
          </a:p>
        </p:txBody>
      </p:sp>
      <p:sp>
        <p:nvSpPr>
          <p:cNvPr id="45" name="Text 43"/>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Pipeline sklearn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365760" y="566928"/>
            <a:ext cx="3291840" cy="256032"/>
          </a:xfrm>
          <a:prstGeom prst="rect">
            <a:avLst/>
          </a:prstGeom>
          <a:solidFill>
            <a:srgbClr val="E37B2A"/>
          </a:solidFill>
          <a:ln w="12700">
            <a:solidFill>
              <a:srgbClr val="E37B2A"/>
            </a:solidFill>
            <a:prstDash val="solid"/>
          </a:ln>
        </p:spPr>
        <p:txBody>
          <a:bodyPr/>
          <a:lstStyle/>
          <a:p>
            <a:endParaRPr lang="es-MX"/>
          </a:p>
        </p:txBody>
      </p:sp>
      <p:sp>
        <p:nvSpPr>
          <p:cNvPr id="4" name="Text 2"/>
          <p:cNvSpPr/>
          <p:nvPr/>
        </p:nvSpPr>
        <p:spPr>
          <a:xfrm>
            <a:off x="365760" y="566928"/>
            <a:ext cx="3291840" cy="256032"/>
          </a:xfrm>
          <a:prstGeom prst="rect">
            <a:avLst/>
          </a:prstGeom>
          <a:noFill/>
          <a:ln/>
        </p:spPr>
        <p:txBody>
          <a:bodyPr wrap="square" lIns="0" tIns="0" rIns="0" bIns="0" rtlCol="0" anchor="ctr"/>
          <a:lstStyle/>
          <a:p>
            <a:pPr marL="0" indent="0" algn="ctr">
              <a:buNone/>
            </a:pPr>
            <a:r>
              <a:rPr lang="en-US" sz="850" b="1" kern="0" spc="200" dirty="0">
                <a:solidFill>
                  <a:srgbClr val="FFFFFF"/>
                </a:solidFill>
              </a:rPr>
              <a:t>EJERCICIO INTEGRADOR FINAL</a:t>
            </a:r>
            <a:endParaRPr lang="en-US" sz="850" dirty="0"/>
          </a:p>
        </p:txBody>
      </p:sp>
      <p:sp>
        <p:nvSpPr>
          <p:cNvPr id="5" name="Text 3"/>
          <p:cNvSpPr/>
          <p:nvPr/>
        </p:nvSpPr>
        <p:spPr>
          <a:xfrm>
            <a:off x="457200" y="182880"/>
            <a:ext cx="8229600" cy="475488"/>
          </a:xfrm>
          <a:prstGeom prst="rect">
            <a:avLst/>
          </a:prstGeom>
          <a:noFill/>
          <a:ln/>
        </p:spPr>
        <p:txBody>
          <a:bodyPr wrap="square" lIns="0" tIns="0" rIns="0" bIns="0" rtlCol="0" anchor="ctr"/>
          <a:lstStyle/>
          <a:p>
            <a:pPr marL="0" indent="0" algn="l">
              <a:buNone/>
            </a:pPr>
            <a:r>
              <a:rPr lang="en-US" sz="2500" b="1" dirty="0">
                <a:solidFill>
                  <a:srgbClr val="0D1B3E"/>
                </a:solidFill>
              </a:rPr>
              <a:t>Pipeline Completo de Imputacion sobre la Cartera Real</a:t>
            </a:r>
            <a:endParaRPr lang="en-US" sz="2500" dirty="0"/>
          </a:p>
        </p:txBody>
      </p:sp>
      <p:sp>
        <p:nvSpPr>
          <p:cNvPr id="6" name="Text 4"/>
          <p:cNvSpPr/>
          <p:nvPr/>
        </p:nvSpPr>
        <p:spPr>
          <a:xfrm>
            <a:off x="457200" y="685800"/>
            <a:ext cx="8229600" cy="256032"/>
          </a:xfrm>
          <a:prstGeom prst="rect">
            <a:avLst/>
          </a:prstGeom>
          <a:noFill/>
          <a:ln/>
        </p:spPr>
        <p:txBody>
          <a:bodyPr wrap="square" lIns="0" tIns="0" rIns="0" bIns="0" rtlCol="0" anchor="ctr"/>
          <a:lstStyle/>
          <a:p>
            <a:pPr marL="0" indent="0" algn="l">
              <a:buNone/>
            </a:pPr>
            <a:r>
              <a:rPr lang="en-US" sz="1200" dirty="0">
                <a:solidFill>
                  <a:srgbClr val="0D7A8A"/>
                </a:solidFill>
              </a:rPr>
              <a:t>Tomar la decision correcta de imputacion y justificarla</a:t>
            </a:r>
            <a:endParaRPr lang="en-US" sz="1200" dirty="0"/>
          </a:p>
        </p:txBody>
      </p:sp>
      <p:sp>
        <p:nvSpPr>
          <p:cNvPr id="7" name="Shape 5"/>
          <p:cNvSpPr/>
          <p:nvPr/>
        </p:nvSpPr>
        <p:spPr>
          <a:xfrm>
            <a:off x="347472" y="1335024"/>
            <a:ext cx="4114800" cy="365760"/>
          </a:xfrm>
          <a:prstGeom prst="rect">
            <a:avLst/>
          </a:prstGeom>
          <a:solidFill>
            <a:srgbClr val="0D7A8A"/>
          </a:solidFill>
          <a:ln w="12700">
            <a:solidFill>
              <a:srgbClr val="0D7A8A"/>
            </a:solidFill>
            <a:prstDash val="solid"/>
          </a:ln>
        </p:spPr>
        <p:txBody>
          <a:bodyPr/>
          <a:lstStyle/>
          <a:p>
            <a:endParaRPr lang="es-MX"/>
          </a:p>
        </p:txBody>
      </p:sp>
      <p:sp>
        <p:nvSpPr>
          <p:cNvPr id="8" name="Text 6"/>
          <p:cNvSpPr/>
          <p:nvPr/>
        </p:nvSpPr>
        <p:spPr>
          <a:xfrm>
            <a:off x="438912" y="1335024"/>
            <a:ext cx="3950208" cy="365760"/>
          </a:xfrm>
          <a:prstGeom prst="rect">
            <a:avLst/>
          </a:prstGeom>
          <a:noFill/>
          <a:ln/>
        </p:spPr>
        <p:txBody>
          <a:bodyPr wrap="square" lIns="0" tIns="0" rIns="0" bIns="0" rtlCol="0" anchor="ctr"/>
          <a:lstStyle/>
          <a:p>
            <a:pPr marL="0" indent="0">
              <a:buNone/>
            </a:pPr>
            <a:r>
              <a:rPr lang="en-US" sz="1100" b="1" dirty="0">
                <a:solidFill>
                  <a:srgbClr val="FFFFFF"/>
                </a:solidFill>
              </a:rPr>
              <a:t>Fase 1: Diagnostico de NaN</a:t>
            </a:r>
            <a:endParaRPr lang="en-US" sz="1100" dirty="0"/>
          </a:p>
        </p:txBody>
      </p:sp>
      <p:sp>
        <p:nvSpPr>
          <p:cNvPr id="9" name="Shape 7"/>
          <p:cNvSpPr/>
          <p:nvPr/>
        </p:nvSpPr>
        <p:spPr>
          <a:xfrm>
            <a:off x="347472" y="1700784"/>
            <a:ext cx="4114800" cy="126187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0" name="Text 8"/>
          <p:cNvSpPr/>
          <p:nvPr/>
        </p:nvSpPr>
        <p:spPr>
          <a:xfrm>
            <a:off x="457200" y="1792224"/>
            <a:ext cx="3913632" cy="1097280"/>
          </a:xfrm>
          <a:prstGeom prst="rect">
            <a:avLst/>
          </a:prstGeom>
          <a:noFill/>
          <a:ln/>
        </p:spPr>
        <p:txBody>
          <a:bodyPr wrap="square" lIns="0" tIns="0" rIns="0" bIns="0" rtlCol="0" anchor="ctr"/>
          <a:lstStyle/>
          <a:p>
            <a:pPr marL="0" indent="0">
              <a:buNone/>
            </a:pPr>
            <a:r>
              <a:rPr lang="en-US" sz="1050" dirty="0">
                <a:solidFill>
                  <a:srgbClr val="374151"/>
                </a:solidFill>
              </a:rPr>
              <a:t>Clasifica cada NaN de la cartera como MCAR, MAR o MNAR. Justifica con evidencia — no intuicion.</a:t>
            </a:r>
            <a:endParaRPr lang="en-US" sz="1050" dirty="0"/>
          </a:p>
        </p:txBody>
      </p:sp>
      <p:sp>
        <p:nvSpPr>
          <p:cNvPr id="11" name="Shape 9"/>
          <p:cNvSpPr/>
          <p:nvPr/>
        </p:nvSpPr>
        <p:spPr>
          <a:xfrm>
            <a:off x="4809744" y="1335024"/>
            <a:ext cx="4114800" cy="365760"/>
          </a:xfrm>
          <a:prstGeom prst="rect">
            <a:avLst/>
          </a:prstGeom>
          <a:solidFill>
            <a:srgbClr val="1A5276"/>
          </a:solidFill>
          <a:ln w="12700">
            <a:solidFill>
              <a:srgbClr val="1A5276"/>
            </a:solidFill>
            <a:prstDash val="solid"/>
          </a:ln>
        </p:spPr>
        <p:txBody>
          <a:bodyPr/>
          <a:lstStyle/>
          <a:p>
            <a:endParaRPr lang="es-MX"/>
          </a:p>
        </p:txBody>
      </p:sp>
      <p:sp>
        <p:nvSpPr>
          <p:cNvPr id="12" name="Text 10"/>
          <p:cNvSpPr/>
          <p:nvPr/>
        </p:nvSpPr>
        <p:spPr>
          <a:xfrm>
            <a:off x="4901184" y="1335024"/>
            <a:ext cx="3950208" cy="365760"/>
          </a:xfrm>
          <a:prstGeom prst="rect">
            <a:avLst/>
          </a:prstGeom>
          <a:noFill/>
          <a:ln/>
        </p:spPr>
        <p:txBody>
          <a:bodyPr wrap="square" lIns="0" tIns="0" rIns="0" bIns="0" rtlCol="0" anchor="ctr"/>
          <a:lstStyle/>
          <a:p>
            <a:pPr marL="0" indent="0">
              <a:buNone/>
            </a:pPr>
            <a:r>
              <a:rPr lang="en-US" sz="1100" b="1" dirty="0">
                <a:solidFill>
                  <a:srgbClr val="FFFFFF"/>
                </a:solidFill>
              </a:rPr>
              <a:t>Fase 2: Tres estrategias de imputacion</a:t>
            </a:r>
            <a:endParaRPr lang="en-US" sz="1100" dirty="0"/>
          </a:p>
        </p:txBody>
      </p:sp>
      <p:sp>
        <p:nvSpPr>
          <p:cNvPr id="13" name="Shape 11"/>
          <p:cNvSpPr/>
          <p:nvPr/>
        </p:nvSpPr>
        <p:spPr>
          <a:xfrm>
            <a:off x="4809744" y="1700784"/>
            <a:ext cx="4114800" cy="126187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4" name="Text 12"/>
          <p:cNvSpPr/>
          <p:nvPr/>
        </p:nvSpPr>
        <p:spPr>
          <a:xfrm>
            <a:off x="4919472" y="1792224"/>
            <a:ext cx="3913632" cy="1097280"/>
          </a:xfrm>
          <a:prstGeom prst="rect">
            <a:avLst/>
          </a:prstGeom>
          <a:noFill/>
          <a:ln/>
        </p:spPr>
        <p:txBody>
          <a:bodyPr wrap="square" lIns="0" tIns="0" rIns="0" bIns="0" rtlCol="0" anchor="ctr"/>
          <a:lstStyle/>
          <a:p>
            <a:pPr marL="0" indent="0">
              <a:buNone/>
            </a:pPr>
            <a:r>
              <a:rPr lang="en-US" sz="1050" dirty="0">
                <a:solidFill>
                  <a:srgbClr val="374151"/>
                </a:solidFill>
              </a:rPr>
              <a:t>Aplica SimpleImputer(mediana), KNNImputer(k=5) e IterativeImputer. Mide tiempo de ejecucion de cada uno.</a:t>
            </a:r>
            <a:endParaRPr lang="en-US" sz="1050" dirty="0"/>
          </a:p>
        </p:txBody>
      </p:sp>
      <p:sp>
        <p:nvSpPr>
          <p:cNvPr id="15" name="Shape 13"/>
          <p:cNvSpPr/>
          <p:nvPr/>
        </p:nvSpPr>
        <p:spPr>
          <a:xfrm>
            <a:off x="347472" y="3035808"/>
            <a:ext cx="4114800" cy="365760"/>
          </a:xfrm>
          <a:prstGeom prst="rect">
            <a:avLst/>
          </a:prstGeom>
          <a:solidFill>
            <a:srgbClr val="6C3483"/>
          </a:solidFill>
          <a:ln w="12700">
            <a:solidFill>
              <a:srgbClr val="6C3483"/>
            </a:solidFill>
            <a:prstDash val="solid"/>
          </a:ln>
        </p:spPr>
        <p:txBody>
          <a:bodyPr/>
          <a:lstStyle/>
          <a:p>
            <a:endParaRPr lang="es-MX"/>
          </a:p>
        </p:txBody>
      </p:sp>
      <p:sp>
        <p:nvSpPr>
          <p:cNvPr id="16" name="Text 14"/>
          <p:cNvSpPr/>
          <p:nvPr/>
        </p:nvSpPr>
        <p:spPr>
          <a:xfrm>
            <a:off x="438912" y="3035808"/>
            <a:ext cx="3950208" cy="365760"/>
          </a:xfrm>
          <a:prstGeom prst="rect">
            <a:avLst/>
          </a:prstGeom>
          <a:noFill/>
          <a:ln/>
        </p:spPr>
        <p:txBody>
          <a:bodyPr wrap="square" lIns="0" tIns="0" rIns="0" bIns="0" rtlCol="0" anchor="ctr"/>
          <a:lstStyle/>
          <a:p>
            <a:pPr marL="0" indent="0">
              <a:buNone/>
            </a:pPr>
            <a:r>
              <a:rPr lang="en-US" sz="1100" b="1" dirty="0">
                <a:solidFill>
                  <a:srgbClr val="FFFFFF"/>
                </a:solidFill>
              </a:rPr>
              <a:t>Fase 3: Evaluar el impacto</a:t>
            </a:r>
            <a:endParaRPr lang="en-US" sz="1100" dirty="0"/>
          </a:p>
        </p:txBody>
      </p:sp>
      <p:sp>
        <p:nvSpPr>
          <p:cNvPr id="17" name="Shape 15"/>
          <p:cNvSpPr/>
          <p:nvPr/>
        </p:nvSpPr>
        <p:spPr>
          <a:xfrm>
            <a:off x="347472" y="3401568"/>
            <a:ext cx="4114800" cy="126187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18" name="Text 16"/>
          <p:cNvSpPr/>
          <p:nvPr/>
        </p:nvSpPr>
        <p:spPr>
          <a:xfrm>
            <a:off x="457200" y="3493008"/>
            <a:ext cx="3913632" cy="1097280"/>
          </a:xfrm>
          <a:prstGeom prst="rect">
            <a:avLst/>
          </a:prstGeom>
          <a:noFill/>
          <a:ln/>
        </p:spPr>
        <p:txBody>
          <a:bodyPr wrap="square" lIns="0" tIns="0" rIns="0" bIns="0" rtlCol="0" anchor="ctr"/>
          <a:lstStyle/>
          <a:p>
            <a:pPr marL="0" indent="0">
              <a:buNone/>
            </a:pPr>
            <a:r>
              <a:rPr lang="en-US" sz="1050" dirty="0">
                <a:solidFill>
                  <a:srgbClr val="374151"/>
                </a:solidFill>
              </a:rPr>
              <a:t>Para prima_neta: compara histogramas y KS test entre las 3 estrategias. ¿Cual preserva mejor la distribucion original?</a:t>
            </a:r>
            <a:endParaRPr lang="en-US" sz="1050" dirty="0"/>
          </a:p>
        </p:txBody>
      </p:sp>
      <p:sp>
        <p:nvSpPr>
          <p:cNvPr id="19" name="Shape 17"/>
          <p:cNvSpPr/>
          <p:nvPr/>
        </p:nvSpPr>
        <p:spPr>
          <a:xfrm>
            <a:off x="4809744" y="3035808"/>
            <a:ext cx="4114800" cy="365760"/>
          </a:xfrm>
          <a:prstGeom prst="rect">
            <a:avLst/>
          </a:prstGeom>
          <a:solidFill>
            <a:srgbClr val="1E8449"/>
          </a:solidFill>
          <a:ln w="12700">
            <a:solidFill>
              <a:srgbClr val="1E8449"/>
            </a:solidFill>
            <a:prstDash val="solid"/>
          </a:ln>
        </p:spPr>
        <p:txBody>
          <a:bodyPr/>
          <a:lstStyle/>
          <a:p>
            <a:endParaRPr lang="es-MX"/>
          </a:p>
        </p:txBody>
      </p:sp>
      <p:sp>
        <p:nvSpPr>
          <p:cNvPr id="20" name="Text 18"/>
          <p:cNvSpPr/>
          <p:nvPr/>
        </p:nvSpPr>
        <p:spPr>
          <a:xfrm>
            <a:off x="4901184" y="3035808"/>
            <a:ext cx="3950208" cy="365760"/>
          </a:xfrm>
          <a:prstGeom prst="rect">
            <a:avLst/>
          </a:prstGeom>
          <a:noFill/>
          <a:ln/>
        </p:spPr>
        <p:txBody>
          <a:bodyPr wrap="square" lIns="0" tIns="0" rIns="0" bIns="0" rtlCol="0" anchor="ctr"/>
          <a:lstStyle/>
          <a:p>
            <a:pPr marL="0" indent="0">
              <a:buNone/>
            </a:pPr>
            <a:r>
              <a:rPr lang="en-US" sz="1100" b="1" dirty="0">
                <a:solidFill>
                  <a:srgbClr val="FFFFFF"/>
                </a:solidFill>
              </a:rPr>
              <a:t>Fase 4: Impacto en el modelo</a:t>
            </a:r>
            <a:endParaRPr lang="en-US" sz="1100" dirty="0"/>
          </a:p>
        </p:txBody>
      </p:sp>
      <p:sp>
        <p:nvSpPr>
          <p:cNvPr id="21" name="Shape 19"/>
          <p:cNvSpPr/>
          <p:nvPr/>
        </p:nvSpPr>
        <p:spPr>
          <a:xfrm>
            <a:off x="4809744" y="3401568"/>
            <a:ext cx="4114800" cy="1261872"/>
          </a:xfrm>
          <a:prstGeom prst="rect">
            <a:avLst/>
          </a:prstGeom>
          <a:solidFill>
            <a:srgbClr val="FFFFFF"/>
          </a:solidFill>
          <a:ln w="12700">
            <a:solidFill>
              <a:srgbClr val="FFFFFF"/>
            </a:solidFill>
            <a:prstDash val="solid"/>
          </a:ln>
          <a:effectLst>
            <a:outerShdw blurRad="101600" dist="38100" dir="8100000" algn="bl" rotWithShape="0">
              <a:srgbClr val="000000">
                <a:alpha val="10000"/>
              </a:srgbClr>
            </a:outerShdw>
          </a:effectLst>
        </p:spPr>
        <p:txBody>
          <a:bodyPr/>
          <a:lstStyle/>
          <a:p>
            <a:endParaRPr lang="es-MX"/>
          </a:p>
        </p:txBody>
      </p:sp>
      <p:sp>
        <p:nvSpPr>
          <p:cNvPr id="22" name="Text 20"/>
          <p:cNvSpPr/>
          <p:nvPr/>
        </p:nvSpPr>
        <p:spPr>
          <a:xfrm>
            <a:off x="4919472" y="3493008"/>
            <a:ext cx="3913632" cy="1097280"/>
          </a:xfrm>
          <a:prstGeom prst="rect">
            <a:avLst/>
          </a:prstGeom>
          <a:noFill/>
          <a:ln/>
        </p:spPr>
        <p:txBody>
          <a:bodyPr wrap="square" lIns="0" tIns="0" rIns="0" bIns="0" rtlCol="0" anchor="ctr"/>
          <a:lstStyle/>
          <a:p>
            <a:pPr marL="0" indent="0">
              <a:buNone/>
            </a:pPr>
            <a:r>
              <a:rPr lang="en-US" sz="1050" dirty="0">
                <a:solidFill>
                  <a:srgbClr val="374151"/>
                </a:solidFill>
              </a:rPr>
              <a:t>Entrena un LinearRegression dentro de un Pipeline con cada estrategia. Compara R2 y MAE. ¿Cual estrategia da mejor modelo?</a:t>
            </a:r>
            <a:endParaRPr lang="en-US" sz="1050" dirty="0"/>
          </a:p>
        </p:txBody>
      </p:sp>
      <p:sp>
        <p:nvSpPr>
          <p:cNvPr id="23" name="Shape 21"/>
          <p:cNvSpPr/>
          <p:nvPr/>
        </p:nvSpPr>
        <p:spPr>
          <a:xfrm>
            <a:off x="347472" y="4736592"/>
            <a:ext cx="8449056" cy="274320"/>
          </a:xfrm>
          <a:prstGeom prst="rect">
            <a:avLst/>
          </a:prstGeom>
          <a:solidFill>
            <a:srgbClr val="E37B2A">
              <a:alpha val="12000"/>
            </a:srgbClr>
          </a:solidFill>
          <a:ln w="12700">
            <a:solidFill>
              <a:srgbClr val="E37B2A"/>
            </a:solidFill>
            <a:prstDash val="solid"/>
          </a:ln>
        </p:spPr>
        <p:txBody>
          <a:bodyPr/>
          <a:lstStyle/>
          <a:p>
            <a:endParaRPr lang="es-MX"/>
          </a:p>
        </p:txBody>
      </p:sp>
      <p:sp>
        <p:nvSpPr>
          <p:cNvPr id="24" name="Text 22"/>
          <p:cNvSpPr/>
          <p:nvPr/>
        </p:nvSpPr>
        <p:spPr>
          <a:xfrm>
            <a:off x="475488" y="4754880"/>
            <a:ext cx="8229600" cy="237744"/>
          </a:xfrm>
          <a:prstGeom prst="rect">
            <a:avLst/>
          </a:prstGeom>
          <a:noFill/>
          <a:ln/>
        </p:spPr>
        <p:txBody>
          <a:bodyPr wrap="square" lIns="0" tIns="0" rIns="0" bIns="0" rtlCol="0" anchor="ctr"/>
          <a:lstStyle/>
          <a:p>
            <a:pPr marL="0" indent="0">
              <a:buNone/>
            </a:pPr>
            <a:r>
              <a:rPr lang="en-US" sz="950" dirty="0">
                <a:solidFill>
                  <a:srgbClr val="E37B2A"/>
                </a:solidFill>
              </a:rPr>
              <a:t>Las soluciones estan en soluciones_m2t2.py — ejecuta: python soluciones_m2t2.py</a:t>
            </a:r>
            <a:endParaRPr lang="en-US" sz="950" dirty="0"/>
          </a:p>
        </p:txBody>
      </p:sp>
      <p:sp>
        <p:nvSpPr>
          <p:cNvPr id="25" name="Shape 23"/>
          <p:cNvSpPr/>
          <p:nvPr/>
        </p:nvSpPr>
        <p:spPr>
          <a:xfrm>
            <a:off x="0" y="4892040"/>
            <a:ext cx="9144000" cy="251460"/>
          </a:xfrm>
          <a:prstGeom prst="rect">
            <a:avLst/>
          </a:prstGeom>
          <a:solidFill>
            <a:srgbClr val="071228"/>
          </a:solidFill>
          <a:ln w="12700">
            <a:solidFill>
              <a:srgbClr val="071228"/>
            </a:solidFill>
            <a:prstDash val="solid"/>
          </a:ln>
        </p:spPr>
        <p:txBody>
          <a:bodyPr/>
          <a:lstStyle/>
          <a:p>
            <a:endParaRPr lang="es-MX"/>
          </a:p>
        </p:txBody>
      </p:sp>
      <p:sp>
        <p:nvSpPr>
          <p:cNvPr id="26" name="Text 24"/>
          <p:cNvSpPr/>
          <p:nvPr/>
        </p:nvSpPr>
        <p:spPr>
          <a:xfrm>
            <a:off x="274320" y="4892040"/>
            <a:ext cx="8595360" cy="251460"/>
          </a:xfrm>
          <a:prstGeom prst="rect">
            <a:avLst/>
          </a:prstGeom>
          <a:noFill/>
          <a:ln/>
        </p:spPr>
        <p:txBody>
          <a:bodyPr wrap="square" lIns="0" tIns="0" rIns="0" bIns="0" rtlCol="0" anchor="ctr"/>
          <a:lstStyle/>
          <a:p>
            <a:pPr marL="0" indent="0" algn="r">
              <a:buNone/>
            </a:pPr>
            <a:r>
              <a:rPr lang="en-US" sz="850" dirty="0">
                <a:solidFill>
                  <a:srgbClr val="8FA3B1"/>
                </a:solidFill>
              </a:rPr>
              <a:t>Modulo 2 · T2 Imputacion Avanzada</a:t>
            </a:r>
            <a:endParaRPr lang="en-US" sz="850" dirty="0"/>
          </a:p>
        </p:txBody>
      </p:sp>
      <p:sp>
        <p:nvSpPr>
          <p:cNvPr id="27" name="Text 25"/>
          <p:cNvSpPr/>
          <p:nvPr/>
        </p:nvSpPr>
        <p:spPr>
          <a:xfrm>
            <a:off x="274320" y="4892040"/>
            <a:ext cx="5486400" cy="251460"/>
          </a:xfrm>
          <a:prstGeom prst="rect">
            <a:avLst/>
          </a:prstGeom>
          <a:noFill/>
          <a:ln/>
        </p:spPr>
        <p:txBody>
          <a:bodyPr wrap="square" lIns="0" tIns="0" rIns="0" bIns="0" rtlCol="0" anchor="ctr"/>
          <a:lstStyle/>
          <a:p>
            <a:pPr marL="0" indent="0" algn="l">
              <a:buNone/>
            </a:pPr>
            <a:r>
              <a:rPr lang="en-US" sz="850" dirty="0">
                <a:solidFill>
                  <a:srgbClr val="A8D8EA"/>
                </a:solidFill>
              </a:rPr>
              <a:t>Ejercicio integrador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A8A"/>
          </a:solidFill>
          <a:ln w="12700">
            <a:solidFill>
              <a:srgbClr val="0D7A8A"/>
            </a:solidFill>
            <a:prstDash val="solid"/>
          </a:ln>
        </p:spPr>
        <p:txBody>
          <a:bodyPr/>
          <a:lstStyle/>
          <a:p>
            <a:endParaRPr lang="es-MX"/>
          </a:p>
        </p:txBody>
      </p:sp>
      <p:sp>
        <p:nvSpPr>
          <p:cNvPr id="3" name="Shape 1"/>
          <p:cNvSpPr/>
          <p:nvPr/>
        </p:nvSpPr>
        <p:spPr>
          <a:xfrm>
            <a:off x="0" y="4407408"/>
            <a:ext cx="9144000" cy="749808"/>
          </a:xfrm>
          <a:prstGeom prst="rect">
            <a:avLst/>
          </a:prstGeom>
          <a:solidFill>
            <a:srgbClr val="071228"/>
          </a:solidFill>
          <a:ln w="12700">
            <a:solidFill>
              <a:srgbClr val="071228"/>
            </a:solidFill>
            <a:prstDash val="solid"/>
          </a:ln>
        </p:spPr>
        <p:txBody>
          <a:bodyPr/>
          <a:lstStyle/>
          <a:p>
            <a:endParaRPr lang="es-MX"/>
          </a:p>
        </p:txBody>
      </p:sp>
      <p:sp>
        <p:nvSpPr>
          <p:cNvPr id="4" name="Text 2"/>
          <p:cNvSpPr/>
          <p:nvPr/>
        </p:nvSpPr>
        <p:spPr>
          <a:xfrm>
            <a:off x="411480" y="201168"/>
            <a:ext cx="8229600" cy="420624"/>
          </a:xfrm>
          <a:prstGeom prst="rect">
            <a:avLst/>
          </a:prstGeom>
          <a:noFill/>
          <a:ln/>
        </p:spPr>
        <p:txBody>
          <a:bodyPr wrap="square" lIns="0" tIns="0" rIns="0" bIns="0" rtlCol="0" anchor="ctr"/>
          <a:lstStyle/>
          <a:p>
            <a:pPr marL="0" indent="0">
              <a:buNone/>
            </a:pPr>
            <a:r>
              <a:rPr lang="en-US" sz="2200" b="1" dirty="0">
                <a:solidFill>
                  <a:srgbClr val="A8D8EA"/>
                </a:solidFill>
              </a:rPr>
              <a:t>Resumen — Imputacion Avanzada</a:t>
            </a:r>
            <a:endParaRPr lang="en-US" sz="2200" dirty="0"/>
          </a:p>
        </p:txBody>
      </p:sp>
      <p:sp>
        <p:nvSpPr>
          <p:cNvPr id="5" name="Text 3"/>
          <p:cNvSpPr/>
          <p:nvPr/>
        </p:nvSpPr>
        <p:spPr>
          <a:xfrm>
            <a:off x="411480" y="640080"/>
            <a:ext cx="8229600" cy="237744"/>
          </a:xfrm>
          <a:prstGeom prst="rect">
            <a:avLst/>
          </a:prstGeom>
          <a:noFill/>
          <a:ln/>
        </p:spPr>
        <p:txBody>
          <a:bodyPr wrap="square" lIns="0" tIns="0" rIns="0" bIns="0" rtlCol="0" anchor="ctr"/>
          <a:lstStyle/>
          <a:p>
            <a:pPr marL="0" indent="0">
              <a:buNone/>
            </a:pPr>
            <a:r>
              <a:rPr lang="en-US" sz="1200" dirty="0">
                <a:solidFill>
                  <a:srgbClr val="8FA3B1"/>
                </a:solidFill>
              </a:rPr>
              <a:t>Modulo 2 · Tema 2</a:t>
            </a:r>
            <a:endParaRPr lang="en-US" sz="1200" dirty="0"/>
          </a:p>
        </p:txBody>
      </p:sp>
      <p:pic>
        <p:nvPicPr>
          <p:cNvPr id="6" name="Image 0" descr="preencoded.png"/>
          <p:cNvPicPr>
            <a:picLocks noChangeAspect="1"/>
          </p:cNvPicPr>
          <p:nvPr/>
        </p:nvPicPr>
        <p:blipFill>
          <a:blip r:embed="rId3"/>
          <a:stretch>
            <a:fillRect/>
          </a:stretch>
        </p:blipFill>
        <p:spPr>
          <a:xfrm>
            <a:off x="411480" y="1115568"/>
            <a:ext cx="201168" cy="201168"/>
          </a:xfrm>
          <a:prstGeom prst="rect">
            <a:avLst/>
          </a:prstGeom>
        </p:spPr>
      </p:pic>
      <p:sp>
        <p:nvSpPr>
          <p:cNvPr id="7" name="Text 4"/>
          <p:cNvSpPr/>
          <p:nvPr/>
        </p:nvSpPr>
        <p:spPr>
          <a:xfrm>
            <a:off x="694944" y="1097280"/>
            <a:ext cx="8046720" cy="274320"/>
          </a:xfrm>
          <a:prstGeom prst="rect">
            <a:avLst/>
          </a:prstGeom>
          <a:noFill/>
          <a:ln/>
        </p:spPr>
        <p:txBody>
          <a:bodyPr wrap="square" lIns="0" tIns="0" rIns="0" bIns="0" rtlCol="0" anchor="ctr"/>
          <a:lstStyle/>
          <a:p>
            <a:pPr marL="0" indent="0">
              <a:buNone/>
            </a:pPr>
            <a:r>
              <a:rPr lang="en-US" sz="1200" dirty="0">
                <a:solidFill>
                  <a:srgbClr val="F0F4F8"/>
                </a:solidFill>
              </a:rPr>
              <a:t>MCAR / MAR / MNAR — diagnosticar el tipo antes de elegir la estrategia</a:t>
            </a:r>
            <a:endParaRPr lang="en-US" sz="1200" dirty="0"/>
          </a:p>
        </p:txBody>
      </p:sp>
      <p:pic>
        <p:nvPicPr>
          <p:cNvPr id="8" name="Image 1" descr="preencoded.png"/>
          <p:cNvPicPr>
            <a:picLocks noChangeAspect="1"/>
          </p:cNvPicPr>
          <p:nvPr/>
        </p:nvPicPr>
        <p:blipFill>
          <a:blip r:embed="rId3"/>
          <a:stretch>
            <a:fillRect/>
          </a:stretch>
        </p:blipFill>
        <p:spPr>
          <a:xfrm>
            <a:off x="411480" y="1536192"/>
            <a:ext cx="201168" cy="201168"/>
          </a:xfrm>
          <a:prstGeom prst="rect">
            <a:avLst/>
          </a:prstGeom>
        </p:spPr>
      </p:pic>
      <p:sp>
        <p:nvSpPr>
          <p:cNvPr id="9" name="Text 5"/>
          <p:cNvSpPr/>
          <p:nvPr/>
        </p:nvSpPr>
        <p:spPr>
          <a:xfrm>
            <a:off x="694944" y="1517904"/>
            <a:ext cx="8046720" cy="274320"/>
          </a:xfrm>
          <a:prstGeom prst="rect">
            <a:avLst/>
          </a:prstGeom>
          <a:noFill/>
          <a:ln/>
        </p:spPr>
        <p:txBody>
          <a:bodyPr wrap="square" lIns="0" tIns="0" rIns="0" bIns="0" rtlCol="0" anchor="ctr"/>
          <a:lstStyle/>
          <a:p>
            <a:pPr marL="0" indent="0">
              <a:buNone/>
            </a:pPr>
            <a:r>
              <a:rPr lang="en-US" sz="1200" dirty="0">
                <a:solidFill>
                  <a:srgbClr val="F0F4F8"/>
                </a:solidFill>
              </a:rPr>
              <a:t>SimpleImputer — media, mediana, moda, constante — rapido y transparente</a:t>
            </a:r>
            <a:endParaRPr lang="en-US" sz="1200" dirty="0"/>
          </a:p>
        </p:txBody>
      </p:sp>
      <p:pic>
        <p:nvPicPr>
          <p:cNvPr id="10" name="Image 2" descr="preencoded.png"/>
          <p:cNvPicPr>
            <a:picLocks noChangeAspect="1"/>
          </p:cNvPicPr>
          <p:nvPr/>
        </p:nvPicPr>
        <p:blipFill>
          <a:blip r:embed="rId3"/>
          <a:stretch>
            <a:fillRect/>
          </a:stretch>
        </p:blipFill>
        <p:spPr>
          <a:xfrm>
            <a:off x="411480" y="1956816"/>
            <a:ext cx="201168" cy="201168"/>
          </a:xfrm>
          <a:prstGeom prst="rect">
            <a:avLst/>
          </a:prstGeom>
        </p:spPr>
      </p:pic>
      <p:sp>
        <p:nvSpPr>
          <p:cNvPr id="11" name="Text 6"/>
          <p:cNvSpPr/>
          <p:nvPr/>
        </p:nvSpPr>
        <p:spPr>
          <a:xfrm>
            <a:off x="694944" y="1938528"/>
            <a:ext cx="8046720" cy="274320"/>
          </a:xfrm>
          <a:prstGeom prst="rect">
            <a:avLst/>
          </a:prstGeom>
          <a:noFill/>
          <a:ln/>
        </p:spPr>
        <p:txBody>
          <a:bodyPr wrap="square" lIns="0" tIns="0" rIns="0" bIns="0" rtlCol="0" anchor="ctr"/>
          <a:lstStyle/>
          <a:p>
            <a:pPr marL="0" indent="0">
              <a:buNone/>
            </a:pPr>
            <a:r>
              <a:rPr lang="en-US" sz="1200" dirty="0">
                <a:solidFill>
                  <a:srgbClr val="F0F4F8"/>
                </a:solidFill>
              </a:rPr>
              <a:t>KNNImputer — usa el contexto local de cada registro — normalizar siempre</a:t>
            </a:r>
            <a:endParaRPr lang="en-US" sz="1200" dirty="0"/>
          </a:p>
        </p:txBody>
      </p:sp>
      <p:pic>
        <p:nvPicPr>
          <p:cNvPr id="12" name="Image 3" descr="preencoded.png"/>
          <p:cNvPicPr>
            <a:picLocks noChangeAspect="1"/>
          </p:cNvPicPr>
          <p:nvPr/>
        </p:nvPicPr>
        <p:blipFill>
          <a:blip r:embed="rId3"/>
          <a:stretch>
            <a:fillRect/>
          </a:stretch>
        </p:blipFill>
        <p:spPr>
          <a:xfrm>
            <a:off x="411480" y="2377440"/>
            <a:ext cx="201168" cy="201168"/>
          </a:xfrm>
          <a:prstGeom prst="rect">
            <a:avLst/>
          </a:prstGeom>
        </p:spPr>
      </p:pic>
      <p:sp>
        <p:nvSpPr>
          <p:cNvPr id="13" name="Text 7"/>
          <p:cNvSpPr/>
          <p:nvPr/>
        </p:nvSpPr>
        <p:spPr>
          <a:xfrm>
            <a:off x="694944" y="2359152"/>
            <a:ext cx="8046720" cy="274320"/>
          </a:xfrm>
          <a:prstGeom prst="rect">
            <a:avLst/>
          </a:prstGeom>
          <a:noFill/>
          <a:ln/>
        </p:spPr>
        <p:txBody>
          <a:bodyPr wrap="square" lIns="0" tIns="0" rIns="0" bIns="0" rtlCol="0" anchor="ctr"/>
          <a:lstStyle/>
          <a:p>
            <a:pPr marL="0" indent="0">
              <a:buNone/>
            </a:pPr>
            <a:r>
              <a:rPr lang="en-US" sz="1200" dirty="0">
                <a:solidFill>
                  <a:srgbClr val="F0F4F8"/>
                </a:solidFill>
              </a:rPr>
              <a:t>IterativeImputer (MICE) — el gold standard — modela cada columna con las demas</a:t>
            </a:r>
            <a:endParaRPr lang="en-US" sz="1200" dirty="0"/>
          </a:p>
        </p:txBody>
      </p:sp>
      <p:pic>
        <p:nvPicPr>
          <p:cNvPr id="14" name="Image 4" descr="preencoded.png"/>
          <p:cNvPicPr>
            <a:picLocks noChangeAspect="1"/>
          </p:cNvPicPr>
          <p:nvPr/>
        </p:nvPicPr>
        <p:blipFill>
          <a:blip r:embed="rId3"/>
          <a:stretch>
            <a:fillRect/>
          </a:stretch>
        </p:blipFill>
        <p:spPr>
          <a:xfrm>
            <a:off x="411480" y="2798064"/>
            <a:ext cx="201168" cy="201168"/>
          </a:xfrm>
          <a:prstGeom prst="rect">
            <a:avLst/>
          </a:prstGeom>
        </p:spPr>
      </p:pic>
      <p:sp>
        <p:nvSpPr>
          <p:cNvPr id="15" name="Text 8"/>
          <p:cNvSpPr/>
          <p:nvPr/>
        </p:nvSpPr>
        <p:spPr>
          <a:xfrm>
            <a:off x="694944" y="2779776"/>
            <a:ext cx="8046720" cy="274320"/>
          </a:xfrm>
          <a:prstGeom prst="rect">
            <a:avLst/>
          </a:prstGeom>
          <a:noFill/>
          <a:ln/>
        </p:spPr>
        <p:txBody>
          <a:bodyPr wrap="square" lIns="0" tIns="0" rIns="0" bIns="0" rtlCol="0" anchor="ctr"/>
          <a:lstStyle/>
          <a:p>
            <a:pPr marL="0" indent="0">
              <a:buNone/>
            </a:pPr>
            <a:r>
              <a:rPr lang="en-US" sz="1200" dirty="0">
                <a:solidFill>
                  <a:srgbClr val="F0F4F8"/>
                </a:solidFill>
              </a:rPr>
              <a:t>Evaluar impacto — histogramas, KS test, comparar correlaciones</a:t>
            </a:r>
            <a:endParaRPr lang="en-US" sz="1200" dirty="0"/>
          </a:p>
        </p:txBody>
      </p:sp>
      <p:pic>
        <p:nvPicPr>
          <p:cNvPr id="16" name="Image 5" descr="preencoded.png"/>
          <p:cNvPicPr>
            <a:picLocks noChangeAspect="1"/>
          </p:cNvPicPr>
          <p:nvPr/>
        </p:nvPicPr>
        <p:blipFill>
          <a:blip r:embed="rId3"/>
          <a:stretch>
            <a:fillRect/>
          </a:stretch>
        </p:blipFill>
        <p:spPr>
          <a:xfrm>
            <a:off x="411480" y="3218688"/>
            <a:ext cx="201168" cy="201168"/>
          </a:xfrm>
          <a:prstGeom prst="rect">
            <a:avLst/>
          </a:prstGeom>
        </p:spPr>
      </p:pic>
      <p:sp>
        <p:nvSpPr>
          <p:cNvPr id="17" name="Text 9"/>
          <p:cNvSpPr/>
          <p:nvPr/>
        </p:nvSpPr>
        <p:spPr>
          <a:xfrm>
            <a:off x="694944" y="3200400"/>
            <a:ext cx="8046720" cy="274320"/>
          </a:xfrm>
          <a:prstGeom prst="rect">
            <a:avLst/>
          </a:prstGeom>
          <a:noFill/>
          <a:ln/>
        </p:spPr>
        <p:txBody>
          <a:bodyPr wrap="square" lIns="0" tIns="0" rIns="0" bIns="0" rtlCol="0" anchor="ctr"/>
          <a:lstStyle/>
          <a:p>
            <a:pPr marL="0" indent="0">
              <a:buNone/>
            </a:pPr>
            <a:r>
              <a:rPr lang="en-US" sz="1200" dirty="0">
                <a:solidFill>
                  <a:srgbClr val="F0F4F8"/>
                </a:solidFill>
              </a:rPr>
              <a:t>Pipeline sklearn — imputacion + escalado + modelo en un solo objeto reproducible</a:t>
            </a:r>
            <a:endParaRPr lang="en-US" sz="1200" dirty="0"/>
          </a:p>
        </p:txBody>
      </p:sp>
      <p:pic>
        <p:nvPicPr>
          <p:cNvPr id="18" name="Image 6" descr="preencoded.png"/>
          <p:cNvPicPr>
            <a:picLocks noChangeAspect="1"/>
          </p:cNvPicPr>
          <p:nvPr/>
        </p:nvPicPr>
        <p:blipFill>
          <a:blip r:embed="rId3"/>
          <a:stretch>
            <a:fillRect/>
          </a:stretch>
        </p:blipFill>
        <p:spPr>
          <a:xfrm>
            <a:off x="411480" y="3639312"/>
            <a:ext cx="201168" cy="201168"/>
          </a:xfrm>
          <a:prstGeom prst="rect">
            <a:avLst/>
          </a:prstGeom>
        </p:spPr>
      </p:pic>
      <p:sp>
        <p:nvSpPr>
          <p:cNvPr id="19" name="Text 10"/>
          <p:cNvSpPr/>
          <p:nvPr/>
        </p:nvSpPr>
        <p:spPr>
          <a:xfrm>
            <a:off x="694944" y="3621024"/>
            <a:ext cx="8046720" cy="274320"/>
          </a:xfrm>
          <a:prstGeom prst="rect">
            <a:avLst/>
          </a:prstGeom>
          <a:noFill/>
          <a:ln/>
        </p:spPr>
        <p:txBody>
          <a:bodyPr wrap="square" lIns="0" tIns="0" rIns="0" bIns="0" rtlCol="0" anchor="ctr"/>
          <a:lstStyle/>
          <a:p>
            <a:pPr marL="0" indent="0">
              <a:buNone/>
            </a:pPr>
            <a:r>
              <a:rPr lang="en-US" sz="1200" dirty="0">
                <a:solidFill>
                  <a:srgbClr val="F0F4F8"/>
                </a:solidFill>
              </a:rPr>
              <a:t>Data leakage — fit() solo en train, nunca en test</a:t>
            </a:r>
            <a:endParaRPr lang="en-US" sz="1200" dirty="0"/>
          </a:p>
        </p:txBody>
      </p:sp>
      <p:sp>
        <p:nvSpPr>
          <p:cNvPr id="20" name="Shape 11"/>
          <p:cNvSpPr/>
          <p:nvPr/>
        </p:nvSpPr>
        <p:spPr>
          <a:xfrm>
            <a:off x="411480" y="4078224"/>
            <a:ext cx="8321040" cy="274320"/>
          </a:xfrm>
          <a:prstGeom prst="rect">
            <a:avLst/>
          </a:prstGeom>
          <a:solidFill>
            <a:srgbClr val="1A5276"/>
          </a:solidFill>
          <a:ln w="12700">
            <a:solidFill>
              <a:srgbClr val="1A5276"/>
            </a:solidFill>
            <a:prstDash val="solid"/>
          </a:ln>
          <a:effectLst>
            <a:outerShdw blurRad="101600" dist="38100" dir="8100000" algn="bl" rotWithShape="0">
              <a:srgbClr val="000000">
                <a:alpha val="10000"/>
              </a:srgbClr>
            </a:outerShdw>
          </a:effectLst>
        </p:spPr>
        <p:txBody>
          <a:bodyPr/>
          <a:lstStyle/>
          <a:p>
            <a:endParaRPr lang="es-MX"/>
          </a:p>
        </p:txBody>
      </p:sp>
      <p:pic>
        <p:nvPicPr>
          <p:cNvPr id="21" name="Image 7" descr="preencoded.png"/>
          <p:cNvPicPr>
            <a:picLocks noChangeAspect="1"/>
          </p:cNvPicPr>
          <p:nvPr/>
        </p:nvPicPr>
        <p:blipFill>
          <a:blip r:embed="rId4"/>
          <a:stretch>
            <a:fillRect/>
          </a:stretch>
        </p:blipFill>
        <p:spPr>
          <a:xfrm>
            <a:off x="566928" y="4114800"/>
            <a:ext cx="182880" cy="182880"/>
          </a:xfrm>
          <a:prstGeom prst="rect">
            <a:avLst/>
          </a:prstGeom>
        </p:spPr>
      </p:pic>
      <p:sp>
        <p:nvSpPr>
          <p:cNvPr id="22" name="Text 12"/>
          <p:cNvSpPr/>
          <p:nvPr/>
        </p:nvSpPr>
        <p:spPr>
          <a:xfrm>
            <a:off x="841248" y="4105656"/>
            <a:ext cx="7589520" cy="237744"/>
          </a:xfrm>
          <a:prstGeom prst="rect">
            <a:avLst/>
          </a:prstGeom>
          <a:noFill/>
          <a:ln/>
        </p:spPr>
        <p:txBody>
          <a:bodyPr wrap="square" lIns="0" tIns="0" rIns="0" bIns="0" rtlCol="0" anchor="ctr"/>
          <a:lstStyle/>
          <a:p>
            <a:pPr marL="0" indent="0">
              <a:buNone/>
            </a:pPr>
            <a:r>
              <a:rPr lang="en-US" sz="1050" b="1" dirty="0">
                <a:solidFill>
                  <a:srgbClr val="FFFFFF"/>
                </a:solidFill>
              </a:rPr>
              <a:t>Proximo tema: Karla — T3 Transformaciones de Datos para Modelos Predictivos</a:t>
            </a:r>
            <a:endParaRPr lang="en-US" sz="1050" dirty="0"/>
          </a:p>
        </p:txBody>
      </p:sp>
      <p:sp>
        <p:nvSpPr>
          <p:cNvPr id="23" name="Text 13"/>
          <p:cNvSpPr/>
          <p:nvPr/>
        </p:nvSpPr>
        <p:spPr>
          <a:xfrm>
            <a:off x="274320" y="4480560"/>
            <a:ext cx="8595360" cy="219456"/>
          </a:xfrm>
          <a:prstGeom prst="rect">
            <a:avLst/>
          </a:prstGeom>
          <a:noFill/>
          <a:ln/>
        </p:spPr>
        <p:txBody>
          <a:bodyPr wrap="square" lIns="0" tIns="0" rIns="0" bIns="0" rtlCol="0" anchor="ctr"/>
          <a:lstStyle/>
          <a:p>
            <a:pPr marL="0" indent="0" algn="ctr">
              <a:buNone/>
            </a:pPr>
            <a:r>
              <a:rPr lang="en-US" sz="900" dirty="0">
                <a:solidFill>
                  <a:srgbClr val="8FA3B1"/>
                </a:solidFill>
              </a:rPr>
              <a:t>Facultad de Ciencias · UNAM  ·  Diplomado ML en Seguros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2682</Words>
  <Application>Microsoft Office PowerPoint</Application>
  <PresentationFormat>Presentación en pantalla (16:9)</PresentationFormat>
  <Paragraphs>331</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ERIC DANIEL HERNANDEZ JARDON</cp:lastModifiedBy>
  <cp:revision>3</cp:revision>
  <dcterms:created xsi:type="dcterms:W3CDTF">2026-05-30T20:02:03Z</dcterms:created>
  <dcterms:modified xsi:type="dcterms:W3CDTF">2026-05-30T21:26:06Z</dcterms:modified>
</cp:coreProperties>
</file>
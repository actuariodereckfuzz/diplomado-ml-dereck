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9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24016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Sesión 1 del Tema 1. Arrancamos el módulo de cierre: aquí presentamos los resultados de los GLM del Módulo 4 en un tablero interactivo. Meta de hoy: dejar un dashboard mínimo corriendo en su máquina.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Repasar la agenda. Recordar que las sesiones entre semana se graban; hoy es sábado presencial por Zoom. El grueso del tiempo es codificar en vivo, no ver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punto: no reemplazamos el notebook, lo presentamos. El dashboard es la capa de comunicación sobre los modelos que ya hicimos.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Estas son las cifras reales de la cartera. Las tarjetas del tablero mostrarán exactamente estos KPIs, recalculados según los filtros que ponga el usuario.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 estas cuatro familias se arma el 90% de un tablero. Todo lo demás es composición.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Ésta es la idea mental de Streamlit: rerun completo. Contrastará con el modelo reactivo de Shiny más adelante. El caché existe precisamente por este rerun.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Insistir en la ponderación: promedios simples dan mal los KPIs actuariales. La identidad prima pura = frecuencia × severidad es nuestra prueba de sanidad.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mensaje pedagógico central de la sesión: separar la definición de la lógica (notebook) de su presentación (app).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los dos apps corriendo lado a lado. El objetivo no es que dominen Shiny, sino que entiendan el cambio de mentalidad: rerun vs. reactividad. Útil para quien venga de R/Shiny.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ejercicio reusa las funciones del notebook. Se entrega por GitHub, como en módulos anteriores.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recordar el push a GitHub y adelantar la Sesión 2 (Bloque B): tarjetas de KPI actuariales, ratios y el simulador de tarifa del integrador de M4.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206240" cy="420624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2A9D8F">
              <a:alpha val="3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 txBox="1"/>
          <p:nvPr/>
        </p:nvSpPr>
        <p:spPr>
          <a:xfrm>
            <a:off x="640080" y="2148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· TEMA 1 · SESIÓN 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56032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Dashboards Interactivos con Python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886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modelo a la presentación de resultados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D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Diplomado Machine Learning en Seguros · Facultad de Ciencias, UNAM · Eric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SÁBADO · 07:00–11:00 · ~4 HORAS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de la sesión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 txBox="1"/>
          <p:nvPr/>
        </p:nvSpPr>
        <p:spPr>
          <a:xfrm>
            <a:off x="68580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0078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Encuadre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206240" y="1700784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un dashboard cierra el diplomado. Dashboard vs. notebook vs. reporte.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2487168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 txBox="1"/>
          <p:nvPr/>
        </p:nvSpPr>
        <p:spPr>
          <a:xfrm>
            <a:off x="685800" y="2487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45059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206240" y="2450592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en el entorno diplomado. streamlit run. Estructura del proyecto.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323697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 txBox="1"/>
          <p:nvPr/>
        </p:nvSpPr>
        <p:spPr>
          <a:xfrm>
            <a:off x="685800" y="3236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2004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206240" y="320040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Cargar la cartera de M4, validar y definir los KPIs base.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85800" y="3986784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 txBox="1"/>
          <p:nvPr/>
        </p:nvSpPr>
        <p:spPr>
          <a:xfrm>
            <a:off x="685800" y="3986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39502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 fondo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206240" y="3950208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Layout, widgets, el modelo de rerun y el caché de datos.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85800" y="473659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 txBox="1"/>
          <p:nvPr/>
        </p:nvSpPr>
        <p:spPr>
          <a:xfrm>
            <a:off x="685800" y="4736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470001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 mínimo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4206240" y="4700016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→ tabla → gráficos → tarjetas de KPI, en vivo.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85800" y="5486400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 txBox="1"/>
          <p:nvPr/>
        </p:nvSpPr>
        <p:spPr>
          <a:xfrm>
            <a:off x="685800" y="5486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1325880" y="544982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Shiny + cierre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4206240" y="5449824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tablero en Shiny for Python; ejercicio y push a GitHub.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UN DASHBOARD?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formas de comunicar un análisis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F1F5F8"/>
          </a:solidFill>
          <a:ln/>
          <a:effectLst>
            <a:outerShdw blurRad="76200" dist="25400" dir="5400000" algn="bl" rotWithShape="0">
              <a:srgbClr val="9AA9B5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960120" y="2148840"/>
            <a:ext cx="640080" cy="640080"/>
          </a:xfrm>
          <a:prstGeom prst="ellipse">
            <a:avLst/>
          </a:prstGeom>
          <a:solidFill>
            <a:srgbClr val="6B7C8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 txBox="1"/>
          <p:nvPr/>
        </p:nvSpPr>
        <p:spPr>
          <a:xfrm>
            <a:off x="96012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971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estático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47472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/ Word. Fijo. Se lee, no se explora. Perfecto para dejar constancia.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80560" y="182880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F1F5F8"/>
          </a:solidFill>
          <a:ln/>
          <a:effectLst>
            <a:outerShdw blurRad="76200" dist="25400" dir="5400000" algn="bl" rotWithShape="0">
              <a:srgbClr val="9AA9B5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4754880" y="21488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 txBox="1"/>
          <p:nvPr/>
        </p:nvSpPr>
        <p:spPr>
          <a:xfrm>
            <a:off x="475488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📓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2971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347472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+ resultados. Poderoso para analizar, pero pide saber Python y correr celdas.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75320" y="182880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E8F3F1"/>
          </a:solidFill>
          <a:ln/>
          <a:effectLst>
            <a:outerShdw blurRad="76200" dist="25400" dir="5400000" algn="bl" rotWithShape="0">
              <a:srgbClr val="9AA9B5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5" name="Shape 13"/>
          <p:cNvSpPr/>
          <p:nvPr/>
        </p:nvSpPr>
        <p:spPr>
          <a:xfrm>
            <a:off x="8549640" y="2148840"/>
            <a:ext cx="640080" cy="640080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 txBox="1"/>
          <p:nvPr/>
        </p:nvSpPr>
        <p:spPr>
          <a:xfrm>
            <a:off x="854964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549640" y="2971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549640" y="347472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Interactivo. El usuario filtra y explora sin tocar código. Se comparte con un link.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57150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módulo de cierre pasamos del notebook al dashboard: el mismo análisis, ahora explorable y compartible.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CONSTRUIMOS HOY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tablero sobre la cartera del Módulo 4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916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Tomamos la misma cartera de auto de M4 y montamos un tablero mínimo: filtros, tabla, gráficos y tarjetas de KPI.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514600"/>
            <a:ext cx="3429000" cy="1463040"/>
          </a:xfrm>
          <a:prstGeom prst="roundRect">
            <a:avLst>
              <a:gd name="adj" fmla="val 5000"/>
            </a:avLst>
          </a:prstGeom>
          <a:solidFill>
            <a:srgbClr val="F1F5F8"/>
          </a:solidFill>
          <a:ln/>
          <a:effectLst>
            <a:outerShdw blurRad="76200" dist="25400" dir="5400000" algn="bl" rotWithShape="0">
              <a:srgbClr val="9AA9B5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 txBox="1"/>
          <p:nvPr/>
        </p:nvSpPr>
        <p:spPr>
          <a:xfrm>
            <a:off x="914400" y="269748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163,212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44728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pólizas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80560" y="2514600"/>
            <a:ext cx="3429000" cy="1463040"/>
          </a:xfrm>
          <a:prstGeom prst="roundRect">
            <a:avLst>
              <a:gd name="adj" fmla="val 5000"/>
            </a:avLst>
          </a:prstGeom>
          <a:solidFill>
            <a:srgbClr val="F1F5F8"/>
          </a:solidFill>
          <a:ln/>
          <a:effectLst>
            <a:outerShdw blurRad="76200" dist="25400" dir="5400000" algn="bl" rotWithShape="0">
              <a:srgbClr val="9AA9B5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 txBox="1"/>
          <p:nvPr/>
        </p:nvSpPr>
        <p:spPr>
          <a:xfrm>
            <a:off x="4709160" y="269748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145,217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4709160" y="344728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años-póliza expuestos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75320" y="2514600"/>
            <a:ext cx="3429000" cy="1463040"/>
          </a:xfrm>
          <a:prstGeom prst="roundRect">
            <a:avLst>
              <a:gd name="adj" fmla="val 5000"/>
            </a:avLst>
          </a:prstGeom>
          <a:solidFill>
            <a:srgbClr val="F1F5F8"/>
          </a:solidFill>
          <a:ln/>
          <a:effectLst>
            <a:outerShdw blurRad="76200" dist="25400" dir="5400000" algn="bl" rotWithShape="0">
              <a:srgbClr val="9AA9B5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 txBox="1"/>
          <p:nvPr/>
        </p:nvSpPr>
        <p:spPr>
          <a:xfrm>
            <a:off x="8503920" y="269748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20,215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8503920" y="344728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siniestros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4206240"/>
            <a:ext cx="3429000" cy="1463040"/>
          </a:xfrm>
          <a:prstGeom prst="roundRect">
            <a:avLst>
              <a:gd name="adj" fmla="val 5000"/>
            </a:avLst>
          </a:prstGeom>
          <a:solidFill>
            <a:srgbClr val="F1F5F8"/>
          </a:solidFill>
          <a:ln/>
          <a:effectLst>
            <a:outerShdw blurRad="76200" dist="25400" dir="5400000" algn="bl" rotWithShape="0">
              <a:srgbClr val="9AA9B5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 txBox="1"/>
          <p:nvPr/>
        </p:nvSpPr>
        <p:spPr>
          <a:xfrm>
            <a:off x="914400" y="438912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0.1392</a:t>
            </a:r>
            <a:endParaRPr lang="en-US" sz="32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513892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frecuencia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480560" y="4206240"/>
            <a:ext cx="3429000" cy="1463040"/>
          </a:xfrm>
          <a:prstGeom prst="roundRect">
            <a:avLst>
              <a:gd name="adj" fmla="val 5000"/>
            </a:avLst>
          </a:prstGeom>
          <a:solidFill>
            <a:srgbClr val="F1F5F8"/>
          </a:solidFill>
          <a:ln/>
          <a:effectLst>
            <a:outerShdw blurRad="76200" dist="25400" dir="5400000" algn="bl" rotWithShape="0">
              <a:srgbClr val="9AA9B5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 txBox="1"/>
          <p:nvPr/>
        </p:nvSpPr>
        <p:spPr>
          <a:xfrm>
            <a:off x="4709160" y="438912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$1,309</a:t>
            </a:r>
            <a:endParaRPr lang="en-US" sz="3200" dirty="0"/>
          </a:p>
        </p:txBody>
      </p:sp>
      <p:sp>
        <p:nvSpPr>
          <p:cNvPr id="19" name="Text 17"/>
          <p:cNvSpPr txBox="1"/>
          <p:nvPr/>
        </p:nvSpPr>
        <p:spPr>
          <a:xfrm>
            <a:off x="4709160" y="513892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severidad media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275320" y="4206240"/>
            <a:ext cx="3429000" cy="1463040"/>
          </a:xfrm>
          <a:prstGeom prst="roundRect">
            <a:avLst>
              <a:gd name="adj" fmla="val 5000"/>
            </a:avLst>
          </a:prstGeom>
          <a:solidFill>
            <a:srgbClr val="F1F5F8"/>
          </a:solidFill>
          <a:ln/>
          <a:effectLst>
            <a:outerShdw blurRad="76200" dist="25400" dir="5400000" algn="bl" rotWithShape="0">
              <a:srgbClr val="9AA9B5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 txBox="1"/>
          <p:nvPr/>
        </p:nvSpPr>
        <p:spPr>
          <a:xfrm>
            <a:off x="8503920" y="438912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$182.24</a:t>
            </a:r>
            <a:endParaRPr lang="en-US" sz="3200" dirty="0"/>
          </a:p>
        </p:txBody>
      </p:sp>
      <p:sp>
        <p:nvSpPr>
          <p:cNvPr id="22" name="Text 20"/>
          <p:cNvSpPr txBox="1"/>
          <p:nvPr/>
        </p:nvSpPr>
        <p:spPr>
          <a:xfrm>
            <a:off x="8503920" y="513892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 pura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EN 4 IDEAS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mínimo para construir el tablero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5166360" cy="1737360"/>
          </a:xfrm>
          <a:prstGeom prst="roundRect">
            <a:avLst>
              <a:gd name="adj" fmla="val 4211"/>
            </a:avLst>
          </a:prstGeom>
          <a:solidFill>
            <a:srgbClr val="F1F5F8"/>
          </a:solidFill>
          <a:ln/>
          <a:effectLst>
            <a:outerShdw blurRad="76200" dist="25400" dir="5400000" algn="bl" rotWithShape="0">
              <a:srgbClr val="9AA9B5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960120" y="219456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 txBox="1"/>
          <p:nvPr/>
        </p:nvSpPr>
        <p:spPr>
          <a:xfrm>
            <a:off x="960120" y="2194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🖥️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21488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737360" y="2624328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st.title, st.write, st.metric, st.dataframe, st.pyplot — pintas cualquier cosa con una línea.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874520"/>
            <a:ext cx="5166360" cy="1737360"/>
          </a:xfrm>
          <a:prstGeom prst="roundRect">
            <a:avLst>
              <a:gd name="adj" fmla="val 4211"/>
            </a:avLst>
          </a:prstGeom>
          <a:solidFill>
            <a:srgbClr val="F1F5F8"/>
          </a:solidFill>
          <a:ln/>
          <a:effectLst>
            <a:outerShdw blurRad="76200" dist="25400" dir="5400000" algn="bl" rotWithShape="0">
              <a:srgbClr val="9AA9B5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6492240" y="2194560"/>
            <a:ext cx="594360" cy="594360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 txBox="1"/>
          <p:nvPr/>
        </p:nvSpPr>
        <p:spPr>
          <a:xfrm>
            <a:off x="6492240" y="2194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🧭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269480" y="21488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Organizar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7269480" y="2624328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st.sidebar, st.columns, st.tabs, st.expander — el layout del tablero.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3840480"/>
            <a:ext cx="5166360" cy="1737360"/>
          </a:xfrm>
          <a:prstGeom prst="roundRect">
            <a:avLst>
              <a:gd name="adj" fmla="val 4211"/>
            </a:avLst>
          </a:prstGeom>
          <a:solidFill>
            <a:srgbClr val="F1F5F8"/>
          </a:solidFill>
          <a:ln/>
          <a:effectLst>
            <a:outerShdw blurRad="76200" dist="25400" dir="5400000" algn="bl" rotWithShape="0">
              <a:srgbClr val="9AA9B5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5" name="Shape 13"/>
          <p:cNvSpPr/>
          <p:nvPr/>
        </p:nvSpPr>
        <p:spPr>
          <a:xfrm>
            <a:off x="960120" y="416052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 txBox="1"/>
          <p:nvPr/>
        </p:nvSpPr>
        <p:spPr>
          <a:xfrm>
            <a:off x="960120" y="4160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🎛️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737360" y="41148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Interactuar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737360" y="4590288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st.selectbox, st.multiselect, st.slider — widgets que devuelven su valor actual.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17920" y="3840480"/>
            <a:ext cx="5166360" cy="1737360"/>
          </a:xfrm>
          <a:prstGeom prst="roundRect">
            <a:avLst>
              <a:gd name="adj" fmla="val 4211"/>
            </a:avLst>
          </a:prstGeom>
          <a:solidFill>
            <a:srgbClr val="F1F5F8"/>
          </a:solidFill>
          <a:ln/>
          <a:effectLst>
            <a:outerShdw blurRad="76200" dist="25400" dir="5400000" algn="bl" rotWithShape="0">
              <a:srgbClr val="9AA9B5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0" name="Shape 18"/>
          <p:cNvSpPr/>
          <p:nvPr/>
        </p:nvSpPr>
        <p:spPr>
          <a:xfrm>
            <a:off x="6492240" y="4160520"/>
            <a:ext cx="594360" cy="594360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 txBox="1"/>
          <p:nvPr/>
        </p:nvSpPr>
        <p:spPr>
          <a:xfrm>
            <a:off x="6492240" y="4160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269480" y="41148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Acelerar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7269480" y="4590288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@st.cache_data — no releer los datos en cada interacción.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PIENSA STREAMLIT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Re-ejecuta el script en cada interacción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 txBox="1"/>
          <p:nvPr/>
        </p:nvSpPr>
        <p:spPr>
          <a:xfrm>
            <a:off x="82296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554480" y="1874520"/>
            <a:ext cx="7498080" cy="658368"/>
          </a:xfrm>
          <a:prstGeom prst="roundRect">
            <a:avLst>
              <a:gd name="adj" fmla="val 11111"/>
            </a:avLst>
          </a:prstGeom>
          <a:solidFill>
            <a:srgbClr val="F1F5F8"/>
          </a:solidFill>
          <a:ln/>
          <a:effectLst>
            <a:outerShdw blurRad="76200" dist="25400" dir="5400000" algn="bl" rotWithShape="0">
              <a:srgbClr val="9AA9B5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 txBox="1"/>
          <p:nvPr/>
        </p:nvSpPr>
        <p:spPr>
          <a:xfrm>
            <a:off x="1783080" y="1874520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Mueves un widget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28346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 txBox="1"/>
          <p:nvPr/>
        </p:nvSpPr>
        <p:spPr>
          <a:xfrm>
            <a:off x="82296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554480" y="2788920"/>
            <a:ext cx="7498080" cy="658368"/>
          </a:xfrm>
          <a:prstGeom prst="roundRect">
            <a:avLst>
              <a:gd name="adj" fmla="val 11111"/>
            </a:avLst>
          </a:prstGeom>
          <a:solidFill>
            <a:srgbClr val="F1F5F8"/>
          </a:solidFill>
          <a:ln/>
          <a:effectLst>
            <a:outerShdw blurRad="76200" dist="25400" dir="5400000" algn="bl" rotWithShape="0">
              <a:srgbClr val="9AA9B5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 txBox="1"/>
          <p:nvPr/>
        </p:nvSpPr>
        <p:spPr>
          <a:xfrm>
            <a:off x="1783080" y="2788920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RE-EJECUTA el script de arriba a abajo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2960" y="37490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 txBox="1"/>
          <p:nvPr/>
        </p:nvSpPr>
        <p:spPr>
          <a:xfrm>
            <a:off x="82296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554480" y="3703320"/>
            <a:ext cx="7498080" cy="658368"/>
          </a:xfrm>
          <a:prstGeom prst="roundRect">
            <a:avLst>
              <a:gd name="adj" fmla="val 11111"/>
            </a:avLst>
          </a:prstGeom>
          <a:solidFill>
            <a:srgbClr val="F1F5F8"/>
          </a:solidFill>
          <a:ln/>
          <a:effectLst>
            <a:outerShdw blurRad="76200" dist="25400" dir="5400000" algn="bl" rotWithShape="0">
              <a:srgbClr val="9AA9B5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 txBox="1"/>
          <p:nvPr/>
        </p:nvSpPr>
        <p:spPr>
          <a:xfrm>
            <a:off x="1783080" y="3703320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recalcula todo con el nuevo valor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46634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 txBox="1"/>
          <p:nvPr/>
        </p:nvSpPr>
        <p:spPr>
          <a:xfrm>
            <a:off x="822960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554480" y="4617720"/>
            <a:ext cx="7498080" cy="658368"/>
          </a:xfrm>
          <a:prstGeom prst="roundRect">
            <a:avLst>
              <a:gd name="adj" fmla="val 11111"/>
            </a:avLst>
          </a:prstGeom>
          <a:solidFill>
            <a:srgbClr val="F1F5F8"/>
          </a:solidFill>
          <a:ln/>
          <a:effectLst>
            <a:outerShdw blurRad="76200" dist="25400" dir="5400000" algn="bl" rotWithShape="0">
              <a:srgbClr val="9AA9B5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 txBox="1"/>
          <p:nvPr/>
        </p:nvSpPr>
        <p:spPr>
          <a:xfrm>
            <a:off x="1783080" y="4617720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navegador muestra el resultado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281160" y="1920240"/>
            <a:ext cx="2286000" cy="3310128"/>
          </a:xfrm>
          <a:prstGeom prst="roundRect">
            <a:avLst>
              <a:gd name="adj" fmla="val 3200"/>
            </a:avLst>
          </a:prstGeom>
          <a:solidFill>
            <a:srgbClr val="FFF6E0"/>
          </a:solidFill>
          <a:ln/>
          <a:effectLst>
            <a:outerShdw blurRad="76200" dist="25400" dir="5400000" algn="bl" rotWithShape="0">
              <a:srgbClr val="9AA9B5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 txBox="1"/>
          <p:nvPr/>
        </p:nvSpPr>
        <p:spPr>
          <a:xfrm>
            <a:off x="9464040" y="21945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A7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@st.cache_data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464040" y="2697480"/>
            <a:ext cx="1965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el script se repite completo, cacheamos la carga de datos para leer el archivo una sola vez.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KPIs DE HOY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Cuidado: casi ninguno es un promedio simple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10835640" cy="1097280"/>
          </a:xfrm>
          <a:prstGeom prst="roundRect">
            <a:avLst>
              <a:gd name="adj" fmla="val 6667"/>
            </a:avLst>
          </a:prstGeom>
          <a:solidFill>
            <a:srgbClr val="F1F5F8"/>
          </a:solidFill>
          <a:ln/>
          <a:effectLst>
            <a:outerShdw blurRad="76200" dist="25400" dir="5400000" algn="bl" rotWithShape="0">
              <a:srgbClr val="9AA9B5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 txBox="1"/>
          <p:nvPr/>
        </p:nvSpPr>
        <p:spPr>
          <a:xfrm>
            <a:off x="960120" y="199339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Frecuencia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931920" y="1993392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 siniestros / Σ exposición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1993392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Ponderada por exposición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3063240"/>
            <a:ext cx="10835640" cy="1097280"/>
          </a:xfrm>
          <a:prstGeom prst="roundRect">
            <a:avLst>
              <a:gd name="adj" fmla="val 6667"/>
            </a:avLst>
          </a:prstGeom>
          <a:solidFill>
            <a:srgbClr val="F1F5F8"/>
          </a:solidFill>
          <a:ln/>
          <a:effectLst>
            <a:outerShdw blurRad="76200" dist="25400" dir="5400000" algn="bl" rotWithShape="0">
              <a:srgbClr val="9AA9B5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 txBox="1"/>
          <p:nvPr/>
        </p:nvSpPr>
        <p:spPr>
          <a:xfrm>
            <a:off x="960120" y="322783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Severidad media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931920" y="3227832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 (sev × n) / Σ n,  con n &gt; 0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227832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Ponderada por nº de siniestros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4297680"/>
            <a:ext cx="10835640" cy="1097280"/>
          </a:xfrm>
          <a:prstGeom prst="roundRect">
            <a:avLst>
              <a:gd name="adj" fmla="val 6667"/>
            </a:avLst>
          </a:prstGeom>
          <a:solidFill>
            <a:srgbClr val="F1F5F8"/>
          </a:solidFill>
          <a:ln/>
          <a:effectLst>
            <a:outerShdw blurRad="76200" dist="25400" dir="5400000" algn="bl" rotWithShape="0">
              <a:srgbClr val="9AA9B5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 txBox="1"/>
          <p:nvPr/>
        </p:nvSpPr>
        <p:spPr>
          <a:xfrm>
            <a:off x="960120" y="446227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 pura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931920" y="4462272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 monto / Σ exposición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4462272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Frecuencia × Severidad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58064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notebook verifica que Prima pura = Frecuencia × Severidad: si no cuadra, hay un error de ponderación.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FLUJO DE TRABAJO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notebook define; la app presenta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5120640" cy="3566160"/>
          </a:xfrm>
          <a:prstGeom prst="roundRect">
            <a:avLst>
              <a:gd name="adj" fmla="val 2051"/>
            </a:avLst>
          </a:prstGeom>
          <a:solidFill>
            <a:srgbClr val="F1F5F8"/>
          </a:solidFill>
          <a:ln/>
          <a:effectLst>
            <a:outerShdw blurRad="76200" dist="25400" dir="5400000" algn="bl" rotWithShape="0">
              <a:srgbClr val="9AA9B5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📓  m5t1_s1_notebook.ipynb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788920"/>
            <a:ext cx="4480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Cargar y validar la cartera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las funciones de KPI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Comprobar que cuadran con M4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Prototipar los gráficos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0" y="3291840"/>
            <a:ext cx="777240" cy="731520"/>
          </a:xfrm>
          <a:prstGeom prst="rightArrow">
            <a:avLst/>
          </a:prstGeom>
          <a:solidFill>
            <a:srgbClr val="E9C46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6858000" y="1920240"/>
            <a:ext cx="4663440" cy="3566160"/>
          </a:xfrm>
          <a:prstGeom prst="roundRect">
            <a:avLst>
              <a:gd name="adj" fmla="val 2051"/>
            </a:avLst>
          </a:prstGeom>
          <a:solidFill>
            <a:srgbClr val="E8F3F1"/>
          </a:solidFill>
          <a:ln/>
          <a:effectLst>
            <a:outerShdw blurRad="76200" dist="25400" dir="5400000" algn="bl" rotWithShape="0">
              <a:srgbClr val="9AA9B5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 txBox="1"/>
          <p:nvPr/>
        </p:nvSpPr>
        <p:spPr>
          <a:xfrm>
            <a:off x="7132320" y="21945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app_streamlit.py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223760" y="27889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Importa/reusa esas funciones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pone filtros y widgets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tarjetas y gráficos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recalcula lógica nueva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58064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 número está mal, se corrige en un solo lugar.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TABLERO, OTRO MOTOR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 vs. Shiny for Python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7830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 txBox="1"/>
          <p:nvPr/>
        </p:nvSpPr>
        <p:spPr>
          <a:xfrm>
            <a:off x="3794760" y="173736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26680" y="173736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Shiny for Python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240280"/>
            <a:ext cx="10835640" cy="731520"/>
          </a:xfrm>
          <a:prstGeom prst="rect">
            <a:avLst/>
          </a:prstGeom>
          <a:solidFill>
            <a:srgbClr val="F1F5F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 txBox="1"/>
          <p:nvPr/>
        </p:nvSpPr>
        <p:spPr>
          <a:xfrm>
            <a:off x="822960" y="2286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794760" y="2286000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Re-ejecuta el script completo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726680" y="22860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se re-ejecuta; es reactivo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0632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un widget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794760" y="3063240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= st.slider(...)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726680" y="30632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input.slider()  (avisa al cambiar)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3794760"/>
            <a:ext cx="10835640" cy="731520"/>
          </a:xfrm>
          <a:prstGeom prst="rect">
            <a:avLst/>
          </a:prstGeom>
          <a:solidFill>
            <a:srgbClr val="F1F5F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 txBox="1"/>
          <p:nvPr/>
        </p:nvSpPr>
        <p:spPr>
          <a:xfrm>
            <a:off x="822960" y="38404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Filtrar datos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794760" y="3840480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cuerpo del script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726680" y="384048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@reactive.calc que recalcula solo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6177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794760" y="4617720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st.metric / st.pyplot en orden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726680" y="461772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@render.* enlazados por id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5800" y="5349240"/>
            <a:ext cx="10835640" cy="731520"/>
          </a:xfrm>
          <a:prstGeom prst="rect">
            <a:avLst/>
          </a:prstGeom>
          <a:solidFill>
            <a:srgbClr val="F1F5F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 txBox="1"/>
          <p:nvPr/>
        </p:nvSpPr>
        <p:spPr>
          <a:xfrm>
            <a:off x="822960" y="53949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mental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794760" y="5394960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«re-ejecuto todo»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726680" y="539496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«declaro qué depende de qué»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DE LA SESIÓN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Extiende el tablero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 txBox="1"/>
          <p:nvPr/>
        </p:nvSpPr>
        <p:spPr>
          <a:xfrm>
            <a:off x="82296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901952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 un filtro nuevo (p. ej. antigüedad del vehículo) en la barra lateral.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28803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 txBox="1"/>
          <p:nvPr/>
        </p:nvSpPr>
        <p:spPr>
          <a:xfrm>
            <a:off x="82296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2862072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 una tarjeta de KPI: prima media por segmento.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38404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 txBox="1"/>
          <p:nvPr/>
        </p:nvSpPr>
        <p:spPr>
          <a:xfrm>
            <a:off x="82296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3822192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Grafica la severidad media por sexo usando kpis_por().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" y="4800600"/>
            <a:ext cx="457200" cy="457200"/>
          </a:xfrm>
          <a:prstGeom prst="ellipse">
            <a:avLst/>
          </a:prstGeom>
          <a:solidFill>
            <a:srgbClr val="E9C46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 txBox="1"/>
          <p:nvPr/>
        </p:nvSpPr>
        <p:spPr>
          <a:xfrm>
            <a:off x="82296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4782312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Reto: haz que un gráfico cambie de factor con un selectbox.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554480" y="58064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terminar: commit y push a tu repositorio de GitHub.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572000"/>
            <a:ext cx="4023360" cy="4023360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 txBox="1"/>
          <p:nvPr/>
        </p:nvSpPr>
        <p:spPr>
          <a:xfrm>
            <a:off x="640080" y="1554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SESIÓN 1 LOGRAMOS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6596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tablero mínimo corriendo sobre la cartera de M4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383280"/>
            <a:ext cx="10607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Cargamos y validamos los datos; definimos los KPIs en el notebook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Construimos el tablero en Streamlit y lo vimos también en Shiny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sesión: KPIs por segmento, ratios y el simulador de tarifa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1136</Words>
  <Application>Microsoft Office PowerPoint</Application>
  <PresentationFormat>Panorámica</PresentationFormat>
  <Paragraphs>159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ERIC DANIEL HERNANDEZ JARDON</cp:lastModifiedBy>
  <cp:revision>3</cp:revision>
  <dcterms:created xsi:type="dcterms:W3CDTF">2026-09-25T15:54:38Z</dcterms:created>
  <dcterms:modified xsi:type="dcterms:W3CDTF">2026-09-25T16:01:37Z</dcterms:modified>
</cp:coreProperties>
</file>
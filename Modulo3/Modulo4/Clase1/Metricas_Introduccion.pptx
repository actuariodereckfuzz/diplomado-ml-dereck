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57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DIPLOMADO ML EN SEGUROS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Métricas de Evaluación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 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PARTE 1  ·  Subtemas 1 y 2  ·  Introducción + Métricas de Regresión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1  |  Introducción a la Evaluación de Modelos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3h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584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2  |  Métricas de Regresión: MAE · MSE · RMSE · R² · MAPE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6h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0D7490"/>
                </a:solidFill>
              </a:rPr>
              <a:t>SUBTEMA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078992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</a:rPr>
              <a:t>1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Introducción a la Evaluación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 Modelos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⏱  3 horas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1.1  ¿Por qué evaluar? — 4 razones fundamentales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Un modelo con R²=0.98 en entrenamiento puede tener R²=0.25 en producción. Sin evaluación, no lo sabríamos.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La evaluación mide si el modelo aprendió patrones reales del negocio o simplemente memorizó los datos de entrenamiento. Esta diferencia puede costar millones en primas mal calculadas.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61104" cy="1737360"/>
          </a:xfrm>
          <a:prstGeom prst="rect">
            <a:avLst/>
          </a:prstGeom>
          <a:solidFill>
            <a:srgbClr val="EFF8FA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261104" cy="45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1. Selección objetiva de modelos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416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Sin métricas, elegir entre GLM vs. GBM vs. Red Neuronal para pricing es subjetivo. Las métricas en datos no vistos resuelven la pregunta de forma objetiva y documentable.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Ejemplo: el GLM tradicional tiene MAE=$4,200 y el GBM tiene MAE=$2,800 en el conjunto de prueba → el GBM es 33% más preciso.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4261104" cy="173736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700016" y="1115568"/>
            <a:ext cx="4261104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809744" y="12070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2. Detección de sobreajuste (overfitting)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9744" y="1527048"/>
            <a:ext cx="40416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R²_train=0.97 y R²_test=0.35 indican que el modelo memorizó ruido. La diferencia entre train y test es la señal de alarma más importante.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 seguros: un modelo sobreajustado calcula primas incorrectas para miles de pólizas, causando pérdidas sistemáticas o pérdida de negocio.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980944"/>
            <a:ext cx="4261104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56032" y="2980944"/>
            <a:ext cx="4261104" cy="457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07238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3. Cumplimiento regulatorio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40416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Solvencia II (Art. 121), IFRS 17 y la CNSF exigen métricas formales documentadas para modelos internos.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regulador puede pedir el AUC del modelo de fraude, el RMSE del modelo de reservas, o el MAE del modelo de pricing. Sin métricas, no se puede cumplir.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2980944"/>
            <a:ext cx="4261104" cy="17373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700016" y="2980944"/>
            <a:ext cx="4261104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09744" y="307238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4. Monitoreo continuo en producción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3392424"/>
            <a:ext cx="40416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portafolio cambia cada año: inflación, nuevos vehículos, COVID, fraude adaptativo. Un modelo de 2021 puede estar degradado en 2024.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Las métricas calculadas mensualmente detectan esta degradación (model drift) antes de que cause daño financiero.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3h · 1/5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1.2  Sesgo, Varianza y Ruido — La Triada del Error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Todo modelo comete errores. Esta descomposición explica de dónde vienen y qué se puede hacer.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Error²(x)  =  Sesgo²(x)  +  Varianza(x)  +  Ruido Irreducible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4261104" cy="3566160"/>
          </a:xfrm>
          <a:prstGeom prst="rect">
            <a:avLst/>
          </a:prstGeom>
          <a:solidFill>
            <a:srgbClr val="FFFBEB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4261104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SESGO (Bias) — Underfitting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 Sesgo(x) = E[ŷ(x)] − y(x)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81051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El modelo hace suposiciones demasiado simplistas. La predicción promedio se aleja sistemáticamente del valor verdadero.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Síntoma: error alto tanto en TRAIN como en TEST.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404164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Ejemplos en seguros de auto: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Regresión lineal para frecuencia de siniestros vs. edad del conductor. La relación real es una curva en U: alta para jóvenes (18-25), baja para adultos (35-55) y creciente para mayores (65+). Una línea recta no puede capturar esta curva y predice incorrectamente en ambos extremos.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Tarifa plana (misma prima para todos). Es el caso extremo: ignora todas las diferencias de riesgo.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GLM con solo zona geográfica como predictor: ignora edad, antigüedad del vehículo, historial.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Solución: aumentar la complejidad del modelo o agregar más predictores relevantes.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4261104" cy="356616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4261104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736592" y="12618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VARIANZA — Overfitting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15544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 Var(x) = E[(ŷ(x) − E[ŷ(x)])²]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181051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El modelo memoriza el ruido del entrenamiento. Con diferentes datos de entrenamiento produciría predicciones muy distintas.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Síntoma: error muy bajo en TRAIN, mucho mayor en TEST.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2487168"/>
            <a:ext cx="404164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Ejemplos en seguros de auto: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Árbol de decisión sin restricciones de profundidad (50+ niveles). Crea una rama distinta para cada póliza individual del conjunto de entrenamiento. En datos nuevos, produce predicciones muy erradas porque memorizó particularidades únicas.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Red neuronal profunda entrenada con solo 2,000 pólizas. Tiene más parámetros que datos, memorizando en lugar de aprender.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Modelo GBM con 5,000 árboles sin early stopping ni regularización.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Solución: regularización L1/L2, early stopping, max_depth, min_samples_leaf, más datos.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3h · 2/5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6AF6E1A-6DB3-4C0D-BB88-47714DC70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44789"/>
              </p:ext>
            </p:extLst>
          </p:nvPr>
        </p:nvGraphicFramePr>
        <p:xfrm>
          <a:off x="618977" y="1104900"/>
          <a:ext cx="7913077" cy="300116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3052">
                  <a:extLst>
                    <a:ext uri="{9D8B030D-6E8A-4147-A177-3AD203B41FA5}">
                      <a16:colId xmlns:a16="http://schemas.microsoft.com/office/drawing/2014/main" val="3575461637"/>
                    </a:ext>
                  </a:extLst>
                </a:gridCol>
                <a:gridCol w="869569">
                  <a:extLst>
                    <a:ext uri="{9D8B030D-6E8A-4147-A177-3AD203B41FA5}">
                      <a16:colId xmlns:a16="http://schemas.microsoft.com/office/drawing/2014/main" val="2460904049"/>
                    </a:ext>
                  </a:extLst>
                </a:gridCol>
                <a:gridCol w="869569">
                  <a:extLst>
                    <a:ext uri="{9D8B030D-6E8A-4147-A177-3AD203B41FA5}">
                      <a16:colId xmlns:a16="http://schemas.microsoft.com/office/drawing/2014/main" val="3074595492"/>
                    </a:ext>
                  </a:extLst>
                </a:gridCol>
                <a:gridCol w="1304353">
                  <a:extLst>
                    <a:ext uri="{9D8B030D-6E8A-4147-A177-3AD203B41FA5}">
                      <a16:colId xmlns:a16="http://schemas.microsoft.com/office/drawing/2014/main" val="2571340185"/>
                    </a:ext>
                  </a:extLst>
                </a:gridCol>
                <a:gridCol w="1652181">
                  <a:extLst>
                    <a:ext uri="{9D8B030D-6E8A-4147-A177-3AD203B41FA5}">
                      <a16:colId xmlns:a16="http://schemas.microsoft.com/office/drawing/2014/main" val="2179247864"/>
                    </a:ext>
                  </a:extLst>
                </a:gridCol>
                <a:gridCol w="1304353">
                  <a:extLst>
                    <a:ext uri="{9D8B030D-6E8A-4147-A177-3AD203B41FA5}">
                      <a16:colId xmlns:a16="http://schemas.microsoft.com/office/drawing/2014/main" val="1365110684"/>
                    </a:ext>
                  </a:extLst>
                </a:gridCol>
              </a:tblGrid>
              <a:tr h="53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effectLst/>
                        </a:rPr>
                        <a:t>Complejidad del modelo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effectLst/>
                        </a:rPr>
                        <a:t>Sesgo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>
                          <a:effectLst/>
                        </a:rPr>
                        <a:t>Varianza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effectLst/>
                        </a:rPr>
                        <a:t>Error de entrenamiento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effectLst/>
                        </a:rPr>
                        <a:t>Error de prueba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effectLst/>
                        </a:rPr>
                        <a:t>Diagnóstico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643206047"/>
                  </a:ext>
                </a:extLst>
              </a:tr>
              <a:tr h="53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Muy baja (ej: recta de regresión)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Alto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Bajo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Alto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Alto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Underfitting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extLst>
                  <a:ext uri="{0D108BD9-81ED-4DB2-BD59-A6C34878D82A}">
                    <a16:rowId xmlns:a16="http://schemas.microsoft.com/office/drawing/2014/main" val="1775422074"/>
                  </a:ext>
                </a:extLst>
              </a:tr>
              <a:tr h="53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Baja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Moderado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Bajo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Moderado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Moderado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Modelo simple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extLst>
                  <a:ext uri="{0D108BD9-81ED-4DB2-BD59-A6C34878D82A}">
                    <a16:rowId xmlns:a16="http://schemas.microsoft.com/office/drawing/2014/main" val="4224025510"/>
                  </a:ext>
                </a:extLst>
              </a:tr>
              <a:tr h="338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Óptima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Bajo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Bajo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Bajo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Similar al train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IDEAL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extLst>
                  <a:ext uri="{0D108BD9-81ED-4DB2-BD59-A6C34878D82A}">
                    <a16:rowId xmlns:a16="http://schemas.microsoft.com/office/drawing/2014/main" val="2072507879"/>
                  </a:ext>
                </a:extLst>
              </a:tr>
              <a:tr h="53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Alta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Muy bajo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Alto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Muy bajo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Mucho mayor que </a:t>
                      </a:r>
                      <a:r>
                        <a:rPr lang="es-MX" sz="1200" dirty="0" err="1">
                          <a:effectLst/>
                        </a:rPr>
                        <a:t>train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 err="1">
                          <a:effectLst/>
                        </a:rPr>
                        <a:t>Overfitting</a:t>
                      </a:r>
                      <a:r>
                        <a:rPr lang="es-MX" sz="1200" dirty="0">
                          <a:effectLst/>
                        </a:rPr>
                        <a:t> leve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extLst>
                  <a:ext uri="{0D108BD9-81ED-4DB2-BD59-A6C34878D82A}">
                    <a16:rowId xmlns:a16="http://schemas.microsoft.com/office/drawing/2014/main" val="2777809047"/>
                  </a:ext>
                </a:extLst>
              </a:tr>
              <a:tr h="53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Muy alta (ej: árbol sin poda)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~0</a:t>
                      </a:r>
                      <a:endParaRPr lang="es-MX" sz="120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Muy alto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~0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Muy alto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 err="1">
                          <a:effectLst/>
                        </a:rPr>
                        <a:t>Overfitting</a:t>
                      </a:r>
                      <a:r>
                        <a:rPr lang="es-MX" sz="1200" dirty="0">
                          <a:effectLst/>
                        </a:rPr>
                        <a:t> severo</a:t>
                      </a:r>
                      <a:endParaRPr lang="es-MX" sz="1200" dirty="0">
                        <a:solidFill>
                          <a:srgbClr val="4755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7150" marB="57150"/>
                </a:tc>
                <a:extLst>
                  <a:ext uri="{0D108BD9-81ED-4DB2-BD59-A6C34878D82A}">
                    <a16:rowId xmlns:a16="http://schemas.microsoft.com/office/drawing/2014/main" val="104670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9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1.3  Partición de Datos: Train · Validación · Test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Tres roles con propósitos distintos. La disciplina de mantenerlos separados es la base de toda evaluación honesta.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Cada subconjunto tiene un rol único e irremplazable. Violar las reglas produce evaluaciones optimistas que no predicen el desempeño real en producción.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42416"/>
            <a:ext cx="5120640" cy="42062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56032" y="104241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 (60-70%)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31536" y="1042416"/>
            <a:ext cx="160934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431536" y="1042416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  (15-20%)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95744" y="1042416"/>
            <a:ext cx="1792224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095744" y="104241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 (15-20%)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554480"/>
            <a:ext cx="2816352" cy="3200400"/>
          </a:xfrm>
          <a:prstGeom prst="rect">
            <a:avLst/>
          </a:prstGeom>
          <a:solidFill>
            <a:srgbClr val="EFF8FA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56032" y="1554480"/>
            <a:ext cx="2816352" cy="45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47472" y="16276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TRAIN — Ajusta los parámetros internos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1938528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modelo ejecuta fit() SOLO sobre estos datos.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 aprenden: coeficientes β de regresión lineal, pesos w de red neuronal, divisiones de nodos del árbol, embeddings de variables categóricas.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REGLA CRÍTICA: cualquier estadístico de transformación (media y σ para StandardScaler, cuartiles para RobustScaler, parámetro λ para PowerTransformer) se calcula EXCLUSIVAMENTE aquí. Nunca sobre el dataset completo.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63824" y="1554480"/>
            <a:ext cx="2816352" cy="32004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3163824" y="1554480"/>
            <a:ext cx="281635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255264" y="16276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VALIDACIÓN — Ajusta hiperparámetros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55264" y="1938528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modelo NO ve estos datos en fit(). Pero el modelador los usa repetidamente para elegir: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n_estimators (número de árboles en GBM)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max_depth (profundidad máxima)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alpha (regularización Ridge/Lasso)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• learning_rate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Esto introduce un sesgo sutil: las decisiones se optimizan para este conjunto específico. Por eso existe el TEST set separado.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Alternativa: usar cross-validation dentro del TRAIN para elegir hiperparámetros (más eficiente con datos limitados).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1554480"/>
            <a:ext cx="2816352" cy="3200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71616" y="1554480"/>
            <a:ext cx="2816352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163056" y="16276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TEST — Evaluación final (usar UNA sola vez)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1938528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 usa exactamente UNA vez, después de TODAS las decisiones de modelado.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Si se consulta más de una vez para ajustar algo, las decisiones se contaminan con información del TEST y pierde su propósito de ser una estimación no sesgada.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La métrica calculada en TEST es la estimación más honesta del desempeño real que tendrá el modelo cuando se despliegue en producción con pólizas nuevas que nunca ha visto.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809744"/>
            <a:ext cx="8631936" cy="2560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⚠️  ERROR MÁS FRECUENTE: scaler.fit_transform(X_total) ANTES de separar train/test = DATA LEAKAGE. El scaler calcula media y varianza incluyendo el TEST. Correcto: (1) separar → (2) scaler.fit(X_train) → (3) scaler.transform(X_train) y scaler.transform(X_test).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3h · 3/5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1.4  Validación Cruzada K-Fold — Estimación Robusta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Entrena K veces, cada vez con una parte diferente como validación. Resultado: promedio ± desviación estándar.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Cuando el dataset es limitado, sacrificar 20% permanentemente como validación es costoso. K-Fold rota quién es el conjunto de validación en K iteraciones.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042416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Diagrama K=5 — cada fila es un split diferente: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Split 1: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42416" y="1344168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42416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44168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487168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344168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931920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76672" y="1344168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376672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1344168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21424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1371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MAE = $3,150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" y="18105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Split 2: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2416" y="1783080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042416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87168" y="1783080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487168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1783080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931920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76672" y="1783080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376672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1424" y="1783080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821424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1810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MAE = $3,380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" y="22494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Split 3: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2416" y="2221992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1042416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87168" y="2221992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487168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31920" y="2221992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931920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6672" y="2221992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5376672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21424" y="2221992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821424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21040" y="22494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MAE = $2,980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" y="2688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Split 4: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42416" y="2660904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1042416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87168" y="2660904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2487168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31920" y="2660904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3931920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76672" y="2660904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5376672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21424" y="2660904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6821424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2688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MAE = $3,450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6032" y="31272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Split 5: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42416" y="3099816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1042416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87168" y="3099816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2487168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931920" y="3099816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3931920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76672" y="3099816"/>
            <a:ext cx="1371600" cy="3108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5376672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21424" y="3099816"/>
            <a:ext cx="13716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/>
          <p:nvPr/>
        </p:nvSpPr>
        <p:spPr>
          <a:xfrm>
            <a:off x="6821424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VALIDACIÓN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MAE = $3,260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56032" y="353872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Resultado: MAE = $3,244 ± $176  →  el modelo se equivoca en promedio $3,244 con variabilidad de ±$176 entre subconjuntos.</a:t>
            </a:r>
            <a:endParaRPr lang="en-US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897359"/>
              </p:ext>
            </p:extLst>
          </p:nvPr>
        </p:nvGraphicFramePr>
        <p:xfrm>
          <a:off x="256032" y="3782802"/>
          <a:ext cx="8887968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6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Variante 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Cuándo usar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 detallada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K = 5 (estándar)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Datasets &gt; 1,000 obs.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Cada fold usa 80% para entrenamiento y 20% para validación. Balance óptimo entre sesgo y varianza del estimador. El más usado en la industria.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K = 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Datasets 500-5,000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Cada fold usa 90% para entrenamiento. Menor sesgo pero mayor varianza. Requiere entrenar 10 modelos en lugar de 5.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Stratified K-Fold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Clasificación desbalanceada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Garantiza que cada fold mantiene la misma proporción de clases. OBLIGATORIO con fraude (4%) o mortalidad (0.3%).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TimeSeriesSplit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Datos con orden temporal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ÚNICO válido para datos de seguros por año. Nunca mezcla pasado con futuro. Se desarrolla en el Subtema 4.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8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0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3h · 4/5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56032" y="109728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Subtema 1 — Resumen: 5 Conceptos que Debes Dominar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85800"/>
            <a:ext cx="8631936" cy="73152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64008" cy="731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02336" y="731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Error = Sesgo² + Varianza + Ruido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0149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El ruido irreducible explica por qué ningún modelo de frecuencia de siniestros alcanzará R²=1. No es culpa del modelo — es la aleatoriedad inherente de los datos (distribución de Poisson).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8631936" cy="73152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508760"/>
            <a:ext cx="64008" cy="731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Underfitting vs Overfitting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837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Error alto en TRAIN y TEST → underfitting (modelo muy simple). Error bajo en TRAIN pero alto en TEST → overfitting. La señal de alarma es R²_train − R²_test &gt; 0.15.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2331720"/>
            <a:ext cx="8631936" cy="73152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6032" y="2331720"/>
            <a:ext cx="64008" cy="731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2336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fit() SOLO sobre datos de TRAIN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66090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Cualquier transformación estadística (StandardScaler, RobustScaler, PowerTransformer, TargetEncoder) debe calcular sus parámetros EXCLUSIVAMENTE sobre el conjunto de entrenamiento. Jamás sobre el dataset completo.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3154680"/>
            <a:ext cx="8631936" cy="73152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6032" y="3154680"/>
            <a:ext cx="64008" cy="731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Test set: usar exactamente UNA sola vez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34838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Consultarlo más veces lo convierte en otro conjunto de validación. La métrica en TEST es la estimación más honesta del desempeño real en producción. Protegerlo es sagrado.</a:t>
            </a:r>
          </a:p>
        </p:txBody>
      </p:sp>
      <p:sp>
        <p:nvSpPr>
          <p:cNvPr id="20" name="Shape 18"/>
          <p:cNvSpPr/>
          <p:nvPr/>
        </p:nvSpPr>
        <p:spPr>
          <a:xfrm>
            <a:off x="256032" y="3977640"/>
            <a:ext cx="8631936" cy="73152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3977640"/>
            <a:ext cx="64008" cy="731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K-Fold estándar es incorrecto con datos anuales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43068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Con datos de pólizas por año, K-Fold aleatorio mezcla 2023 con 2020. Un modelo no puede entrenarse con datos futuros. Siempre TimeSeriesSplit para datos temporales.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3h · 5/5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16230</TotalTime>
  <Words>1756</Words>
  <Application>Microsoft Office PowerPoint</Application>
  <PresentationFormat>Presentación en pantalla (16:9)</PresentationFormat>
  <Paragraphs>213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Karla Eugenia Medina Diaz</cp:lastModifiedBy>
  <cp:revision>3</cp:revision>
  <dcterms:created xsi:type="dcterms:W3CDTF">2026-07-14T02:03:38Z</dcterms:created>
  <dcterms:modified xsi:type="dcterms:W3CDTF">2026-07-30T03:48:54Z</dcterms:modified>
</cp:coreProperties>
</file>
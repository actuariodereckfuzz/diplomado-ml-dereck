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39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040880" y="0"/>
            <a:ext cx="2103120" cy="5143500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114032" y="0"/>
            <a:ext cx="73152" cy="51435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3AED"/>
                </a:solidFill>
              </a:rPr>
              <a:t>DIPLOMADO EN MACHINE LEARNING PARA SEGUROS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86384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Curva ROC, AUC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 Índice de Gini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6032" y="259689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</a:rPr>
              <a:t>Marco Teórico — Evaluación Global del Clasificador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3090672"/>
            <a:ext cx="1993392" cy="148132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30906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36576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El Problema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39867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¿Por qué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necesitamos ROC?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3090672"/>
            <a:ext cx="1993392" cy="148132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450592" y="30906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36576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La Curva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39867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Construcción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y lectura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3090672"/>
            <a:ext cx="1993392" cy="148132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645152" y="30906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45152" y="36576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AUC y Gini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39867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Métricas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globales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 Problema de Partida: los Modelos Producen Probabilidades, no Etiquetas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Todo clasificador moderno (GBM, RF, Logística) produce P(clase positiva | X) ∈ [0, 1]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84632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Clasificador entrenado  →  output = probabilidad continua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Ejemplo — salida del modelo para 5 pólizas: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26464"/>
            <a:ext cx="1005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Póliza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53312" y="1481328"/>
            <a:ext cx="2651760" cy="2194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353312" y="1481328"/>
            <a:ext cx="2413102" cy="219456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078224" y="14813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91%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26864" y="148132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Siniestro real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1005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74320" y="1847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Póliza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53312" y="1901952"/>
            <a:ext cx="2651760" cy="2194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353312" y="1901952"/>
            <a:ext cx="1670609" cy="219456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78224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63%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26864" y="190195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45309"/>
                </a:solidFill>
              </a:rPr>
              <a:t>Siniestro real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267712"/>
            <a:ext cx="1005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74320" y="22677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Póliza 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53312" y="2322576"/>
            <a:ext cx="2651760" cy="2194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1353312" y="2322576"/>
            <a:ext cx="1246327" cy="219456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078224" y="232257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47%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26864" y="232257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45309"/>
                </a:solidFill>
              </a:rPr>
              <a:t>Siniestro real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688336"/>
            <a:ext cx="1005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74320" y="26883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Póliza 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53312" y="2743200"/>
            <a:ext cx="2651760" cy="2194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1353312" y="2743200"/>
            <a:ext cx="769010" cy="219456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078224" y="27432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29%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26864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Sin siniestro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108960"/>
            <a:ext cx="1005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74320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Póliza 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53312" y="3163824"/>
            <a:ext cx="2651760" cy="2194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1353312" y="3163824"/>
            <a:ext cx="212141" cy="219456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078224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8%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26864" y="316382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Sin siniestro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0" y="658368"/>
            <a:ext cx="3566160" cy="2048256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5449824" y="74980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21B6"/>
                </a:solidFill>
              </a:rPr>
              <a:t>¿Por qué esto es un problema?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9824" y="1060704"/>
            <a:ext cx="3273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Para clasificar, necesitamos convertir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esa probabilidad en una decisión binaria: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si  P(positivo) ≥ τ  →  clase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si  P(positivo) &lt; τ  →  clase = 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τ es el UMBRAL de decisión.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sklearn usa τ = 0.5 por defecto.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Ese valor es completamente arbitrario.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584448"/>
            <a:ext cx="7406640" cy="7863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20624" y="364845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Consecuencias del umbral τ sobre la Póliza 3 (P = 0.47):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0624" y="3895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</a:rPr>
              <a:t>τ = 0.50 (default)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31136" y="38953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→  clase = 0  (sin siniestro)   ✗  Falso Negativo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0624" y="41330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</a:rPr>
              <a:t>τ = 0.40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31136" y="41330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→  clase = 1  (siniestro)        ✓  Verdadero Positivo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</a:rPr>
              <a:t>La misma póliza se clasifica de forma diferente según el umbral elegido. ¿Cómo comparar modelos sin que el resultado dependa de τ?  →  La Curva ROC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Definición de la Curva ROC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Receiver Operating Characteristic — evalúa el clasificador en todos los umbrales τ simultáneamente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493776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20624" y="731520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21B6"/>
                </a:solidFill>
              </a:rPr>
              <a:t>ROC (Receiver Operating Characteristic): curva que grafica TPR vs FPR para cada valor posible del umbral τ, barriendo τ de 1.0 (más conservador) a 0.0 (más agresivo).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Los dos ejes de la curva: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206240" cy="142646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Eje Y  —  TPR  (Tasa de Verdaderos Positivos)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1938528"/>
            <a:ext cx="3931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También llamado: Recall / Sensibilidad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TPR  =  VP / (VP + FN)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 todos los casos que realmente son positivos,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¿qué fracción detectamos?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206240" cy="1426464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91456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Eje X  —  FPR  (Tasa de Falsos Positivos)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91456" y="1938528"/>
            <a:ext cx="3931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También llamado: 1 − Especificidad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FPR  =  FP / (FP + VN)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 todos los casos que realmente son negativos,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¿qué fracción marcamos incorrectamente como positivos?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090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Propiedades fundamentales de la curva ROC: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85953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02336" y="3419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3419856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Siempre pasa por (0, 0): cuando τ = 1.0, nada se clasifica como positivo → VP = 0, FP = 0 → TPR = 0, FPR = 0.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85953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02336" y="37490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490"/>
                </a:solidFill>
              </a:rPr>
              <a:t>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74904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Siempre pasa por (1, 1): cuando τ = 0.0, todo se clasifica como positivo → todos son VP o FP → TPR = 1, FPR = 1.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85953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40782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078224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La diagonal principal (FPR = TPR) representa al clasificador aleatorio — el que asigna clases al azar. AUC = 0.50.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02336" y="44074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407408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Un clasificador útil produce una curva POR ENCIMA de la diagonal. Cuanto más hacia la esquina superior izquierda, mejor.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Construcción Paso a Paso de la Curva ROC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Algoritmo: ordenar por probabilidad predicha y barrer τ de 1.0 a 0.0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Procedimiento (de la guía, Sección 3.7):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329184" cy="2743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" y="996696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Ordenar todas las observaciones del conjunto de prueba de mayor a menor probabilidad predicha P(positivo).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329184" cy="2743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" y="1325880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Considerar todos los valores posibles de τ como umbrales, desde τ = 1.0 (nadie se clasifica como positivo) hasta τ = 0.0 (todos se clasifican como positivos).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329184" cy="2743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74320" y="16276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655064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Para cada τ, calcular la Tasa de Verdaderos Positivos (TPR) y la Tasa de Falsos Positivos (FPR).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56816"/>
            <a:ext cx="329184" cy="2743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74320" y="19568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" y="1984248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Graficar el punto (FPR, TPR) para cada τ.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329184" cy="27432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74320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" y="231343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Unir todos los puntos con una línea continua. Esa es la Curva ROC.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2670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Ejemplo numérico — portafolio de 10,000 pólizas (350 con siniestro real, 9,650 sin siniestro):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512064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" y="2944368"/>
            <a:ext cx="47548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86384" y="2944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261872" y="2944368"/>
            <a:ext cx="512064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1261872" y="2944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73936" y="2944368"/>
            <a:ext cx="47548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773936" y="2944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49424" y="2944368"/>
            <a:ext cx="65836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249424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07792" y="2944368"/>
            <a:ext cx="148132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90779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TPR = VP/(VP+FN)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0" y="2944368"/>
            <a:ext cx="148132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389120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FPR = FP/(FP+VN)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70448" y="2944368"/>
            <a:ext cx="1389888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5870448" y="29443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Punto (FPR, TPR)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21868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274320" y="321868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1.00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6384" y="321868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786384" y="32186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61872" y="321868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1261872" y="321868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73936" y="321868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1773936" y="32186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350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49424" y="3218688"/>
            <a:ext cx="6583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2249424" y="3218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9,650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07792" y="321868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2907792" y="3218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0.0%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89120" y="321868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4389120" y="3218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0.0%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70448" y="3218688"/>
            <a:ext cx="1389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5870448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(0.000, 0.000)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493008"/>
            <a:ext cx="512064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274320" y="349300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0.70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6384" y="3493008"/>
            <a:ext cx="4754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786384" y="34930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143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261872" y="3493008"/>
            <a:ext cx="512064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1261872" y="349300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89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773936" y="3493008"/>
            <a:ext cx="4754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/>
          <p:nvPr/>
        </p:nvSpPr>
        <p:spPr>
          <a:xfrm>
            <a:off x="1773936" y="34930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207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249424" y="3493008"/>
            <a:ext cx="65836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2249424" y="3493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9,561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907792" y="3493008"/>
            <a:ext cx="148132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/>
          <p:nvPr/>
        </p:nvSpPr>
        <p:spPr>
          <a:xfrm>
            <a:off x="290779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40.9%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389120" y="3493008"/>
            <a:ext cx="148132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4389120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0.92%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70448" y="3493008"/>
            <a:ext cx="13898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5870448" y="34930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(0.009, 0.409)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376732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274320" y="376732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0.50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6384" y="376732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786384" y="37673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245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261872" y="376732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73"/>
          <p:cNvSpPr/>
          <p:nvPr/>
        </p:nvSpPr>
        <p:spPr>
          <a:xfrm>
            <a:off x="1261872" y="376732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148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773936" y="376732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75"/>
          <p:cNvSpPr/>
          <p:nvPr/>
        </p:nvSpPr>
        <p:spPr>
          <a:xfrm>
            <a:off x="1773936" y="37673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105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249424" y="3767328"/>
            <a:ext cx="6583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77"/>
          <p:cNvSpPr/>
          <p:nvPr/>
        </p:nvSpPr>
        <p:spPr>
          <a:xfrm>
            <a:off x="2249424" y="37673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9,502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07792" y="376732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79"/>
          <p:cNvSpPr/>
          <p:nvPr/>
        </p:nvSpPr>
        <p:spPr>
          <a:xfrm>
            <a:off x="2907792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70.0%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89120" y="376732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Text 81"/>
          <p:cNvSpPr/>
          <p:nvPr/>
        </p:nvSpPr>
        <p:spPr>
          <a:xfrm>
            <a:off x="4389120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1.53%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870448" y="3767328"/>
            <a:ext cx="1389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Text 83"/>
          <p:cNvSpPr/>
          <p:nvPr/>
        </p:nvSpPr>
        <p:spPr>
          <a:xfrm>
            <a:off x="5870448" y="37673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(0.015, 0.700)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74320" y="4041648"/>
            <a:ext cx="512064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274320" y="404164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0.30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86384" y="4041648"/>
            <a:ext cx="4754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87"/>
          <p:cNvSpPr/>
          <p:nvPr/>
        </p:nvSpPr>
        <p:spPr>
          <a:xfrm>
            <a:off x="786384" y="40416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298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261872" y="4041648"/>
            <a:ext cx="512064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89"/>
          <p:cNvSpPr/>
          <p:nvPr/>
        </p:nvSpPr>
        <p:spPr>
          <a:xfrm>
            <a:off x="1261872" y="404164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312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773936" y="4041648"/>
            <a:ext cx="4754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Text 91"/>
          <p:cNvSpPr/>
          <p:nvPr/>
        </p:nvSpPr>
        <p:spPr>
          <a:xfrm>
            <a:off x="1773936" y="40416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52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249424" y="4041648"/>
            <a:ext cx="65836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93"/>
          <p:cNvSpPr/>
          <p:nvPr/>
        </p:nvSpPr>
        <p:spPr>
          <a:xfrm>
            <a:off x="2249424" y="40416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9,338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907792" y="4041648"/>
            <a:ext cx="148132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Text 95"/>
          <p:cNvSpPr/>
          <p:nvPr/>
        </p:nvSpPr>
        <p:spPr>
          <a:xfrm>
            <a:off x="2907792" y="40416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85.1%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389120" y="4041648"/>
            <a:ext cx="148132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Text 97"/>
          <p:cNvSpPr/>
          <p:nvPr/>
        </p:nvSpPr>
        <p:spPr>
          <a:xfrm>
            <a:off x="4389120" y="40416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3.23%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870448" y="4041648"/>
            <a:ext cx="1389888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Text 99"/>
          <p:cNvSpPr/>
          <p:nvPr/>
        </p:nvSpPr>
        <p:spPr>
          <a:xfrm>
            <a:off x="5870448" y="4041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(0.032, 0.851)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4320" y="431596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Text 101"/>
          <p:cNvSpPr/>
          <p:nvPr/>
        </p:nvSpPr>
        <p:spPr>
          <a:xfrm>
            <a:off x="274320" y="431596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0.00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86384" y="431596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Text 103"/>
          <p:cNvSpPr/>
          <p:nvPr/>
        </p:nvSpPr>
        <p:spPr>
          <a:xfrm>
            <a:off x="786384" y="43159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350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261872" y="4315968"/>
            <a:ext cx="512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5"/>
          <p:cNvSpPr/>
          <p:nvPr/>
        </p:nvSpPr>
        <p:spPr>
          <a:xfrm>
            <a:off x="1261872" y="431596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9,650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773936" y="4315968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9" name="Text 107"/>
          <p:cNvSpPr/>
          <p:nvPr/>
        </p:nvSpPr>
        <p:spPr>
          <a:xfrm>
            <a:off x="1773936" y="43159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249424" y="4315968"/>
            <a:ext cx="6583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" name="Text 109"/>
          <p:cNvSpPr/>
          <p:nvPr/>
        </p:nvSpPr>
        <p:spPr>
          <a:xfrm>
            <a:off x="2249424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907792" y="431596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3" name="Text 111"/>
          <p:cNvSpPr/>
          <p:nvPr/>
        </p:nvSpPr>
        <p:spPr>
          <a:xfrm>
            <a:off x="2907792" y="4315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100%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389120" y="4315968"/>
            <a:ext cx="148132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5" name="Text 113"/>
          <p:cNvSpPr/>
          <p:nvPr/>
        </p:nvSpPr>
        <p:spPr>
          <a:xfrm>
            <a:off x="4389120" y="4315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100%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870448" y="4315968"/>
            <a:ext cx="1389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7" name="Text 115"/>
          <p:cNvSpPr/>
          <p:nvPr/>
        </p:nvSpPr>
        <p:spPr>
          <a:xfrm>
            <a:off x="5870448" y="43159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(1.000, 1.000)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74320" y="4608576"/>
            <a:ext cx="8595360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9" name="Text 117"/>
          <p:cNvSpPr/>
          <p:nvPr/>
        </p:nvSpPr>
        <p:spPr>
          <a:xfrm>
            <a:off x="274320" y="46085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Cada fila es un punto de la curva ROC. Uniéndolos de izquierda a derecha obtenemos la curva completa.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1" name="Text 119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3" name="Text 121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3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Anatomía de la Curva ROC — Con una Curva Real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La curva se ve suave porque tiene un punto por cada observación del test set (aquí 532 puntos)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0896" y="676656"/>
            <a:ext cx="5029200" cy="4187952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41248" y="3698748"/>
            <a:ext cx="4425696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947672" y="4626864"/>
            <a:ext cx="0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41248" y="2770632"/>
            <a:ext cx="4425696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054096" y="4626864"/>
            <a:ext cx="0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841248" y="1842516"/>
            <a:ext cx="4425696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160520" y="4626864"/>
            <a:ext cx="0" cy="0"/>
          </a:xfrm>
          <a:prstGeom prst="line">
            <a:avLst/>
          </a:prstGeom>
          <a:noFill/>
          <a:ln w="762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41248" y="914400"/>
            <a:ext cx="0" cy="3712464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41248" y="4626864"/>
            <a:ext cx="4425696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" y="4626864"/>
            <a:ext cx="457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29184" y="45354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95528" y="3698748"/>
            <a:ext cx="457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29184" y="3607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95528" y="2770632"/>
            <a:ext cx="457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29184" y="2679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95528" y="1842516"/>
            <a:ext cx="457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29184" y="17510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" y="914400"/>
            <a:ext cx="457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29184" y="8229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" y="251460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</a:rPr>
              <a:t>TPR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</a:rPr>
              <a:t>(Recall)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1248" y="4626864"/>
            <a:ext cx="0" cy="457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47672" y="4626864"/>
            <a:ext cx="0" cy="457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1746504" y="46817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54096" y="4626864"/>
            <a:ext cx="0" cy="457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852928" y="46817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50%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60520" y="4626864"/>
            <a:ext cx="0" cy="457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959352" y="46817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66944" y="4626864"/>
            <a:ext cx="0" cy="457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065776" y="46817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100%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48256" y="4864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74151"/>
                </a:solidFill>
              </a:rPr>
              <a:t>FPR  (1 − Especificidad)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41248" y="4626864"/>
            <a:ext cx="44256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3142610" y="2585009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Clasificador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aleatorio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AUC = 0.50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41248" y="4626864"/>
            <a:ext cx="2213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843461" y="4308706"/>
            <a:ext cx="354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847001" y="4244851"/>
            <a:ext cx="354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850542" y="4117885"/>
            <a:ext cx="354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854083" y="3958620"/>
            <a:ext cx="7524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61606" y="3895137"/>
            <a:ext cx="177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863376" y="3820888"/>
            <a:ext cx="7966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871343" y="3767800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876654" y="3650857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881964" y="3608535"/>
            <a:ext cx="4868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886833" y="3545052"/>
            <a:ext cx="12392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899225" y="3502359"/>
            <a:ext cx="1327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912502" y="3438876"/>
            <a:ext cx="11949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924451" y="3385787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929762" y="3322304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935073" y="3258450"/>
            <a:ext cx="973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944809" y="3194967"/>
            <a:ext cx="973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954546" y="3152645"/>
            <a:ext cx="973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964282" y="3088790"/>
            <a:ext cx="3983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968265" y="3014541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973576" y="2951058"/>
            <a:ext cx="1150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85083" y="2876808"/>
            <a:ext cx="9294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994377" y="2823720"/>
            <a:ext cx="10622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1004999" y="2781398"/>
            <a:ext cx="10622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1015620" y="2728310"/>
            <a:ext cx="1549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1031110" y="2685617"/>
            <a:ext cx="531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1036421" y="2622133"/>
            <a:ext cx="1504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1051469" y="2579811"/>
            <a:ext cx="16818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1068286" y="2515957"/>
            <a:ext cx="1637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1084661" y="2462869"/>
            <a:ext cx="17703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1102364" y="2410152"/>
            <a:ext cx="40274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1142638" y="2367458"/>
            <a:ext cx="1726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1159898" y="2314370"/>
            <a:ext cx="3053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1190435" y="2272048"/>
            <a:ext cx="19916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1210351" y="2197799"/>
            <a:ext cx="23456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1233807" y="2144711"/>
            <a:ext cx="2080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254608" y="2070461"/>
            <a:ext cx="3275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1287358" y="2028139"/>
            <a:ext cx="3806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1325419" y="1953890"/>
            <a:ext cx="4647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1371889" y="1911568"/>
            <a:ext cx="1637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1388264" y="1858480"/>
            <a:ext cx="3363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1421899" y="1816158"/>
            <a:ext cx="2699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1448896" y="1763069"/>
            <a:ext cx="64173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1513069" y="1720376"/>
            <a:ext cx="50010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1563079" y="1667659"/>
            <a:ext cx="6151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1624596" y="1624966"/>
            <a:ext cx="42929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1667525" y="1571877"/>
            <a:ext cx="6107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1728600" y="1508394"/>
            <a:ext cx="6107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1789675" y="1455306"/>
            <a:ext cx="75679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1865354" y="1412984"/>
            <a:ext cx="84088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Shape 86"/>
          <p:cNvSpPr/>
          <p:nvPr/>
        </p:nvSpPr>
        <p:spPr>
          <a:xfrm>
            <a:off x="1949442" y="1359896"/>
            <a:ext cx="6727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Shape 87"/>
          <p:cNvSpPr/>
          <p:nvPr/>
        </p:nvSpPr>
        <p:spPr>
          <a:xfrm>
            <a:off x="2016713" y="1317574"/>
            <a:ext cx="142507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0" name="Shape 88"/>
          <p:cNvSpPr/>
          <p:nvPr/>
        </p:nvSpPr>
        <p:spPr>
          <a:xfrm>
            <a:off x="2159220" y="1243324"/>
            <a:ext cx="6904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Shape 89"/>
          <p:cNvSpPr/>
          <p:nvPr/>
        </p:nvSpPr>
        <p:spPr>
          <a:xfrm>
            <a:off x="2228261" y="1200631"/>
            <a:ext cx="13100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2" name="Shape 90"/>
          <p:cNvSpPr/>
          <p:nvPr/>
        </p:nvSpPr>
        <p:spPr>
          <a:xfrm>
            <a:off x="2359262" y="1147914"/>
            <a:ext cx="173045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Shape 91"/>
          <p:cNvSpPr/>
          <p:nvPr/>
        </p:nvSpPr>
        <p:spPr>
          <a:xfrm>
            <a:off x="2532306" y="1105221"/>
            <a:ext cx="43593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4" name="Shape 92"/>
          <p:cNvSpPr/>
          <p:nvPr/>
        </p:nvSpPr>
        <p:spPr>
          <a:xfrm>
            <a:off x="2968237" y="1052132"/>
            <a:ext cx="34122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Shape 93"/>
          <p:cNvSpPr/>
          <p:nvPr/>
        </p:nvSpPr>
        <p:spPr>
          <a:xfrm>
            <a:off x="3309459" y="1009810"/>
            <a:ext cx="248724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6" name="Shape 94"/>
          <p:cNvSpPr/>
          <p:nvPr/>
        </p:nvSpPr>
        <p:spPr>
          <a:xfrm>
            <a:off x="3558183" y="956722"/>
            <a:ext cx="1708761" cy="0"/>
          </a:xfrm>
          <a:prstGeom prst="line">
            <a:avLst/>
          </a:prstGeom>
          <a:noFill/>
          <a:ln w="317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Shape 95"/>
          <p:cNvSpPr/>
          <p:nvPr/>
        </p:nvSpPr>
        <p:spPr>
          <a:xfrm>
            <a:off x="896112" y="1481328"/>
            <a:ext cx="1554480" cy="402336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8" name="Text 96"/>
          <p:cNvSpPr/>
          <p:nvPr/>
        </p:nvSpPr>
        <p:spPr>
          <a:xfrm>
            <a:off x="896112" y="14813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</a:rPr>
              <a:t>AUC = 0.903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</a:rPr>
              <a:t>Gini = 0.806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70166" y="3803697"/>
            <a:ext cx="182880" cy="182880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0" name="Text 98"/>
          <p:cNvSpPr/>
          <p:nvPr/>
        </p:nvSpPr>
        <p:spPr>
          <a:xfrm>
            <a:off x="989622" y="3950001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τ = 0.80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(conservador)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838322" y="3230864"/>
            <a:ext cx="182880" cy="182880"/>
          </a:xfrm>
          <a:prstGeom prst="ellipse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2" name="Text 100"/>
          <p:cNvSpPr/>
          <p:nvPr/>
        </p:nvSpPr>
        <p:spPr>
          <a:xfrm>
            <a:off x="1057778" y="33771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τ = 0.50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(default)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93643" y="2785368"/>
            <a:ext cx="182880" cy="182880"/>
          </a:xfrm>
          <a:prstGeom prst="ellipse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4" name="Text 102"/>
          <p:cNvSpPr/>
          <p:nvPr/>
        </p:nvSpPr>
        <p:spPr>
          <a:xfrm>
            <a:off x="1113099" y="293167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τ = 0.30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(agresivo)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522976" y="69494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¿Por qué la curva tiene esa forma?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5522976" y="987552"/>
            <a:ext cx="3401568" cy="896112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5"/>
          <p:cNvSpPr/>
          <p:nvPr/>
        </p:nvSpPr>
        <p:spPr>
          <a:xfrm>
            <a:off x="5632704" y="10515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La curva es suave porque tiene muchos puntos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5632704" y="130759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Hay un punto (FPR, TPR) por cada umbral τ posible. Con 500 pólizas en test, hay ~500 puntos que forman una curva continua y suave.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522976" y="1938528"/>
            <a:ext cx="3401568" cy="896112"/>
          </a:xfrm>
          <a:prstGeom prst="rect">
            <a:avLst/>
          </a:prstGeom>
          <a:solidFill>
            <a:srgbClr val="EDE9FE"/>
          </a:solidFill>
          <a:ln w="9525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0" name="Text 108"/>
          <p:cNvSpPr/>
          <p:nvPr/>
        </p:nvSpPr>
        <p:spPr>
          <a:xfrm>
            <a:off x="5632704" y="200253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Arranque vertical: el modelo aprende bien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632704" y="22585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 principio la curva sube casi verticalmente: bajando τ desde 1.0, detectamos positivos reales muy rápido antes de generar falsos positivos. Eso es buen poder discriminante.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522976" y="2889504"/>
            <a:ext cx="3401568" cy="896112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3" name="Text 111"/>
          <p:cNvSpPr/>
          <p:nvPr/>
        </p:nvSpPr>
        <p:spPr>
          <a:xfrm>
            <a:off x="5632704" y="295351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La curva se dobla a la derecha después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5632704" y="320954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Una vez detectados los positivos 'fáciles', para seguir subiendo el TPR hay que aceptar más FP. Por eso la curva se aleja del eje Y y avanza hacia la derecha.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5522976" y="3840480"/>
            <a:ext cx="3401568" cy="896112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6" name="Text 114"/>
          <p:cNvSpPr/>
          <p:nvPr/>
        </p:nvSpPr>
        <p:spPr>
          <a:xfrm>
            <a:off x="5632704" y="390448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La diagonal sería AUC = 0.50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5632704" y="416052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Si la curva fuera la diagonal, el modelo no discrimina mejor que el azar. Cuanto más arriba y a la izquierda esté la curva respecto a la diagonal, mayor es el AUC.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9" name="Text 117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1" name="Text 119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4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 AUC — Área Bajo la Curva ROC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Area Under the Curve: un número entre 0 y 1 que resume el poder discriminante del modelo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457200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20624" y="731520"/>
            <a:ext cx="8284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</a:rPr>
              <a:t>AUC = P( P(positivo | caso positivo real) &gt; P(positivo | caso negativo real) 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252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Interpretación </a:t>
            </a:r>
            <a:r>
              <a:rPr lang="en-US" sz="1150" b="1" dirty="0" err="1">
                <a:solidFill>
                  <a:srgbClr val="0D2137"/>
                </a:solidFill>
              </a:rPr>
              <a:t>probabilística</a:t>
            </a:r>
            <a:r>
              <a:rPr lang="en-US" sz="1150" b="1" dirty="0">
                <a:solidFill>
                  <a:srgbClr val="0D2137"/>
                </a:solidFill>
              </a:rPr>
              <a:t> 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8595360" cy="69494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02336" y="1591056"/>
            <a:ext cx="8284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Si tomamos al azar una observación de la clase positiva y otra de la clase negativa, el AUC es la probabilidad de que el modelo asigne una probabilidad mayor al caso positivo. Un AUC = 0.83 significa que el modelo discrimina correctamente el 83% de las veces cuando se le presentan un par aleatorio de casos — uno positivo y uno negativo.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30428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¿Por qué el AUC es una métrica global superior a las métricas basadas en un umbral fijo?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596896"/>
            <a:ext cx="8595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02336" y="26517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Independiente del umbral τ: no es necesario elegir τ para comparar dos modelos entre sí.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85953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02336" y="3017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017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Independiente de la prevalencia: un AUC = 0.83 en un dataset con 5% de positivos y otro con 40% de positivos tienen el mismo significado probabilístico.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28416"/>
            <a:ext cx="8595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33832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3832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Captura el rendimiento en todos los puntos de operación posibles, no solo en uno arbitrario.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85953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02336" y="37490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7490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Limitación: con prevalencias extremadamente bajas (&lt;1%) puede ser optimista porque hay muchos Verdaderos Negativos fáciles de acertar. En esos casos complementar con curva Precisión-Recall.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09651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Casos extremos del AUC: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352544"/>
            <a:ext cx="2724912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65760" y="44074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AUC = 1.00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90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Clasificador perfecto. En la práctica es imposible — señal de data leakage o error en el código.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63824" y="4352544"/>
            <a:ext cx="2724912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55264" y="44074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AUC = 0.50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55264" y="4590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Clasificador aleatorio. El modelo no tiene ninguna capacidad discriminante.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4352544"/>
            <a:ext cx="2724912" cy="475488"/>
          </a:xfrm>
          <a:prstGeom prst="rect">
            <a:avLst/>
          </a:prstGeom>
          <a:solidFill>
            <a:srgbClr val="FFF1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144768" y="44074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AUC &lt; 0.50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4590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Peor que el azar. Las etiquetas están invertidas. Solución: invertir las predicciones.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5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Tabla de Referencia — AUC, Gini y Calidad del Discriminador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Calibrada para modelos de seguros (Guía del Maestro, Sección 3.7)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La tabla siguiente traduce el AUC y el Gini en una evaluación cualitativa del modelo. Los rangos están calibrados para el contexto de seguros, donde la señal suele ser más débil que en otros sectores.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188720" cy="310896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078992"/>
            <a:ext cx="1188720" cy="310896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463040" y="1078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(2×AUC−1)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078992"/>
            <a:ext cx="1645920" cy="310896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651760" y="1078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Calidad 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Discriminador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078992"/>
            <a:ext cx="4663440" cy="310896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297680" y="10789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Ejemplo típico en seguros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1188720" cy="420624"/>
          </a:xfrm>
          <a:prstGeom prst="rect">
            <a:avLst/>
          </a:prstGeom>
          <a:solidFill>
            <a:srgbClr val="FEFCE8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74320" y="1426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8A04"/>
                </a:solidFill>
              </a:rPr>
              <a:t>1.00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1389888"/>
            <a:ext cx="1188720" cy="420624"/>
          </a:xfrm>
          <a:prstGeom prst="rect">
            <a:avLst/>
          </a:prstGeom>
          <a:solidFill>
            <a:srgbClr val="FEFCE8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463040" y="1426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8A04"/>
                </a:solidFill>
              </a:rPr>
              <a:t>1.00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389888"/>
            <a:ext cx="1645920" cy="420624"/>
          </a:xfrm>
          <a:prstGeom prst="rect">
            <a:avLst/>
          </a:prstGeom>
          <a:solidFill>
            <a:srgbClr val="FEFCE8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651760" y="1426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Perfecto — imposible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389888"/>
            <a:ext cx="4663440" cy="420624"/>
          </a:xfrm>
          <a:prstGeom prst="rect">
            <a:avLst/>
          </a:prstGeom>
          <a:solidFill>
            <a:srgbClr val="FEFCE8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297680" y="14264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Siempre indica data leakage o error. Un AUC = 1.0 nunca ocurre en la práctica con datos reales.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828800"/>
            <a:ext cx="11887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0.90 – 0.99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63040" y="1828800"/>
            <a:ext cx="11887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46304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0.80 – 0.98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51760" y="1828800"/>
            <a:ext cx="16459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651760" y="1865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Excelente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1828800"/>
            <a:ext cx="466344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297680" y="18653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Scoring crediticio maduro con historial largo · Modelos de cobranza con muchas variables de comportamiento.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267712"/>
            <a:ext cx="11887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74320" y="2304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0.80 – 0.89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63040" y="2267712"/>
            <a:ext cx="11887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1463040" y="2304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0.60 – 0.78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51760" y="2267712"/>
            <a:ext cx="164592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2651760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Bueno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97680" y="2267712"/>
            <a:ext cx="4663440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297680" y="23042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Detección de fraude con buen conjunto de variables · Modelos GMM con preexistencias e historial médico.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706624"/>
            <a:ext cx="1188720" cy="42062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27432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490"/>
                </a:solidFill>
              </a:rPr>
              <a:t>0.75 – 0.79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463040" y="2706624"/>
            <a:ext cx="1188720" cy="42062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146304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490"/>
                </a:solidFill>
              </a:rPr>
              <a:t>0.50 – 0.58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51760" y="2706624"/>
            <a:ext cx="1645920" cy="42062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Aceptable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2706624"/>
            <a:ext cx="4663440" cy="42062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297680" y="2743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Modelos de siniestralidad por zona geográfica · Predicción de churn con señales limitadas.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145536"/>
            <a:ext cx="1188720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274320" y="3182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0.65 – 0.74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463040" y="3145536"/>
            <a:ext cx="1188720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1463040" y="3182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0.30 – 0.48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51760" y="3145536"/>
            <a:ext cx="1645920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265176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Pobre — útil como base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3145536"/>
            <a:ext cx="4663440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4297680" y="3182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Modelo inicial con pocas variables · Primera versión sin ajuste de hiperparámetros.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3584448"/>
            <a:ext cx="11887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274320" y="3621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0.50 – 0.64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463040" y="3584448"/>
            <a:ext cx="11887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1463040" y="3621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0.00 – 0.28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651760" y="3584448"/>
            <a:ext cx="16459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2651760" y="3621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Muy pobre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297680" y="3584448"/>
            <a:ext cx="466344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/>
          <p:nvPr/>
        </p:nvSpPr>
        <p:spPr>
          <a:xfrm>
            <a:off x="4297680" y="3621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Casi sin capacidad discriminante. Requiere revisión del dataset y de las variables incluidas.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4023360"/>
            <a:ext cx="11887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274320" y="4059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&lt; 0.50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463040" y="4023360"/>
            <a:ext cx="11887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/>
          <p:nvPr/>
        </p:nvSpPr>
        <p:spPr>
          <a:xfrm>
            <a:off x="1463040" y="4059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&lt; 0.00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651760" y="4023360"/>
            <a:ext cx="164592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2651760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Peor que aleatorio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297680" y="4023360"/>
            <a:ext cx="4663440" cy="420624"/>
          </a:xfrm>
          <a:prstGeom prst="rect">
            <a:avLst/>
          </a:prstGeom>
          <a:solidFill>
            <a:srgbClr val="FFF1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4297680" y="40599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</a:rPr>
              <a:t>Las etiquetas están al revés o el modelo tiene un error grave. Invertir las predicciones.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6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 Índice de Gini Actuarial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Gini = 2 × AUC − 1  ·  Transforma el AUC del rango [0.5, 1.0] al rango [0.0, 1.0]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42062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</a:rPr>
              <a:t>Gini  =  2 × AUC  − 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731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21B6"/>
                </a:solidFill>
              </a:rPr>
              <a:t>Ejemplo: AUC = 0.832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B21B6"/>
                </a:solidFill>
              </a:rPr>
              <a:t>Gini = 2 × 0.832 − 1 = 0.664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87952" cy="2249424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02336" y="117324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7490"/>
                </a:solidFill>
              </a:rPr>
              <a:t>¿Por qué existe el Gini?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84140"/>
            <a:ext cx="38953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El AUC de un clasificador completamente aleatorio es 0.50 — no 0.0. Esto hace que comparar modelos usando el AUC sea menos intuitivo para un no especialista.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El Gini elimina esa contribución del azar y reescala a [0, 1]: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  Gini = 0.00  →  idéntico al azar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  Gini = 1.00  →  discriminación perfecta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  Gini &lt; 0.00  →  peor que el azar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Matemáticamente: el Gini es el doble del área comprendida entre la curva ROC y la diagonal del clasificador aleatorio.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170432"/>
            <a:ext cx="4187952" cy="224942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809744" y="124358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¿Dónde se usa el Gini actuarial?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554480"/>
            <a:ext cx="38953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Es el estándar de facto en la industria de seguros y en scoring crediticio, particularmente en Europa y en modelos bajo Solvencia II.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Cuando el regulador, el auditor o la dirección técnica solicitan 'el Gini del modelo', esperan exactamente este número.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⚠️  NO confundir con el Gini de desigualdad económica: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El Gini de Lorenz mide la desigualdad en distribuciones de ingreso. El Gini actuarial mide la capacidad discriminante de un modelo predictivo. Comparten el nombre pero son conceptos completamente distintos.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343814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Tabla de conversión rápida AUC ↔ Gini: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3986"/>
            <a:ext cx="1005840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74320" y="361398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80160" y="3613986"/>
            <a:ext cx="1005840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280160" y="361398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Gini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613986"/>
            <a:ext cx="1463040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286000" y="361398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Calidad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51730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274320" y="385173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1.00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0160" y="3851730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280160" y="385173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1.00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3851730"/>
            <a:ext cx="14630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2286000" y="385173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Perfecto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016322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74320" y="401632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0.95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0" y="4016322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1280160" y="401632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0.90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0" y="4016322"/>
            <a:ext cx="14630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286000" y="401632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Excelente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80914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274320" y="418091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0.85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80160" y="4180914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1280160" y="418091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0.70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4180914"/>
            <a:ext cx="14630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286000" y="418091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Bueno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345506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274320" y="434550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0.75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80160" y="4345506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1280160" y="434550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0.50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0" y="4345506"/>
            <a:ext cx="14630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2286000" y="4345506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Aceptable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510098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274320" y="451009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0.65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280160" y="4510098"/>
            <a:ext cx="10058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1280160" y="451009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0.30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0" y="4510098"/>
            <a:ext cx="1463040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286000" y="451009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Pobre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864608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274320" y="486460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490"/>
                </a:solidFill>
              </a:rPr>
              <a:t>0.50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280160" y="4864608"/>
            <a:ext cx="10058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1280160" y="486460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0.00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0" y="4864608"/>
            <a:ext cx="1463040" cy="1554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2286000" y="486460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Aleatorio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023360" y="343814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Comparación — mismo portafolio, tres modelos: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023360" y="3613986"/>
            <a:ext cx="2048256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4023360" y="361398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71616" y="3613986"/>
            <a:ext cx="804672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/>
          <p:nvPr/>
        </p:nvSpPr>
        <p:spPr>
          <a:xfrm>
            <a:off x="6071616" y="361398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76288" y="3613986"/>
            <a:ext cx="804672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6876288" y="361398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Gini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680960" y="3613986"/>
            <a:ext cx="1078992" cy="237744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/>
          <p:nvPr/>
        </p:nvSpPr>
        <p:spPr>
          <a:xfrm>
            <a:off x="7680960" y="361398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Calidad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23360" y="3851730"/>
            <a:ext cx="204825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4023360" y="385173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Regresión Logística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71616" y="3851730"/>
            <a:ext cx="80467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6071616" y="385173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490"/>
                </a:solidFill>
              </a:rPr>
              <a:t>0.742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76288" y="3851730"/>
            <a:ext cx="80467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6876288" y="385173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490"/>
                </a:solidFill>
              </a:rPr>
              <a:t>0.484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680960" y="3851730"/>
            <a:ext cx="10789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7680960" y="385173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490"/>
                </a:solidFill>
              </a:rPr>
              <a:t>Aceptable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023360" y="4180914"/>
            <a:ext cx="2048256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73"/>
          <p:cNvSpPr/>
          <p:nvPr/>
        </p:nvSpPr>
        <p:spPr>
          <a:xfrm>
            <a:off x="4023360" y="418091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71616" y="4180914"/>
            <a:ext cx="804672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75"/>
          <p:cNvSpPr/>
          <p:nvPr/>
        </p:nvSpPr>
        <p:spPr>
          <a:xfrm>
            <a:off x="6071616" y="418091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0.801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76288" y="4180914"/>
            <a:ext cx="804672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77"/>
          <p:cNvSpPr/>
          <p:nvPr/>
        </p:nvSpPr>
        <p:spPr>
          <a:xfrm>
            <a:off x="6876288" y="418091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0.602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680960" y="4180914"/>
            <a:ext cx="1078992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79"/>
          <p:cNvSpPr/>
          <p:nvPr/>
        </p:nvSpPr>
        <p:spPr>
          <a:xfrm>
            <a:off x="7680960" y="418091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Bueno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023360" y="4503064"/>
            <a:ext cx="204825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Text 81"/>
          <p:cNvSpPr/>
          <p:nvPr/>
        </p:nvSpPr>
        <p:spPr>
          <a:xfrm>
            <a:off x="4023360" y="452592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GBM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071616" y="4503064"/>
            <a:ext cx="80467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Text 83"/>
          <p:cNvSpPr/>
          <p:nvPr/>
        </p:nvSpPr>
        <p:spPr>
          <a:xfrm>
            <a:off x="6071616" y="45259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0.863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876288" y="4503064"/>
            <a:ext cx="80467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6876288" y="45259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0.726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680960" y="4503064"/>
            <a:ext cx="10789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87"/>
          <p:cNvSpPr/>
          <p:nvPr/>
        </p:nvSpPr>
        <p:spPr>
          <a:xfrm>
            <a:off x="7680960" y="45259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Bueno-Exc.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2" name="Text 90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4" name="Text 92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7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Interpretación Geométrica — Cuatro Formas Posibles de la Curva ROC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La forma de la curva refleja directamente la calidad del discriminador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9456" y="658368"/>
            <a:ext cx="4169664" cy="1993392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10896" y="71323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Clasificador Perfecto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" y="9326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</a:rPr>
              <a:t>AUC = 1.00  ·  Gini = 1.00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" y="1133856"/>
            <a:ext cx="0" cy="137160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1792" y="2487168"/>
            <a:ext cx="3694176" cy="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21792" y="2487168"/>
            <a:ext cx="369417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1792" y="1115568"/>
            <a:ext cx="3694176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34812" y="2002535"/>
            <a:ext cx="3373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Curva en ángulo recto: detecta el 100% de positivos antes de cualquier falso positivo. Nunca ocurre en la práctica — siempre indica data leakage o error.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81728" y="658368"/>
            <a:ext cx="4169664" cy="1993392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773168" y="71323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7490"/>
                </a:solidFill>
              </a:rPr>
              <a:t>Clasificador Excelente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3168" y="9326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AUC ≈ 0.92  ·  Gini ≈ 0.84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84064" y="1133856"/>
            <a:ext cx="0" cy="137160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084064" y="2487168"/>
            <a:ext cx="3694176" cy="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369417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084064" y="2487168"/>
            <a:ext cx="110825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194889" y="1636776"/>
            <a:ext cx="184709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379598" y="1335024"/>
            <a:ext cx="369418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749016" y="1184148"/>
            <a:ext cx="628010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377026" y="1129284"/>
            <a:ext cx="2401214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197084" y="2084832"/>
            <a:ext cx="35811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Curva muy abultada hacia la esquina superior izquierda. Típico de modelos de scoring crediticio maduros o detección de fraude con muchas variables.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9456" y="2907792"/>
            <a:ext cx="4169664" cy="1993392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10896" y="29626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Clasificador Bueno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0896" y="318211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AUC ≈ 0.83  ·  Gini ≈ 0.66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" y="3383280"/>
            <a:ext cx="0" cy="137160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21792" y="4736592"/>
            <a:ext cx="3694176" cy="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21792" y="4736592"/>
            <a:ext cx="369417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21792" y="4736592"/>
            <a:ext cx="55413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677205" y="4256532"/>
            <a:ext cx="166238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843443" y="3845052"/>
            <a:ext cx="332476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1175918" y="3611880"/>
            <a:ext cx="738835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1914754" y="3447288"/>
            <a:ext cx="1108253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3023006" y="3378708"/>
            <a:ext cx="1292962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941833" y="4320540"/>
            <a:ext cx="3355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Curva moderadamente abultada. Típico de modelos GMM, siniestralidad de auto o predicción de hospitalización en seguros de salud.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81728" y="2907792"/>
            <a:ext cx="4169664" cy="1993392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773168" y="29626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Clasificador Aleatorio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73168" y="318211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AUC = 0.50  ·  Gini = 0.00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84064" y="3383280"/>
            <a:ext cx="0" cy="137160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5084064" y="4736592"/>
            <a:ext cx="3694176" cy="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5084064" y="4736592"/>
            <a:ext cx="369417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5084064" y="4736592"/>
            <a:ext cx="92354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6007608" y="4393692"/>
            <a:ext cx="92354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6931152" y="4050792"/>
            <a:ext cx="92354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7854696" y="3707892"/>
            <a:ext cx="92354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5194889" y="3442715"/>
            <a:ext cx="349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</a:rPr>
              <a:t>La diagonal: el modelo no discrimina mejor que el azar. Puede ocurrir si las variables no tienen poder predictivo o hay error en el dataset.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Selección del Umbral Óptimo τ* Desde la Curva ROC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Primero se elige el modelo por AUC — luego se determina τ según el criterio del negocio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La curva ROC no solo sirve para comparar modelos — también indica el umbral óptimo de operación. Existen dos criterios complementarios: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24528" cy="3182112"/>
          </a:xfrm>
          <a:prstGeom prst="rect">
            <a:avLst/>
          </a:prstGeom>
          <a:solidFill>
            <a:srgbClr val="EFF8FA"/>
          </a:solidFill>
          <a:ln w="9525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D7490"/>
                </a:solidFill>
              </a:rPr>
              <a:t>Método 1 — Estadístico J de Youden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" y="1389888"/>
            <a:ext cx="39319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Criterio: maximizar la distancia entre la curva ROC y la diagonal.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Fórmula: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J  =  TPR  −  FPR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τ*  =  argmax( J 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Interpretación: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El punto de la curva más alejado de la diagonal del clasificador aleatorio. Maximiza simultáneamente la sensibilidad y la especificidad.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¿Cuándo usarlo?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Cuando los costos de FP y FN no están cuantificados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Como punto de partida exploratorio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Cuando se quiere equilibrar sensibilidad y especificidad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45152" y="1024128"/>
            <a:ext cx="4224528" cy="3182112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773168" y="1097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</a:rPr>
              <a:t>Método 2 — Umbral basado en costos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73168" y="1389888"/>
            <a:ext cx="39319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Criterio: minimizar el costo total esperado del modelo.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Fórmula: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τ*  =  C_FP / (C_FP + C_FN)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donde: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C_FP = costo de un Falso Positivo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C_FN = costo de un Falso Negativo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¿Cuándo usarlo?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Cuando los costos de FP y FN están definidos por el negocio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En proyectos con impacto financiero medible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• Es el estándar en actuaría aplicada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Ejemplo: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C_FP = $3,500 · C_FN = $185,000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τ* = 3,500/(3,500+185,000) = 0.019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85953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02336" y="4334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Regla de uso: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4517136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1. Comparar y elegir el mejor modelo usando el AUC — sin depender de ningún umbral.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2. Una vez elegido el modelo, determinar τ* según el criterio del negocio (Youden o costos).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ROC-AUC vs Curva Precisión-Recall — Cuándo Usar Cada Una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</a:rPr>
              <a:t>No son intercambiables: la elección depende de la prevalencia y del contexto del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Ambas curvas evalúan clasificadores binarios, pero difieren en lo que miden y cuándo son más informativas: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2743200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Característica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969264"/>
            <a:ext cx="2926080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017520" y="969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Curva ROC / AUC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969264"/>
            <a:ext cx="2926080" cy="274320"/>
          </a:xfrm>
          <a:prstGeom prst="rect">
            <a:avLst/>
          </a:prstGeom>
          <a:solidFill>
            <a:srgbClr val="0D2137"/>
          </a:solidFill>
          <a:ln w="9525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943600" y="969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Curva Precisión-Recall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243584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9184" y="128930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Eje 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1243584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072384" y="128930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FPR = FP/(FP+VN)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243584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998464" y="128930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Recall = VP/(VP+FN)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737360"/>
            <a:ext cx="274320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29184" y="17830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Eje 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1737360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072384" y="17830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TPR = VP/(VP+FN)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737360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998464" y="17830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Precisión = VP/(VP+FP)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231136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29184" y="227685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Baseline (modelo aleatorio)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2231136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072384" y="22768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Diagonal: AUC = 0.50 (fija, independiente de prevalencia)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2231136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998464" y="22768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Línea horizontal en la prevalencia (varía según el dataset)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724912"/>
            <a:ext cx="274320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329184" y="27706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Sensibilidad a prevalencia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0" y="2724912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072384" y="27706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Insensible: el AUC es estable aunque cambie la proporción de clases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724912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998464" y="27706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Sensible: con prevalencia muy baja la curva baja y la comparación cambia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218688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329184" y="3264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¿Cuándo preferirla?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17520" y="3218688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3072384" y="326440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Comparación general de modelos · Prevalencia entre 2% y 40% · Reporte actuarial (Gini)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0" y="3218688"/>
            <a:ext cx="2926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998464" y="326440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Prevalencia &lt;2% (fraude raro, mortalidad vida) · Cuando FP y FN tienen costos muy asimétricos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712464"/>
            <a:ext cx="274320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329184" y="375818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Estándar en seguros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17520" y="3712464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3072384" y="37581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1B6"/>
                </a:solidFill>
              </a:rPr>
              <a:t>✓ El Gini es el estándar regulatorio en Europa (Solvencia II)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712464"/>
            <a:ext cx="292608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5998464" y="37581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490"/>
                </a:solidFill>
              </a:rPr>
              <a:t>Complementa al ROC en casos extremos — menos usado de forma aislada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Regla práctica: reportar siempre AUC + Gini. Agregar la curva Precisión-Recall solo si la prevalencia es &lt; 2% o los costos de FP y FN son muy asimétricos.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Marco Teórico — Resumen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40080"/>
            <a:ext cx="8631936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73152" cy="7498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02336" y="694944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La curva ROC evalúa el modelo en TODOS los umbrales τ simultáneamente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" y="969264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No es necesario elegir τ para comparar dos modelos. La curva y el AUC son independientes del umbral, lo que permite comparaciones justas.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8631936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444752"/>
            <a:ext cx="73152" cy="7498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02336" y="1499616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AUC = probabilidad de discriminar correctamente un par positivo/negativo elegido al azar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773936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AUC = 0.83 → el modelo asigna mayor probabilidad al caso positivo el 83% de las veces. Es independiente de la prevalencia.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249424"/>
            <a:ext cx="8631936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73152" cy="7498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2336" y="2304288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Gini = 2 × AUC − 1 — el estándar de la industria actuarial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578608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Reescala el AUC al rango [0, 1] eliminando la contribución del azar. Cuando el regulador pide 'el Gini del modelo', espera este número específico.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054096"/>
            <a:ext cx="8631936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6032" y="3054096"/>
            <a:ext cx="73152" cy="7498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3108960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Tabla de referencia: AUC &gt; 0.80 (Gini &gt; 0.60) = bueno en seguros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383280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Los rangos varían por ramo: Vida individual 0.85–0.95 · GMM 0.75–0.88 · Fraude auto 0.78–0.90. AUC = 1.00 siempre indica data leakage.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3858768"/>
            <a:ext cx="73152" cy="74980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3913632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El umbral τ se elige DESPUÉS de seleccionar el modelo por AUC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4187952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Método Youden: τ* = argmax(TPR − FPR). Método de costos: τ* = C_FP / (C_FP + C_FN). El segundo es el estándar en actuaría aplicada.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A4A"/>
          </a:solidFill>
          <a:ln w="9525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74320" y="4878324"/>
            <a:ext cx="7132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Diplomado ML en Seguros  ·  Teoría: Curva ROC, AUC e Índice de Gini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772400" y="48737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11 /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4191</TotalTime>
  <Words>3023</Words>
  <Application>Microsoft Office PowerPoint</Application>
  <PresentationFormat>Presentación en pantalla (16:9)</PresentationFormat>
  <Paragraphs>417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Karla Eugenia Medina Diaz</cp:lastModifiedBy>
  <cp:revision>2</cp:revision>
  <dcterms:created xsi:type="dcterms:W3CDTF">2026-08-03T01:48:33Z</dcterms:created>
  <dcterms:modified xsi:type="dcterms:W3CDTF">2026-08-05T23:53:49Z</dcterms:modified>
</cp:coreProperties>
</file>
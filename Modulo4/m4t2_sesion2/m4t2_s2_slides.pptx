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0584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365760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 · TEMA 2  —  GLM CON PYTHON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¿Poisson, Gamma o Tweedie?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Severidad, large losses y cómo elegir el mejor modelo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2944368"/>
            <a:ext cx="2011680" cy="1828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815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2</a:t>
            </a:r>
            <a:pPr indent="0" marL="0">
              <a:buNone/>
            </a:pPr>
            <a:r>
              <a:rPr lang="en-US" sz="14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26 de agosto de 2026   ·   3 horas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755648" cy="310896"/>
          </a:xfrm>
          <a:prstGeom prst="roundRect">
            <a:avLst>
              <a:gd name="adj" fmla="val 50000"/>
            </a:avLst>
          </a:prstGeom>
          <a:solidFill>
            <a:srgbClr val="122A44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03320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Gamma · CV constante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32304" y="3703320"/>
            <a:ext cx="1155802" cy="310896"/>
          </a:xfrm>
          <a:prstGeom prst="roundRect">
            <a:avLst>
              <a:gd name="adj" fmla="val 50000"/>
            </a:avLst>
          </a:prstGeom>
          <a:solidFill>
            <a:srgbClr val="122A44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2304" y="3703320"/>
            <a:ext cx="11558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 losses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16122" y="3703320"/>
            <a:ext cx="780898" cy="310896"/>
          </a:xfrm>
          <a:prstGeom prst="roundRect">
            <a:avLst>
              <a:gd name="adj" fmla="val 50000"/>
            </a:avLst>
          </a:prstGeom>
          <a:solidFill>
            <a:srgbClr val="122A44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6122" y="3703320"/>
            <a:ext cx="7808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Tweedie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5035" y="3703320"/>
            <a:ext cx="1830629" cy="310896"/>
          </a:xfrm>
          <a:prstGeom prst="roundRect">
            <a:avLst>
              <a:gd name="adj" fmla="val 50000"/>
            </a:avLst>
          </a:prstGeom>
          <a:solidFill>
            <a:srgbClr val="122A44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5035" y="3703320"/>
            <a:ext cx="183062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AIC · BIC · pseudo R²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0" y="3703320"/>
            <a:ext cx="855878" cy="310896"/>
          </a:xfrm>
          <a:prstGeom prst="roundRect">
            <a:avLst>
              <a:gd name="adj" fmla="val 50000"/>
            </a:avLst>
          </a:prstGeom>
          <a:solidFill>
            <a:srgbClr val="122A44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703320"/>
            <a:ext cx="85587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stepwise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final: los tres mejores modelos guardados para la Sesión 3.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LA SESIÓN · 3 HORAS · 6 BLOQUES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Severidad a los Mejores Modelos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512064"/>
          </a:xfrm>
          <a:prstGeom prst="roundRect">
            <a:avLst>
              <a:gd name="adj" fmla="val 1428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463040"/>
            <a:ext cx="54864" cy="512064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5819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581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51790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 con Gamma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97680" y="151790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monto por siniestro · CV constante · por qué Lognormal no es GLM.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039112"/>
            <a:ext cx="8321040" cy="512064"/>
          </a:xfrm>
          <a:prstGeom prst="roundRect">
            <a:avLst>
              <a:gd name="adj" fmla="val 1428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039112"/>
            <a:ext cx="54864" cy="51206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1579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1579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09397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losses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97680" y="209397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1% de siniestros que distorsiona todo · capping, split, reaseguro.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615184"/>
            <a:ext cx="8321040" cy="512064"/>
          </a:xfrm>
          <a:prstGeom prst="roundRect">
            <a:avLst>
              <a:gd name="adj" fmla="val 1428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615184"/>
            <a:ext cx="54864" cy="512064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27340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27340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26700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Tweedie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297680" y="267004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prima pura de un jalón · compound Poisson-Gamma.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191256"/>
            <a:ext cx="8321040" cy="512064"/>
          </a:xfrm>
          <a:prstGeom prst="roundRect">
            <a:avLst>
              <a:gd name="adj" fmla="val 1428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191256"/>
            <a:ext cx="54864" cy="512064"/>
          </a:xfrm>
          <a:prstGeom prst="roundRect">
            <a:avLst>
              <a:gd name="adj" fmla="val 50000"/>
            </a:avLst>
          </a:prstGeom>
          <a:solidFill>
            <a:srgbClr val="B07CC6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" y="33101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B07CC6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324612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modelos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297680" y="324612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 · BIC · pseudo R² (y por qué en seguros es bajo).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3767328"/>
            <a:ext cx="8321040" cy="512064"/>
          </a:xfrm>
          <a:prstGeom prst="roundRect">
            <a:avLst>
              <a:gd name="adj" fmla="val 1428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76732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13A5BC"/>
          </a:solidFill>
          <a:ln/>
        </p:spPr>
      </p:sp>
      <p:sp>
        <p:nvSpPr>
          <p:cNvPr id="34" name="Shape 32"/>
          <p:cNvSpPr/>
          <p:nvPr/>
        </p:nvSpPr>
        <p:spPr>
          <a:xfrm>
            <a:off x="566928" y="38862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3A5BC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0120" y="382219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automatizada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297680" y="382219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Stepwise forward/backward · sus trampas · LASSO.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4343400"/>
            <a:ext cx="8321040" cy="512064"/>
          </a:xfrm>
          <a:prstGeom prst="roundRect">
            <a:avLst>
              <a:gd name="adj" fmla="val 1428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4343400"/>
            <a:ext cx="54864" cy="51206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566928" y="446227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60120" y="439826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mejores modelos + Python vs R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297680" y="43982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Generamos y GUARDAMOS freq/sev/agregado para la Sesión 3.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SEVERIDAD CON GAMMA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Monto por Siniestro — y su CV Constante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respuesta ya no es un conteo: es un monto positivo, solo sobre pólizas con siniestro.</a:t>
            </a:r>
            <a:endParaRPr lang="en-US" sz="1200" dirty="0"/>
          </a:p>
        </p:txBody>
      </p:sp>
      <p:pic>
        <p:nvPicPr>
          <p:cNvPr id="9" name="Image 0" descr="figuras/s2_c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54480"/>
            <a:ext cx="448056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1664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propiedad clave de Gamma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276088" y="196596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67528" y="19659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= σ/μ = 1/√α = cte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303520" y="257860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variabilidad RELATIVA (como % del monto) es la misma en todos los niveles.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120640" y="310896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20640" y="3108960"/>
            <a:ext cx="54864" cy="150876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7" name="Text 14"/>
          <p:cNvSpPr/>
          <p:nvPr/>
        </p:nvSpPr>
        <p:spPr>
          <a:xfrm>
            <a:off x="5303520" y="32186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tiene sentido actuarial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03520" y="352044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siniestro de $100,000 varía más EN PESOS que uno de $1,000 — pero su variabilidad relativa (±20%) es parecida. Eso es CV constante.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DOS FORMAS DEL MISMO GAMMA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o Offset — el Paralelo de Frecuencia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dilema de la exposición, ahora con el número de siniestros como peso.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1 · respuesta = severidad promedio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4160520" cy="1325880"/>
          </a:xfrm>
          <a:prstGeom prst="roundRect">
            <a:avLst>
              <a:gd name="adj" fmla="val 4138"/>
            </a:avLst>
          </a:prstGeom>
          <a:solidFill>
            <a:srgbClr val="081020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84248"/>
            <a:ext cx="388620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smf.glm(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'severidad ~ ...'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family=Gamma(links.Log()),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FD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freq_weights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=num_siniestros)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17720" y="1572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2 · respuesta = monto total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874520"/>
            <a:ext cx="4114800" cy="1325880"/>
          </a:xfrm>
          <a:prstGeom prst="roundRect">
            <a:avLst>
              <a:gd name="adj" fmla="val 4138"/>
            </a:avLst>
          </a:prstGeom>
          <a:solidFill>
            <a:srgbClr val="081020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984248"/>
            <a:ext cx="384048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smf.glm(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'monto_total ~ ...'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family=Gamma(links.Log()),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FD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=np.log(num_siniestros))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383280"/>
            <a:ext cx="8321040" cy="1234440"/>
          </a:xfrm>
          <a:prstGeom prst="roundRect">
            <a:avLst>
              <a:gd name="adj" fmla="val 5926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383280"/>
            <a:ext cx="54864" cy="123444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930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Mismos coeficientes — diferencia 9.6 × 10⁻¹⁵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número de siniestros pondera cada póliza: una con 5 siniestros aporta más información sobre la severidad que una con 1. El CV implícito del modelo se lee como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√escala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UNA TRAMPA COMÚN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Lognormal NO Es un GLM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 log(Y) con regresión lineal es tentador — y no es un GLM sobre 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4160520" cy="1554480"/>
          </a:xfrm>
          <a:prstGeom prst="roundRect">
            <a:avLst>
              <a:gd name="adj" fmla="val 470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600200"/>
            <a:ext cx="54864" cy="155448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7099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formal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" y="201168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familia exponencial natural exige estadístico suficiente T(y) = y. Para la Lognormal es T(y) = log(y) → NO pertenece a la NEF → no entra en glm().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60020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600200"/>
            <a:ext cx="54864" cy="155448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17099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consecuencia práctica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28032" y="201168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regresión sobre log(Y) modela E[log Y], NO E[Y]. Volver a la escala original exige un factor de corrección exp(σ̂²/2) que mete error.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337560"/>
            <a:ext cx="8321040" cy="1280160"/>
          </a:xfrm>
          <a:prstGeom prst="roundRect">
            <a:avLst>
              <a:gd name="adj" fmla="val 5714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337560"/>
            <a:ext cx="54864" cy="128016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472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salida: Gamma con liga log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767328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Gamma modela 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E[Y] directamente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sin corrección por sesgo, y comparte con la Lognormal la forma de la cola. Por eso es la opción recomendada para severidad — y la que usamos en toda la sesión.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· LARGE LOSSES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1% que Distorsiona Todo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Unos pocos siniestros enormes dominan el monto total y desestabilizan el modelo.</a:t>
            </a:r>
            <a:endParaRPr lang="en-US" sz="1200" dirty="0"/>
          </a:p>
        </p:txBody>
      </p:sp>
      <p:pic>
        <p:nvPicPr>
          <p:cNvPr id="9" name="Image 0" descr="figuras/s2_largelos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54480"/>
            <a:ext cx="466344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57800" y="155448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0680" y="1664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nuestra cartera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4068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1% más grande  →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monto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40680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5% más grande  →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monto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40680" y="25786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Percentil 99: $18,335 · máximo: $140,032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257800" y="310896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57800" y="3108960"/>
            <a:ext cx="54864" cy="150876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17" name="Text 14"/>
          <p:cNvSpPr/>
          <p:nvPr/>
        </p:nvSpPr>
        <p:spPr>
          <a:xfrm>
            <a:off x="5440680" y="3218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importa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40680" y="35204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los tratas, esos pocos montos inflan la severidad media y hacen inestables los rating factors. Hay que verlos ANTES de modelar.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· CÓMO SE TRATAN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Capping al Reaseguro XL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opciones, de menos a más agresiva — todas se documentan en la nota técnica.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600200"/>
            <a:ext cx="54864" cy="658368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6824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Capping (truncar) al P99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194767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limitar montos sobre el percentil 99; el exceso va a reaseguro XL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350008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350008"/>
            <a:ext cx="54864" cy="658368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4323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 por separado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26974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modelo attritional (chicos, frecuentes) + otro de large losses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099816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099816"/>
            <a:ext cx="54864" cy="658368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31821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Winsorizar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344728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reemplazar extremos por el percentil — menos agresivo que truncar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849624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849624"/>
            <a:ext cx="54864" cy="658368"/>
          </a:xfrm>
          <a:prstGeom prst="roundRect">
            <a:avLst>
              <a:gd name="adj" fmla="val 50000"/>
            </a:avLst>
          </a:prstGeom>
          <a:solidFill>
            <a:srgbClr val="B07CC6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robusta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4197096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Gaussiana Inversa (V(μ)=μ³) para colas más pesadas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77840" y="1600200"/>
            <a:ext cx="3154680" cy="2999232"/>
          </a:xfrm>
          <a:prstGeom prst="roundRect">
            <a:avLst>
              <a:gd name="adj" fmla="val 2439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1737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Efecto del capping al P99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21031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 media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cap: 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$1,309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cap: 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$1,180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32004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capping baja la media y estabiliza el CV. El exceso se cede a reaseguro XL.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3977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CNSF: documentar umbral y método.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· TWEEDIE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Prima Pura de un Solo Jalón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modelo en vez de dos: maneja la masa en cero y los positivos a la vez.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572768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72768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pure_premium = monto / exposición       V(μ) = μᵖ,   1 &lt; p &lt; 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compound Poisson-Gamma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6517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1272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4015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 pura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27832" y="26517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&lt; p &lt;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10712" y="31272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P-G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10712" y="34015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pura (masa en 0 + positivos)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44184" y="26517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7064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27064" y="31272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27064" y="34015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 pura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023360"/>
            <a:ext cx="8321040" cy="594360"/>
          </a:xfrm>
          <a:prstGeom prst="roundRect">
            <a:avLst>
              <a:gd name="adj" fmla="val 12308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023360"/>
            <a:ext cx="54864" cy="59436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cartera: </a:t>
            </a:r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 de pólizas con prima pura = 0. Tweedie las modela sin filtrarlas — a diferencia de Gamma, que solo ve las N&gt;0.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· ESTIMAR EL PARÁMETRO 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 que Mejor Ajusta la Prima Pura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Barrido del D² (pseudo R²) sobre p — y el matiz Python vs R.</a:t>
            </a:r>
            <a:endParaRPr lang="en-US" sz="1200" dirty="0"/>
          </a:p>
        </p:txBody>
      </p:sp>
      <p:pic>
        <p:nvPicPr>
          <p:cNvPr id="9" name="Image 0" descr="figuras/s2_tweed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54480"/>
            <a:ext cx="457200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66360" y="15544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1664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4924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óptimo =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49240" y="23317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cerca de Poisson que de Gamma: en esta cartera pesa más la frecuencia que la severidad.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166360" y="310896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66360" y="3108960"/>
            <a:ext cx="54864" cy="1508760"/>
          </a:xfrm>
          <a:prstGeom prst="roundRect">
            <a:avLst>
              <a:gd name="adj" fmla="val 50000"/>
            </a:avLst>
          </a:prstGeom>
          <a:solidFill>
            <a:srgbClr val="B07CC6"/>
          </a:solidFill>
          <a:ln/>
        </p:spPr>
      </p:sp>
      <p:sp>
        <p:nvSpPr>
          <p:cNvPr id="16" name="Text 13"/>
          <p:cNvSpPr/>
          <p:nvPr/>
        </p:nvSpPr>
        <p:spPr>
          <a:xfrm>
            <a:off x="5349240" y="3218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7C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vs R — el detalle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49240" y="35204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barrido de D² (rápido, aproximado).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tweedie.profile: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máxima verosimilitud (más costoso, más preciso).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4 · COMPARAR MODELOS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AIC, BIC y Pseudo R²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criterios para decidir cuál modelo se queda.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544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AIC = −2ℓ + 2p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0" y="1554480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5544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BIC = −2ℓ + log(n)·p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2402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es mejor. BIC penaliza más la complejidad (más conservador).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 R² — no viene en el summary, lo construimos: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926080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260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R²_McF = 1 − ℓ / ℓ₀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17720" y="2926080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9260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R²_dev = 1 − D / D₀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749040"/>
            <a:ext cx="8321040" cy="868680"/>
          </a:xfrm>
          <a:prstGeom prst="roundRect">
            <a:avLst>
              <a:gd name="adj" fmla="val 8421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749040"/>
            <a:ext cx="54864" cy="86868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Comparan el modelo contra el nulo: </a:t>
            </a:r>
            <a:pPr indent="0" marL="0">
              <a:buNone/>
            </a:pPr>
            <a:r>
              <a:rPr lang="en-US" sz="11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cuánta verosimilitud (o devianza) explicas de más.</a:t>
            </a:r>
            <a:pPr indent="0" marL="0">
              <a:buNone/>
            </a:pPr>
            <a:r>
              <a:rPr lang="en-US" sz="1150" i="1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Pero cuidado con leerlos como un R² de OLS →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4 · UNA ADVERTENCIA HONESTA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Seguros el Pseudo R² Es Bajo — y Está Bien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Verás 0.02–0.05. No es un mal modelo: la frecuencia es intrínsecamente aleatoria.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7498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64592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AIC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pseudo R² McFadden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Poisson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125,082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125,262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0.0198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Binomial Negativa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124,926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125,106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0.0177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11480" y="3063240"/>
            <a:ext cx="8321040" cy="1554480"/>
          </a:xfrm>
          <a:prstGeom prst="roundRect">
            <a:avLst>
              <a:gd name="adj" fmla="val 4706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3063240"/>
            <a:ext cx="54864" cy="155448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1729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leerlo bien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5204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siniestro de una póliza tiene una enorme componente aleatoria irreducible — ningún modelo la 'explica'. Por eso el pseudo R² es bajo por naturaleza,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diferencia de un R² de OLS.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 que importa es la comparación RELATIVA entre modelos (¿cuál tiene mejor AIC?) y la DISCRIMINACIÓN (Gini, lift), que medimos en la Sesión 3 — no un número alto.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5 · SELECCIÓN AUTOMATIZADA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Stepwise: Buscar el Modelo Solo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candidatos a mano no escala. El stepwise recorre el espacio de variables por AIC.</a:t>
            </a:r>
            <a:endParaRPr lang="en-US" sz="1200" dirty="0"/>
          </a:p>
        </p:txBody>
      </p:sp>
      <p:pic>
        <p:nvPicPr>
          <p:cNvPr id="9" name="Image 0" descr="figuras/s2_step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54480"/>
            <a:ext cx="466344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57800" y="1572768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1572768"/>
            <a:ext cx="54864" cy="91440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12" name="Text 9"/>
          <p:cNvSpPr/>
          <p:nvPr/>
        </p:nvSpPr>
        <p:spPr>
          <a:xfrm>
            <a:off x="5440680" y="16642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40680" y="195681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del nulo y AGREGA la que más baja el AIC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57800" y="2596896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57800" y="2596896"/>
            <a:ext cx="54864" cy="9144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6" name="Text 13"/>
          <p:cNvSpPr/>
          <p:nvPr/>
        </p:nvSpPr>
        <p:spPr>
          <a:xfrm>
            <a:off x="5440680" y="26883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40680" y="298094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del saturado y ELIMINA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57800" y="3621024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57800" y="3621024"/>
            <a:ext cx="54864" cy="91440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20" name="Text 17"/>
          <p:cNvSpPr/>
          <p:nvPr/>
        </p:nvSpPr>
        <p:spPr>
          <a:xfrm>
            <a:off x="5440680" y="37124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directions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40680" y="400507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 y quita en cada paso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257800" y="4617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Sesión 1 lo hicimos a mano; aquí lo automatizamos.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5 · ONE-HOT Y LAS TRAMPAS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Úsalo — pero Conoce sus Límites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stepwise es poderoso y traicionero a la vez.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6824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matiz con one-hot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196596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dummies, el stepwise selecciona CATEGORÍAS individuales: te dice qué niveles importan y sugiere agrupar el resto (p.ej. fusionar zonas de bajo riesgo).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572768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572768"/>
            <a:ext cx="54864" cy="123444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6824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trampas (rigor honesto)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96596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Greedy: no garantiza el óptimo global.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Los p-values post-selección ya NO son válidos.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Sobreajusta → valida out-of-sample (S3).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97180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971800"/>
            <a:ext cx="54864" cy="1645920"/>
          </a:xfrm>
          <a:prstGeom prst="roundRect">
            <a:avLst>
              <a:gd name="adj" fmla="val 50000"/>
            </a:avLst>
          </a:prstGeom>
          <a:solidFill>
            <a:srgbClr val="B07CC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90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7C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sucesor moderno: regularización (LASSO)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vez de agregar/quitar en saltos, LASSO penaliza los coeficientes de forma continua y hace la selección 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encoge a cero las variables que no aportan. Es la antesala del bloque de ML del diplomado, y resuelve de fondo lo que el stepwise hace por aproximación.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6 · EL ENTREGABLE CENTRAL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Mejores Modelos — Guardados para la S3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Ajustamos y persistimos los modelos que la Sesión 3 pondrá a trabajar.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572768"/>
            <a:ext cx="2697480" cy="73152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" y="2148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Poisson · offset log(expo)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stepwise → 27 params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27832" y="1572768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7832" y="1572768"/>
            <a:ext cx="2697480" cy="73152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2148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Gamma log · weights = 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stepwise → 24 params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44184" y="1572768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44184" y="1572768"/>
            <a:ext cx="2697480" cy="7315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6245352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Agregado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45352" y="2148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Tweedie · p = 1.3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45352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pura → 20 params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383280"/>
            <a:ext cx="8321040" cy="1234440"/>
          </a:xfrm>
          <a:prstGeom prst="roundRect">
            <a:avLst>
              <a:gd name="adj" fmla="val 5926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383280"/>
            <a:ext cx="54864" cy="123444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4930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 ligera y portable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3822192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serializamos los objetos (pesan cientos de MB). Guardamos fórmulas + rating factors en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modelos/metadatos.json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 la Sesión 3 los reconstruye con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cargar_modelos.py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(refit exacto en ~1 s).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6 · PYTHON VS R + CIERRE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Rigor en Dos Lenguajes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755648"/>
            <a:ext cx="4160520" cy="1600200"/>
          </a:xfrm>
          <a:prstGeom prst="roundRect">
            <a:avLst>
              <a:gd name="adj" fmla="val 3429"/>
            </a:avLst>
          </a:prstGeom>
          <a:solidFill>
            <a:srgbClr val="081020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65376"/>
            <a:ext cx="3886200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Gamma severidad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glm('sev ~ ...', Gamma(log),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freq_weights=N)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Tweedie p por D²  +  stepwise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TweedieRegressor(power=p)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forward_stepwise(...) 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AIC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755648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081020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865376"/>
            <a:ext cx="3840480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Gamma severidad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glm(sev ~ ..., Gamma(log),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weights=N)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Tweedie p por MLE  +  step()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tweedie.profile(pp ~ ...)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step(modelo)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52044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520440"/>
            <a:ext cx="54864" cy="109728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301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3 · 28 de agosto — poner los modelos a trabajar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3950208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de efectos (plotly) · validación out-of-sample (Gini, calibración, lift) · deducible y suma asegurada · análisis de sensibilidad · simulación de tarifa. </a:t>
            </a:r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al cerrar el tema: el MCP interpretador de GLM.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M4T2 · Sesión 2 — ¿Poisson, Gamma o Tweedie?</dc:title>
  <dc:subject>PptxGenJS Presentation</dc:subject>
  <dc:creator>Act. Eric Daniel Hernández Jardón</dc:creator>
  <cp:lastModifiedBy>Act. Eric Daniel Hernández Jardón</cp:lastModifiedBy>
  <cp:revision>1</cp:revision>
  <dcterms:created xsi:type="dcterms:W3CDTF">2026-08-24T18:55:18Z</dcterms:created>
  <dcterms:modified xsi:type="dcterms:W3CDTF">2026-08-24T18:55:18Z</dcterms:modified>
</cp:coreProperties>
</file>
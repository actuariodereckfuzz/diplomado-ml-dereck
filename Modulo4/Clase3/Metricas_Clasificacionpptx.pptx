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75" r:id="rId10"/>
    <p:sldId id="263" r:id="rId11"/>
    <p:sldId id="276" r:id="rId12"/>
    <p:sldId id="264" r:id="rId13"/>
    <p:sldId id="27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77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E0D7B-307C-285E-4E5E-258F2B319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2AF5D-FA47-A6C5-09A3-09FA796A8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9F1F1-CD3B-FDD1-F7E3-5B649EACD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3DF4E-7F5F-554D-AF7D-E0AEBD3CE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17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4219B-3FF6-ACB9-54C2-0FDF83D5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B162F-34EC-EABC-8DCB-595B93D34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CAC9-B8B9-3140-1A5C-D0ABEB5E7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63958-C8CE-731D-28EC-94FE04AA96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78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571C2-6B97-8A2F-0DC5-DDC310D21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44453-AE3D-12EF-D409-FACF1F29F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C74D9-3D45-8EBD-9C26-3CFD7C9D0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029DD-8421-43C4-A27B-17F1A43A6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74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347472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DIPLOMADO ML EN SEGUROS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Métricas de Evaluación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en Machine Learning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PARTE 2  ·  Subtemas 3 y 4  ·  Clasificación + Validación Temporal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Subtema 3  |  Métricas de Clasificación: Matriz · Precisión · Recall · F1 · ROC · AUC · Gini · Desbalance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</a:rPr>
              <a:t>10h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35844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Subtema 4  |  Validación Temporal y Backtesting Actuarial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3584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38BDF8"/>
                </a:solidFill>
              </a:rPr>
              <a:t>6h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5B21B6"/>
                </a:solidFill>
              </a:rPr>
              <a:t>SUBTEMA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1078992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</a:rPr>
              <a:t>3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Métricas para Problemas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 Clasificación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0" y="3063240"/>
            <a:ext cx="2560320" cy="429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91840" y="306324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⏱  10 horas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3.0  Clasificación Binaria en Seguros — El Ejemplo del Subtema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10,000 reclamaciones · 400 fraudes reales (4%) · Modelo GBM ya entrenado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1323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En clasificación, la variable objetivo es categórica: Fraude/Legítimo, Siniestro/Sin siniestro, Cancela/Renueva. La mayoría de los problemas en seguros son binarios (dos categorías).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42416"/>
          <a:ext cx="8979408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Problema de clasificación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Positivo (1)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Negativo (0)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Prevalencia típica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El reto principal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Detección de fraude en auto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Reclamación fraudulenta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Reclamación legítima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2-5%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Con 4% de fraude, un modelo trivial tiene 96% accuracy. La accuracy MIENTE.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Predicción de siniestro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Póliza con ≥1 siniestro al año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Póliza sin siniestros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8-15%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Alta aleatoriedad inherente (distribución Bernoulli/Poisson).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Cancelación de póliza (lapse)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Cliente cancela en 3 meses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Cliente renueva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10-25%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Más balanceado; la accuracy puede ser parcialmente útil.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Mortalidad anual (Vida)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Asegurado fallece en el año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Asegurado sobrevive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0.1-0.5%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Accuracy del 99.5% sin ningún modelo. Completamente inútil como métrica.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56032" y="3017520"/>
            <a:ext cx="8631936" cy="148132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274320" y="3063240"/>
            <a:ext cx="8430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El ejemplo que usaremos en TODO el Subtema 3: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6032" y="3300984"/>
            <a:ext cx="84307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Modelo GBM entrenado con 40,000 reclamaciones históricas (2019-2022). Se evalúa sobre 10,000 reclamaciones de 2023.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De las 10,000 reclamaciones del conjunto de prueba, 400 son fraudes reales (4% de prevalencia).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Resultados del modelo — Matriz de confusión:   VP = 280   ·   FN = 120   ·   FP = 210   ·   VN = 9,390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Fraude promedio = $35,000  ·  Costo de investigación SIU por caso = $3,500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1/12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3.1  La Matriz de Confusión — Base de Todas las Métricas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4 celdas, 4 números: VP · FN · FP · VN. Todas las métricas son combinaciones de estos 4 valores.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628113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La matriz de confusión tabula predicciones vs. valores reales. Es el punto de partida obligatorio de cualquier análisis de clasificación en seguros.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7990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PREDICHO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8398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1B6"/>
                </a:solidFill>
              </a:rPr>
              <a:t>FRAUDE (1)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8398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21B6"/>
                </a:solidFill>
              </a:rPr>
              <a:t>LEGÍTIMO (0)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99528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</a:rPr>
              <a:t>↑ REAL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" y="1022712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21B6"/>
                </a:solidFill>
              </a:rPr>
              <a:t>FRAUDE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5B21B6"/>
                </a:solidFill>
              </a:rPr>
              <a:t>(1)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2010264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21B6"/>
                </a:solidFill>
              </a:rPr>
              <a:t>LEGÍTIMO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5B21B6"/>
                </a:solidFill>
              </a:rPr>
              <a:t>(0)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1059288"/>
            <a:ext cx="237744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2286000" y="10592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</a:rPr>
              <a:t>VP = 280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</a:rPr>
              <a:t>Fraudes detectados 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59288"/>
            <a:ext cx="2377440" cy="91440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754880" y="10592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</a:rPr>
              <a:t>FN = 120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</a:rPr>
              <a:t>Fraudes NO detectados ✗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2046840"/>
            <a:ext cx="237744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2286000" y="2046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FP = 210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Falsas alarmas 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046840"/>
            <a:ext cx="237744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754880" y="2046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</a:rPr>
              <a:t>VN = 9,390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</a:rPr>
              <a:t>Legítimos correctos 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" y="2994998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Análisis económico — cada celda tiene un costo/beneficio cuantificable: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856299"/>
              </p:ext>
            </p:extLst>
          </p:nvPr>
        </p:nvGraphicFramePr>
        <p:xfrm>
          <a:off x="129423" y="3256075"/>
          <a:ext cx="8485632" cy="1676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6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Celda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Cantidad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Impacto económico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Consecuencia para el negocio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7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VP — Fraudes </a:t>
                      </a: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detectados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280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280 × $35,000 = $9,800,000 evitados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Reclamaciones no pagadas. Valor generado por el modelo.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FN — Fraudes NO detectados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120 × $35,000 = −$4,200,000 pagados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Pérdida directa. El modelo falló en detectarlos.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7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FP — Falsas alarmas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210 × $3,500 = −$735,000 en investigación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Costo operativo del SIU + molestia al asegurado legítimo.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7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Valor NETO del modelo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$9,800,000 − $4,200,000 − $735,000 = $4,865,000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vs. sin modelo: −$14,000,000 (todos los fraudes pagados)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256032" y="488922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2/12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3.2  Accuracy, Precisión, Recall y Especificidad — Cuatro Métricas, Cuatro Preguntas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Cada una responde una pregunta diferente. Ninguna es suficiente por sí sola.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8631936" cy="950976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56032" y="713232"/>
            <a:ext cx="54864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84048" y="777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0607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(VP + VN) / N = (280 + 9,390) / 10,000 = 96.70%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0607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= 96.70%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777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¿Qué % total clasifiqué bien?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0607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El modelo trivial 'todo es legítimo' obtiene 96.00%. Nuestro modelo avanzado solo mejora 0.70 pp. En datos desbalanceados, la accuracy MIENTE.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737360"/>
            <a:ext cx="8631936" cy="950976"/>
          </a:xfrm>
          <a:prstGeom prst="rect">
            <a:avLst/>
          </a:prstGeom>
          <a:solidFill>
            <a:srgbClr val="EFF8FA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256032" y="1737360"/>
            <a:ext cx="54864" cy="950976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84048" y="1801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7490"/>
                </a:solidFill>
              </a:rPr>
              <a:t>Precisión (Precision)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0D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(VP + FP) = 280 / (280 + 210) = 280 / 490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20848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7490"/>
                </a:solidFill>
              </a:rPr>
              <a:t>= 57.14%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1801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De los marcados fraude, ¿cuántos lo son?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0848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De las 490 alarmas generadas, solo 280 (57%) son fraudes reales. 210 son falsas alarmas costosas. Priorizar cuando FP son costosos (cancelaciones automáticas, rechazos).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761488"/>
            <a:ext cx="8631936" cy="950976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256032" y="2761488"/>
            <a:ext cx="54864" cy="9509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84048" y="2825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Recall / Sensibilidad (TPR)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3108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(VP + FN) = 280 / (280 + 120) = 280 / 400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3108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= 70.00%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28254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De los fraudes reales, ¿cuántos detecté?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3108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70% de los 400 fraudes fueron atrapados. 120 (30%) se escaparon y se pagaron. Priorizar cuando FN son costosos (fraude, enfermedades graves en salud).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785616"/>
            <a:ext cx="8631936" cy="950976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256032" y="3785616"/>
            <a:ext cx="54864" cy="9509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384048" y="38496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Especificidad (TNR)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" y="4133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/ (VN + FP) = 9,390 / (9,390 + 210) = 9,390 / 9,600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0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= 97.81%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38496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De los legítimos, ¿cuántos clasifiqué bien?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41330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Alta en datos desbalanceados porque la clase negativa es grande y fácil de clasificar. No es la métrica principal para detectar fraude; es trivialmente alta.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4800600"/>
            <a:ext cx="8631936" cy="2743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365760" y="48188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</a:rPr>
              <a:t>⚠️  NUNCA reportar solo accuracy en datos desbalanceados. Con 4% de prevalencia de fraude, un modelo que dice 'no fraude' siempre tiene 96% de accuracy detectando 0 fraudes. El regulador y el área de fraude saben esto.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3/12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3.3  F1-Score, Familia Fβ y el Tradeoff Precisión-Recall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La media armónica penaliza el valor más bajo · El umbral 0.5 es arbitrario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13232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2 × (Precisión × Recall) / (Precisión + Recall)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8631936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56032" y="1115568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2 × (0.571 × 0.700) / (0.571 + 0.700) = 2 × 0.3997 / 1.271 = 0.629 = 62.9%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55448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La media armónica es más honesta que la aritmética: si precisión=90% y recall=10%, la aritmética da 50% pero F1 = 18.2%. Si uno de los dos es muy bajo, F1 también lo 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883664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Efecto de cambiar el umbral de decisión τ (en lugar del 0.5 arbitrario):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157984"/>
          <a:ext cx="8485632" cy="1676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Umbral τ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Alarmas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¿Cuándo usar este umbral?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0.80  (conservador)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155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80.6%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31.3%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45.1%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SIU con muy pocos recursos de investigación.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0.50  (default sklearn)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490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280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57.1%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70.0%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62.9%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Punto de partida estándar (pero arbitrario).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0.30  (agresivo)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860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360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41.9%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90.0%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57.3%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Cuando no detectar fraude es muy costoso.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Youden óptimo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~420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~315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~105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75.0%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78.8%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76.9%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Maximiza J = TPR − FPR. El mejor balance.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256032" y="3364992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Familia Fβ — ponderar Recall sobre Precisión (o viceversa) según los costos del negocio: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6032" y="3639312"/>
            <a:ext cx="2798064" cy="1207008"/>
          </a:xfrm>
          <a:prstGeom prst="rect">
            <a:avLst/>
          </a:prstGeom>
          <a:solidFill>
            <a:srgbClr val="EFF8FA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256032" y="3639312"/>
            <a:ext cx="2798064" cy="4572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347472" y="3712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490"/>
                </a:solidFill>
              </a:rPr>
              <a:t>F0.5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05840" y="371246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Peso DOBLE a Precisión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7472" y="4023360"/>
            <a:ext cx="2615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Cuando los FP son muy costosos.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Ejemplo: cancelación automática de pólizas sospechosas. Cancelar a un cliente legítimo genera pérdida de negocio, molestia y riesgo legal.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72968" y="3639312"/>
            <a:ext cx="2798064" cy="120700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3172968" y="3639312"/>
            <a:ext cx="2798064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3264408" y="3712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</a:rPr>
              <a:t>F1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922776" y="371246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Peso IGUAL (estándar)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64408" y="4023360"/>
            <a:ext cx="2615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Cuando no hay preferencia clara entre FP y FN.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Es el más reportado en la literatura y en competencias de ML. El valor por defecto en sklearn.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89904" y="3639312"/>
            <a:ext cx="2798064" cy="1207008"/>
          </a:xfrm>
          <a:prstGeom prst="rect">
            <a:avLst/>
          </a:prstGeom>
          <a:solidFill>
            <a:srgbClr val="F5F3FF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1"/>
          <p:cNvSpPr/>
          <p:nvPr/>
        </p:nvSpPr>
        <p:spPr>
          <a:xfrm>
            <a:off x="6089904" y="3639312"/>
            <a:ext cx="2798064" cy="457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/>
          <p:nvPr/>
        </p:nvSpPr>
        <p:spPr>
          <a:xfrm>
            <a:off x="6181344" y="3712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21B6"/>
                </a:solidFill>
              </a:rPr>
              <a:t>F2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839712" y="371246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</a:rPr>
              <a:t>Peso DOBLE a Recall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81344" y="4023360"/>
            <a:ext cx="26151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Cuando los FN son muy costosos.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Ejemplo: detección de fraude. Un fraude no detectado cuesta $35,000; una falsa alarma de investigación cuesta $3,500. Ratio 10:1 → priorizar recall.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6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8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4/12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8CF76E0-17ED-40FB-1E46-F738D06D4336}"/>
              </a:ext>
            </a:extLst>
          </p:cNvPr>
          <p:cNvSpPr txBox="1"/>
          <p:nvPr/>
        </p:nvSpPr>
        <p:spPr>
          <a:xfrm>
            <a:off x="1948375" y="1538181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45720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s-MX" sz="1200" i="1" dirty="0">
                <a:solidFill>
                  <a:srgbClr val="5B21B6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Fβ = (1 + β²) × (Precisión × </a:t>
            </a:r>
            <a:r>
              <a:rPr lang="es-MX" sz="1200" i="1" dirty="0" err="1">
                <a:solidFill>
                  <a:srgbClr val="5B21B6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Recall</a:t>
            </a:r>
            <a:r>
              <a:rPr lang="es-MX" sz="1200" i="1" dirty="0">
                <a:solidFill>
                  <a:srgbClr val="5B21B6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 / (β² × Precisión + </a:t>
            </a:r>
            <a:r>
              <a:rPr lang="es-MX" sz="1200" i="1" dirty="0" err="1">
                <a:solidFill>
                  <a:srgbClr val="5B21B6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Recall</a:t>
            </a:r>
            <a:r>
              <a:rPr lang="es-MX" sz="1200" i="1" dirty="0">
                <a:solidFill>
                  <a:srgbClr val="5B21B6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)</a:t>
            </a:r>
            <a:endParaRPr lang="es-MX" sz="1100" dirty="0">
              <a:solidFill>
                <a:srgbClr val="475569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1E5CD15-BEE8-5CB5-725A-D4FDC177B6A8}"/>
              </a:ext>
            </a:extLst>
          </p:cNvPr>
          <p:cNvSpPr/>
          <p:nvPr/>
        </p:nvSpPr>
        <p:spPr>
          <a:xfrm>
            <a:off x="256032" y="713232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2 × (Precisión × Recall) / (Precisión + Recall)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196923D-9DDA-A9DB-72F8-0271D1DA503A}"/>
              </a:ext>
            </a:extLst>
          </p:cNvPr>
          <p:cNvSpPr/>
          <p:nvPr/>
        </p:nvSpPr>
        <p:spPr>
          <a:xfrm>
            <a:off x="256032" y="2477323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= (1+2^2) × (Precisión × Recall) / (2^2Precisión + Recall)=</a:t>
            </a:r>
          </a:p>
          <a:p>
            <a:pPr algn="ctr"/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(5 ) × (</a:t>
            </a:r>
            <a:r>
              <a:rPr lang="en-US" sz="1600" b="1" dirty="0" err="1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Recall) / (4*</a:t>
            </a:r>
            <a:r>
              <a:rPr lang="en-US" sz="1600" b="1" dirty="0" err="1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Recall)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81720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3.4  Curva ROC y AUC — Evaluación Global Independiente del Umbral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Evalúa el clasificador en TODOS los umbrales posibles simultáneamente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1323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Motivación: el umbral 0.5 es arbitrario. ¿Cómo comparar dos modelos de forma justa, independientemente del umbral elegido? La respuesta es la curva ROC.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42416"/>
            <a:ext cx="8631936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56032" y="1042416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Y: TPR = VP/(VP+FN) = Recall   |   Eje X: FPR = FP/(FP+VN) = 1−Especificidad   |   AUC = área bajo la curva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481328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Puntos de la curva ROC al variar τ de 1.0 (no detectar nada) a 0.0 (detectar todo):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755648"/>
          <a:ext cx="8522208" cy="18592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Umbral τ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TPR (Recall)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FPR (1−Espec.)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Punto en la curva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Interpretación actuarial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1.0  (inicio)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(0.000 , 0.000)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No marcamos ninguna reclamación como fraude.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0.80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31.3%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(0.003 , 0.313)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Conservador: pocas alarmas, casi todas son fraudes reales.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0.50  (default)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70.0%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2.2%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(0.022 , 0.700)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El punto que calculamos en el ejemplo del subtema.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0.30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90.0%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5.2%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(0.052 , 0.900)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Agresivo: detecta más fraudes pero genera más falsas alarmas.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0.10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98.5%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11.5%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(0.115 , 0.985)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Muy agresivo: casi todo marcado como fraude.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0.0  (fin)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(1.000 , 1.000)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Todo se marca como fraude. Completamente inútil.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2" name="Shape 11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5/12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75EAD-D2FE-C8E4-E17F-F2D5F628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F1EDF8-CD78-09B5-0A15-EA7D5C438670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D49DCE-299C-7AF9-9F8F-A77426B7041F}"/>
              </a:ext>
            </a:extLst>
          </p:cNvPr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8719FE-B464-BC1C-CA64-AD256471EB6E}"/>
              </a:ext>
            </a:extLst>
          </p:cNvPr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3.4  Curva ROC y AUC — Evaluación Global Independiente del Umbral</a:t>
            </a:r>
            <a:endParaRPr lang="en-US" sz="1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0508010-1510-00AE-C824-C19A1D61747E}"/>
              </a:ext>
            </a:extLst>
          </p:cNvPr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Evalúa el clasificador en TODOS los umbrales posibles simultáneamente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72DD9E4-36F9-FD67-8CE2-D59F0DD4CDF7}"/>
              </a:ext>
            </a:extLst>
          </p:cNvPr>
          <p:cNvSpPr/>
          <p:nvPr/>
        </p:nvSpPr>
        <p:spPr>
          <a:xfrm>
            <a:off x="256032" y="71323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Motivación: el umbral 0.5 es arbitrario. ¿Cómo comparar dos modelos de forma justa, independientemente del umbral elegido? La respuesta es la curva ROC.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3872B7B-DC5F-45C1-CE21-E77D0CA73966}"/>
              </a:ext>
            </a:extLst>
          </p:cNvPr>
          <p:cNvSpPr/>
          <p:nvPr/>
        </p:nvSpPr>
        <p:spPr>
          <a:xfrm>
            <a:off x="256032" y="1042416"/>
            <a:ext cx="8631936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05F680-D8BD-65B3-3F96-BEC32D049AD7}"/>
              </a:ext>
            </a:extLst>
          </p:cNvPr>
          <p:cNvSpPr/>
          <p:nvPr/>
        </p:nvSpPr>
        <p:spPr>
          <a:xfrm>
            <a:off x="256032" y="1042416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Y: TPR = VP/(VP+FN) = Recall   |   Eje X: FPR = FP/(FP+VN) = 1−Especificidad   |   AUC = área bajo la curva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0214B10-9809-3A93-D05C-BE9EA2BBD375}"/>
              </a:ext>
            </a:extLst>
          </p:cNvPr>
          <p:cNvSpPr/>
          <p:nvPr/>
        </p:nvSpPr>
        <p:spPr>
          <a:xfrm>
            <a:off x="256032" y="146304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El AUC (Área Bajo la Curva) es la probabilidad de que el modelo asigne una probabilidad de fraude MAYOR a una reclamación fraudulenta aleatoria que a una legítima aleatoria.</a:t>
            </a:r>
            <a:endParaRPr lang="en-US" sz="1100" dirty="0"/>
          </a:p>
        </p:txBody>
      </p:sp>
      <p:graphicFrame>
        <p:nvGraphicFramePr>
          <p:cNvPr id="15" name="Table 1">
            <a:extLst>
              <a:ext uri="{FF2B5EF4-FFF2-40B4-BE49-F238E27FC236}">
                <a16:creationId xmlns:a16="http://schemas.microsoft.com/office/drawing/2014/main" id="{BB4BDABD-703F-C94E-072C-7DED3188C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50496"/>
              </p:ext>
            </p:extLst>
          </p:nvPr>
        </p:nvGraphicFramePr>
        <p:xfrm>
          <a:off x="256032" y="1792224"/>
          <a:ext cx="8631936" cy="1463040"/>
        </p:xfrm>
        <a:graphic>
          <a:graphicData uri="http://schemas.openxmlformats.org/drawingml/2006/table">
            <a:tbl>
              <a:tblPr/>
              <a:tblGrid>
                <a:gridCol w="131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2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4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Gini = 2×AUC−1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Calidad del clasificador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Contexto en seguros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0.90 – 1.00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0.80 – 1.00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Excelente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Scoring crediticio maduro. AUC = 1.0 → revisar data leakage.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0.80 – 0.89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0.60 – 0.78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Bueno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Modelo de fraude bien calibrado, underwriting de vida.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0.70 – 0.79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0.40 – 0.58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Aceptable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Modelos de churn, siniestralidad por zona geográfica.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0.60 – 0.69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0.20 – 0.38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Pobre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El modelo aporta poco. Agregar más variables predictoras.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Aleatorio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Equivale a lanzar una moneda. Sin capacidad discriminante.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>
            <a:extLst>
              <a:ext uri="{FF2B5EF4-FFF2-40B4-BE49-F238E27FC236}">
                <a16:creationId xmlns:a16="http://schemas.microsoft.com/office/drawing/2014/main" id="{972743B9-6965-E7F8-3EA3-F773680C984B}"/>
              </a:ext>
            </a:extLst>
          </p:cNvPr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DEA30A6-1AC0-7D68-B496-DF857BF5934C}"/>
              </a:ext>
            </a:extLst>
          </p:cNvPr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FCDA8F2-22A9-17C1-B2AA-373B34773788}"/>
              </a:ext>
            </a:extLst>
          </p:cNvPr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9E0F3C8E-9251-B0E8-B839-893E95C2125C}"/>
              </a:ext>
            </a:extLst>
          </p:cNvPr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5/12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636153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3.5  Índice de Gini y Umbral Óptimo de Youden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Gini = 2×AUC−1 · Estándar actuarial · Umbral que maximiza J = TPR − FPR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8631936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56032" y="713232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 =  2 × AUC  −  1     reescala AUC del rango [0.5, 1.0] al rango [0.0, 1.0]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" y="1170432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El índice de Gini es el estándar en la industria actuarial y en modelos de scoring crediticio, especialmente en Europa y en la práctica de Solvencia II. Cuando el regulador o la dirección pide 'el Gini del modelo', se refieren a esta métrica específica.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155448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Diferencia con el Gini económico (desigualdad de Lorenz): aunque comparten el nombre, son conceptos completamente distintos. El Gini actuarial mide capacidad discriminante de un clasificador, no desigualdad de ingresos.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194651"/>
              </p:ext>
            </p:extLst>
          </p:nvPr>
        </p:nvGraphicFramePr>
        <p:xfrm>
          <a:off x="256032" y="1965960"/>
          <a:ext cx="8979408" cy="1463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3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Gini = 2×AUC−1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Equivalencia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Referencia en scoring actuarial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0.95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0.90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Clasificador casi perfecto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Excepcional. Verificar que no hay data leakage.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0.85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0.70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Excelente discriminación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Objetivo típico en modelos de fraude con buenas variables.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0.75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0.50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Buena discriminación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Umbral mínimo aceptable para un modelo de underwriting.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0.65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0.30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Discriminación moderada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El modelo aporta, pero hay espacio significativo de mejora.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0.55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0.10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Discriminación pobre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Revisar variables, datos y proceso de modelado.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256032" y="4443984"/>
            <a:ext cx="8631936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365760" y="44622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</a:rPr>
              <a:t>💡  En seguros: AUC &gt; 0.80 (Gini &gt; 0.60) es un buen modelo de fraude. AUC &gt; 0.75 es el umbral mínimo aceptable para modelos de underwriting o scoring actuarial.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6/12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5FFE8-237D-002E-41D0-A872F37A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EED33A-DC38-941D-ACE5-C0674322B2E2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804B51-767D-9368-6F40-E68B33E430B2}"/>
              </a:ext>
            </a:extLst>
          </p:cNvPr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F00426-F670-4E74-E47C-9BEB07DE8C01}"/>
              </a:ext>
            </a:extLst>
          </p:cNvPr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3.5  Índice de Gini y Umbral Óptimo de Youden</a:t>
            </a:r>
            <a:endParaRPr lang="en-US" sz="1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687000-D5E7-A538-9F17-F533C97A99FE}"/>
              </a:ext>
            </a:extLst>
          </p:cNvPr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Gini = 2×AUC−1 · Estándar actuarial · Umbral que maximiza J = TPR − FPR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3519BED-A2F5-F8EA-2DF5-C51DECAAD0D2}"/>
              </a:ext>
            </a:extLst>
          </p:cNvPr>
          <p:cNvSpPr/>
          <p:nvPr/>
        </p:nvSpPr>
        <p:spPr>
          <a:xfrm>
            <a:off x="256032" y="757545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Umbral óptimo de Youden — maximiza simultáneamente TPR y minimiza FPR:</a:t>
            </a:r>
            <a:endParaRPr lang="en-US" sz="12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7934631-6AA8-4538-5B16-06FA8F70F041}"/>
              </a:ext>
            </a:extLst>
          </p:cNvPr>
          <p:cNvSpPr/>
          <p:nvPr/>
        </p:nvSpPr>
        <p:spPr>
          <a:xfrm>
            <a:off x="256032" y="1013576"/>
            <a:ext cx="8631936" cy="1558173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8DDAEF9-148D-2305-18E4-7134F78A3852}"/>
              </a:ext>
            </a:extLst>
          </p:cNvPr>
          <p:cNvSpPr/>
          <p:nvPr/>
        </p:nvSpPr>
        <p:spPr>
          <a:xfrm>
            <a:off x="365760" y="1068441"/>
            <a:ext cx="8430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Youden J = TPR − FPR. El punto de la curva ROC más alejado de la diagonal (clasificador aleatorio) maximiza J.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Con los datos del ejemplo: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  τ = 0.50  →  J = 0.700 − 0.022 = 0.678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  τ = 0.30  →  J = 0.900 − 0.052 = 0.848  ← ÓPTIMO (mayor J)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Alternativa basada en costos: τ* = C_FP / (C_FP + C_FN) = $3,500 / ($3,500 + $35,000) = 0.091. Umbral mucho más bajo — agresivo en detección.</a:t>
            </a:r>
            <a:endParaRPr lang="en-US" sz="10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4B713F1-6A36-1BAA-2D35-8B3A8EB452CD}"/>
              </a:ext>
            </a:extLst>
          </p:cNvPr>
          <p:cNvSpPr/>
          <p:nvPr/>
        </p:nvSpPr>
        <p:spPr>
          <a:xfrm>
            <a:off x="256032" y="4443984"/>
            <a:ext cx="8631936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AA1AE2D-3A8E-F8ED-BB5E-71045ED511F7}"/>
              </a:ext>
            </a:extLst>
          </p:cNvPr>
          <p:cNvSpPr/>
          <p:nvPr/>
        </p:nvSpPr>
        <p:spPr>
          <a:xfrm>
            <a:off x="365760" y="446227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</a:rPr>
              <a:t>💡  En seguros: AUC &gt; 0.80 (Gini &gt; 0.60) es un buen modelo de fraude. AUC &gt; 0.75 es el umbral mínimo aceptable para modelos de underwriting o scoring actuarial.</a:t>
            </a:r>
            <a:endParaRPr lang="en-US" sz="10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B1909A5-2357-1C7A-FD0A-9C96D1D4CC01}"/>
              </a:ext>
            </a:extLst>
          </p:cNvPr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2BAC8BA-3A16-C264-B1BC-49C4CE08FEBA}"/>
              </a:ext>
            </a:extLst>
          </p:cNvPr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B0B7AE28-08F2-8B7B-5DE2-A1F365A45C48}"/>
              </a:ext>
            </a:extLst>
          </p:cNvPr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8E70A64-6952-575E-B7B3-62D9055D782D}"/>
              </a:ext>
            </a:extLst>
          </p:cNvPr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6/12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920308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3.6  El Desbalance de Clases — Estrategias Técnicas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En seguros la clase de interés SIEMPRE es minoritaria · 4 estrategias para manejarlo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13232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El desbalance no es un problema de los datos — es la naturaleza del negocio asegurador. Las estrategias técnicas son obligatorias para obtener modelos útiles.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24128"/>
          <a:ext cx="8631936" cy="2438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Estrategia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Cómo funciona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Ventaja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Cuándo usar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1. Métricas correctas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Reportar F1, AUC, Recall, Precisión en lugar de Accuracy.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Siempre honesta; no distorsionada por el desbalance.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SIEMPRE. Es la estrategia mínima obligatoria.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2. class_weight='balanced'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Asigna a cada observación un peso = 1 / (n_clases × frecuencia). Con 4% fraude, cada fraude pesa 12.5 veces más.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Simple de implementar, disponible en RF, LR, SVM, árbol.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Primera estrategia a probar antes de SMOTE.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3. SMOTE — Oversampling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Genera fraudes sintéticos interpolando entre fraudes reales en el espacio de características. NO duplica; crea nuevos puntos.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No pierde datos de la clase mayoritaria. Más información.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Cuando class_weight no es suficiente.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4. Ajuste del umbral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Mover τ de 0.5 al óptimo. Youden: max(TPR−FPR). Por costos: τ* = C_FP/(C_FP+C_FN) = 0.091.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No requiere re-entrenamiento. Fácil de implementar.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Siempre evaluar después de entrenar el modelo.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7/12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B97E8-A3B1-CE12-A425-364795F1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DA243D-0866-2808-87F0-AF6D1AD44DFC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32EF699-B988-D45F-E461-F499F122B689}"/>
              </a:ext>
            </a:extLst>
          </p:cNvPr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423DE7-B9BE-C7D3-72B7-B7E817BBD654}"/>
              </a:ext>
            </a:extLst>
          </p:cNvPr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3.6  El Desbalance de Clases — Estrategias Técnicas</a:t>
            </a:r>
            <a:endParaRPr lang="en-US" sz="1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0FF00B-BC64-7741-A4D5-31CA51437E7F}"/>
              </a:ext>
            </a:extLst>
          </p:cNvPr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En seguros la clase de interés SIEMPRE es minoritaria · 4 estrategias para manejarlo</a:t>
            </a:r>
            <a:endParaRPr lang="en-US" sz="9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F31FAA-8B1D-70E7-97BF-C58EF30CE60B}"/>
              </a:ext>
            </a:extLst>
          </p:cNvPr>
          <p:cNvSpPr/>
          <p:nvPr/>
        </p:nvSpPr>
        <p:spPr>
          <a:xfrm>
            <a:off x="256032" y="699164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Código Python para cada estrategia:</a:t>
            </a:r>
            <a:endParaRPr lang="en-US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9E41778-1D40-C92B-34FA-8A2CB78F5CF6}"/>
              </a:ext>
            </a:extLst>
          </p:cNvPr>
          <p:cNvSpPr/>
          <p:nvPr/>
        </p:nvSpPr>
        <p:spPr>
          <a:xfrm>
            <a:off x="403743" y="1066332"/>
            <a:ext cx="8631936" cy="3048467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83D3816-C055-66B2-2CE9-F89CEAB76322}"/>
              </a:ext>
            </a:extLst>
          </p:cNvPr>
          <p:cNvSpPr/>
          <p:nvPr/>
        </p:nvSpPr>
        <p:spPr>
          <a:xfrm>
            <a:off x="727300" y="1637481"/>
            <a:ext cx="8467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Estrategia 2: class_weight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RandomForestClassifier(class_weight='balanced', n_estimators=200)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Estrategia 3: SMOTE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imblearn.over_sampling import SMOTE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X_res, y_res = SMOTE(random_state=42).fit_resample(X_train, y_train)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Estrategia 4: umbral optimo de Youden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fpr, tpr, thresholds = roc_curve(y_test, y_prob)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tau_optimo = thresholds[np.argmax(tpr - fpr)]   # maximiza J = TPR - FPR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y_pred_opt = (y_prob &gt;= tau_optimo).astype(int)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Alternativa: umbral basado en costos (C_FP=3500, C_FN=35000)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tau_costos = 3500 / (3500 + 35000)   # = 0.091</a:t>
            </a:r>
            <a:endParaRPr lang="en-US" sz="9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3EFA562-D9D7-2220-AA33-E89181F1A8BC}"/>
              </a:ext>
            </a:extLst>
          </p:cNvPr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F20A32D-E7DC-6C8F-FD59-5F25383B79E2}"/>
              </a:ext>
            </a:extLst>
          </p:cNvPr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46594FD-0298-D22F-E36B-B88B59E11AB0}"/>
              </a:ext>
            </a:extLst>
          </p:cNvPr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583FE7C-A7DA-650A-765B-9DD1A4743BAB}"/>
              </a:ext>
            </a:extLst>
          </p:cNvPr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7/12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80973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3.7  Código Python Completo — Todas las Métricas de Clasificación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Desde la matriz de confusión hasta AUC, Gini y umbral óptimo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8631936" cy="4059936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79827" y="1378633"/>
            <a:ext cx="6852372" cy="2833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(confusion_matrix, classification_report,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roc_auc_score, roc_curve, f1_score, precision_score, recall_score)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GradientBoostingClassifier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np.random.seed(42); n=10000; prev=0.04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np.column_stack([np.random.rand(n,5)])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(np.random.rand(n) &lt; prev).astype(int)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X_tr,X_te,y_tr,y_te = train_test_split(X,y,test_size=.2,stratify=y,random_state=42)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GradientBoostingClassifier(n_estimators=200, max_depth=4).fit(X_tr, y_tr)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y_prob = model.predict_proba(X_te)[:,1]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Matriz de confusion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= confusion_matrix(y_te, y_pred)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tn, fp, fn, tp = cm.ravel()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print(f"VP={tp}  FN={fn}  FP={fp}  VN={tn}")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Todas las metricas basicas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print(f"Accuracy:    {(tp+tn)/(tp+tn+fp+fn)*100:.1f}%  &lt;- TRAMPA con datos desbalanceados")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print(f"Precision:   {precision_score(y_te, y_pred)*100:.1f}%  &lt;- calidad de las alarmas")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print(f"Recall:      {recall_score(y_te, y_pred)*100:.1f}%  &lt;- exhaustividad en deteccion")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print(f"F1-Score:    {f1_score(y_te, y_pred)*100:.1f}%  &lt;- balance precision/recall")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= roc_auc_score(y_te, y_prob)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print(f"AUC:         {auc:.4f}")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print(f"Gini:        {2*auc-1:.4f}  &lt;- estandar actuarial = 2*AUC - 1")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Umbral optimo de Youden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fpr, tpr, thresholds = roc_curve(y_te, y_prob)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 np.argmax(tpr - fpr)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print(f"Umbral optimo Youden: {thresholds[best]:.3f}  (J = {tpr[best]-fpr[best]:.3f})")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print(classification_report(y_te, y_pred, target_names=['Legitimo','Fraude']))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8/12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56032" y="91440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Subtema 3 — Resumen: Los 7 Conceptos Críticos de Clasificación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658368"/>
            <a:ext cx="8631936" cy="51206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64008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02336" y="7040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Matriz de confusión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9601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VP=280, FN=120, FP=210, VN=9390. Calcular siempre el impacto económico: VP evitó $9.8M en fraudes; FN costó $4.2M en fraudes pagados; FP costó $735K en investigaciones.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43584"/>
            <a:ext cx="8631936" cy="51206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56032" y="1243584"/>
            <a:ext cx="64008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02336" y="12893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Accuracy es engañosa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154533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96.70% suena bien pero el modelo trivial tiene 96.00%. La mejora real es 0.70 puntos. En datos desbalanceados, accuracy = trampa. NUNCA reportarla sola.</a:t>
            </a:r>
          </a:p>
        </p:txBody>
      </p:sp>
      <p:sp>
        <p:nvSpPr>
          <p:cNvPr id="12" name="Shape 10"/>
          <p:cNvSpPr/>
          <p:nvPr/>
        </p:nvSpPr>
        <p:spPr>
          <a:xfrm>
            <a:off x="256032" y="1828800"/>
            <a:ext cx="8631936" cy="51206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64008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02336" y="18745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Precisión = 57.1%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" y="213055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De 490 alarmas, 280 son fraudes reales. Alta precisión cuando FP son costosos (cancelaciones automáticas, rechazos de reclamaciones).</a:t>
            </a:r>
          </a:p>
        </p:txBody>
      </p:sp>
      <p:sp>
        <p:nvSpPr>
          <p:cNvPr id="16" name="Shape 14"/>
          <p:cNvSpPr/>
          <p:nvPr/>
        </p:nvSpPr>
        <p:spPr>
          <a:xfrm>
            <a:off x="256032" y="2414016"/>
            <a:ext cx="8631936" cy="51206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256032" y="2414016"/>
            <a:ext cx="64008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02336" y="24597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Recall = 70.0%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" y="2715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De 400 fraudes reales, detecté 280. Alta recall cuando FN son costosos (fraude: $35K por caso no detectado). Usar F2 en vez de F1.</a:t>
            </a:r>
          </a:p>
        </p:txBody>
      </p:sp>
      <p:sp>
        <p:nvSpPr>
          <p:cNvPr id="20" name="Shape 18"/>
          <p:cNvSpPr/>
          <p:nvPr/>
        </p:nvSpPr>
        <p:spPr>
          <a:xfrm>
            <a:off x="256032" y="2999232"/>
            <a:ext cx="8631936" cy="51206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256032" y="2999232"/>
            <a:ext cx="64008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02336" y="30449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F1 = 62.9%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" y="330098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Media armónica de Precisión y Recall. Si precisión=90% y recall=10% → F1=18.2%, no 50%. El umbral 0.5 es arbitrario; usar Youden o costos.</a:t>
            </a:r>
          </a:p>
        </p:txBody>
      </p:sp>
      <p:sp>
        <p:nvSpPr>
          <p:cNvPr id="24" name="Shape 22"/>
          <p:cNvSpPr/>
          <p:nvPr/>
        </p:nvSpPr>
        <p:spPr>
          <a:xfrm>
            <a:off x="256032" y="3584448"/>
            <a:ext cx="8631936" cy="51206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256032" y="3584448"/>
            <a:ext cx="64008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02336" y="36301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AUC + Gini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" y="388620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AUC = probabilidad de discriminar fraude/legítimo. AUC=0.85 → Gini=0.70. AUC &gt; 0.80 es bueno en seguros. Gini es el estándar actuarial europeo.</a:t>
            </a:r>
          </a:p>
        </p:txBody>
      </p:sp>
      <p:sp>
        <p:nvSpPr>
          <p:cNvPr id="28" name="Shape 26"/>
          <p:cNvSpPr/>
          <p:nvPr/>
        </p:nvSpPr>
        <p:spPr>
          <a:xfrm>
            <a:off x="256032" y="4169664"/>
            <a:ext cx="8631936" cy="512064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256032" y="4169664"/>
            <a:ext cx="64008" cy="5120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02336" y="42153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Desbalance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" y="447141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Siempre: class_weight='balanced' + ajuste de umbral. Si no alcanza: SMOTE. Y siempre: métricas F1/AUC, nunca accuracy sola.</a:t>
            </a:r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10h · 9/12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1828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312E81"/>
                </a:solidFill>
              </a:rPr>
              <a:t>SUBTEMA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1078992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</a:rPr>
              <a:t>4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Validación Temporal y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Backtesting Actuarial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0" y="3063240"/>
            <a:ext cx="2560320" cy="42976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291840" y="306324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⏱  6 horas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4.1  Por Qué K-Fold Estándar Es Incorrecto para Datos de Seguros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Principio causal: solo el pasado puede entrenar. El futuro evalúa. K-Fold viola esta regla.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13232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Los datos de seguros tienen orden temporal: pólizas de 2019, 2020, 2021, 2022, 2023, 2024. En enero de 2022, los datos de 2023 y 2024 no existen. Un modelo NO puede entrenarse con información que no existía en el momento de la predicción.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8631936" cy="3474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65760" y="113385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</a:rPr>
              <a:t>⚠️  K-Fold aleatorio con datos 2019-2024 genera folds como: Train=[2019, 2021, 2023] → Test=[2020, 2022]. El modelo usa inflación de 2023 para predecir siniestros de 2020. Es causalmente imposible y el MAE calculado es artificialmente bajo (30-50%).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1536192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TimeSeriesSplit — la solución correcta con datos 2019-2024 (5 splits):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810512"/>
          <a:ext cx="8979408" cy="14630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3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Split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Entrenamiento (solo el pasado)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Evaluación (el futuro inmediato)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¿Por qué es correcto?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Split 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2019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2020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Simula tarificar en enero 2020 con solo los datos de 2019 disponibles.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Split 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2019 — 2020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2021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Simula tarificar en enero 2021 con 2 años de historia acumulada.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Split 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2019 — 2021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Simula tarificar en enero 2022 con 3 años de historia acumulada.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Split 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2019 — 2022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Simula tarificar en enero 2023 con 4 años de historia acumulada.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Split 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2019 — 2023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Simula tarificar en enero 2024 con la máxima historia disponible.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256032" y="3255264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Comparación cuantificada — mismo modelo, mismos datos, diferente método de validación: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511296"/>
          <a:ext cx="8979408" cy="1432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Método de validación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MAE calculado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Motivo de la diferencia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Conclusión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K-Fold aleatorio (INCORRECTO)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$2,800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Usa datos futuros para predecir el pasado. MAE artificialmente optimista.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Sobreestima el desempeño real en ~50%.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TimeSeriesSplit (CORRECTO)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$4,200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El modelo nunca ve datos futuros. Simula condiciones reales de producción.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Estimación honesta y documentable.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Diferencia = data leakage temporal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$1,400  (50%)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El K-Fold le 'regala' al modelo información del futuro que no tendrá en producción.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Siempre usar TimeSeriesSplit.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10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1/7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4.2  Backtesting de Modelos de Pricing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¿Habría sido rentable el portafolio si hubiéramos tarifado con este modelo hace 3 años?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13232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El backtesting de pricing responde la pregunta más importante para la renovación tarifaria: si hubiera usado este modelo en el pasado, ¿habría sido suficiente la prima para cubrir los siniestros reales?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" y="1078992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Procedimiento de 5 pasos para el backtesting de pricing: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316736"/>
            <a:ext cx="86319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56032" y="1316736"/>
            <a:ext cx="42062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56032" y="1316736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1371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Definir periodo de entrenamiento: 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572768"/>
            <a:ext cx="7973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Datos de pólizas y siniestros completamente desarrollados de los años N-3 a N-1. Ejemplo: usar datos de 2019-2021 para construir el modelo tarifario. Los siniestros de esos años ya están cerrados y pagados.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847088"/>
            <a:ext cx="8631936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256032" y="1847088"/>
            <a:ext cx="42062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256032" y="1847088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" y="19019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Definir periodo de evaluación: 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103120"/>
            <a:ext cx="7973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El año N cuyos siniestros ya se conocen completamente. Ejemplo: pólizas de 2022 con siniestros desarrollados hasta 2024. En el backtesting, fingimos que es enero 2022 y no conocemos los siniestros.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377440"/>
            <a:ext cx="86319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56032" y="2377440"/>
            <a:ext cx="42062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256032" y="23774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" y="24323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Entrenar y predecir: 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2633472"/>
            <a:ext cx="7973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Entrenar el modelo con datos 2019-2021. Calcular la prima predicha para cada póliza de 2022 'como si' fuera enero 2022 y aún no conociéramos los siniestros de ese año.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907792"/>
            <a:ext cx="8631936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256032" y="2907792"/>
            <a:ext cx="42062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256032" y="290779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9808" y="29626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Obtener siniestralidad real: 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3163824"/>
            <a:ext cx="7973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Calcular la siniestralidad real observada en 2022 por segmento (zona × cobertura × antigüedad del vehículo). Estos son los datos 'reales' contra los cuales evaluamos el modelo.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438144"/>
            <a:ext cx="863193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256032" y="3438144"/>
            <a:ext cx="42062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256032" y="3438144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9808" y="3493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Calcular Ratio y métricas:  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" y="3694176"/>
            <a:ext cx="7973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Ratio = Prima predicha / Siniestralidad real. Si Ratio &lt; 1.0 → subpricing (pérdidas). Si Ratio &gt; 1.0 → overpricing (margen pero riesgo de perder negocio). Calcular también MAE y RMSE por segmento.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" y="4005072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Resultado típico por segmento (ejemplo ilustrativo):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4279392"/>
          <a:ext cx="8961120" cy="1432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Segmento de cartera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Prima predicha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Siniestralidad real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Ratio P/S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Diagnóstico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CDMX + Cobertura Amplia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$18,500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$22,400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0.83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Subpricing 17% — el modelo habría generado pérdidas en este segmento.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Monterrey + Cobertura Limitada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$12,800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$11,200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1.14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Overpricing 14% — margen saludable pero puede perder negocio ante competencia.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Total del portafolio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$14,200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$15,100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0.94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Subpricing leve del 6%. Revisar especialmente el segmento de CDMX Amplia.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3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5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2/7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4.3  Backtesting de Reservas IBNR y Model Drift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¿Fue suficiente la reserva calculada? · ¿Cuándo el modelo se degrada y hay que re-entrenar?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713232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BACKTESTING DE RESERVAS IBNR — verificar suficiencia retrospectiva: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950976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Procedimiento: construir el triángulo de desarrollo con datos hasta diciembre 2021 → calcular reserva IBNR estimada → esperar 2-3 años → comparar con siniestros realmente pagados en 2022-2024.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261872"/>
          <a:ext cx="8540496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Valor del ejemplo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Impacto práctico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Reserva IBNR estimada (dic-2021)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$52,000,000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Calculada con el modelo sobre el triángulo incompleto disponible en esa fecha.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Siniestros finalmente pagados (dic-2024)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$61,500,000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El desarrollo final, ahora completamente conocido y cerrado.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Déficit de reserva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$9,500,000  (18.3%)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Habría requerido fortalecimiento de reservas con impacto en el resultado técnico.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Métrica principal: RMSE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Obligatorio en reservas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Un déficit de $9.5M puede desencadenar acciones regulatorias. Los errores grandes son catastróficos.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56032" y="2633472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MODEL DRIFT — cuando el modelo se degrada con el tiempo: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6032" y="2871216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El model drift es la degradación gradual del desempeño a medida que las condiciones del entorno cambian. Es inevitable en seguros donde el portafolio evoluciona cada año.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163824"/>
          <a:ext cx="8522208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Causa de drift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Efecto en el modelo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Señal de alerta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Inflación general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Montos reales &gt; predichos sistemáticamente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MAE aumenta &gt; 20% vs. referencia histórica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Re-entrenar incluyendo efecto inflacionario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Nuevos vehículos (EV, ADAS)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Siniestralidad distinta de vehículos 2018-2020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R² cae más de 0.10 en los splits recientes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Agregar variables de tecnología del vehículo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COVID-19 / eventos atípicos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Reducción brusca de siniestralidad 2020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Error alto en ese año específico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Excluir o ponderar menos los años atípicos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Fraude adaptativo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Defraudadores aprenden a evadir el modelo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AUC cae más de 0.05 vs. referencia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Re-entrenar con fraudes recientes confirmados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256032" y="4626864"/>
            <a:ext cx="8631936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365760" y="464515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</a:rPr>
              <a:t>💡  Solvencia II (Art. 121) exige backtesting documentado y periódico para modelos internos de capital. CNSF sigue lineamientos similares. Monitorear MAE mensualmente: si sube &gt; 20% o AUC baja &gt; 0.05 → re-entrenar.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8" name="Shape 12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3/7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256032" y="1828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4.4  Código Python — TimeSeriesSplit y Walk-Forward Backtesting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56032" y="38404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D3FC"/>
                </a:solidFill>
              </a:rPr>
              <a:t>Comparación cuantificada K-Fold vs TimeSeriesSplit · Detección de model drift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13232"/>
            <a:ext cx="8631936" cy="4059936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47472" y="768096"/>
            <a:ext cx="8467344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TimeSeriesSplit, KFold, cross_val_score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GradientBoostingRegressor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mean_absolute_error, r2_score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 = np.repeat(range(2019, 2025), 800)           # 4,800 polizas, 6 años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inflacion = 1 + 0.065 * (years - 2019)             # inflacion del 6.5% anual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np.column_stack([years, np.random.rand(4800,3)])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inflacion * (8000 + np.random.normal(0, 3000, 4800))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GradientBoostingRegressor(n_estimators=100, max_depth=4, random_state=42)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Comparacion directa: K-Fold vs TimeSeriesSplit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kf_mae = -cross_val_score(m, X, y, cv=5, scoring='neg_mean_absolute_error').mean()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ts_mae = -cross_val_score(m, X, y, cv=TimeSeriesSplit(5),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scoring='neg_mean_absolute_error').mean()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print(f"K-Fold (INCORRECTO):     MAE = {kf_mae:,.0f}  (optimista por leakage temporal)")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print(f"TimeSeriesSplit (OK):    MAE = {ts_mae:,.0f}  (realista)")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print(f"Diferencia leakage:      MAE = {ts_mae-kf_mae:,.0f}  ({(ts_mae/kf_mae-1)*100:.0f}% mas alto el real)")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Walk-Forward backtesting año por año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print("\nWalk-Forward Backtesting:")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print(f"{'Split':&gt;5}  {'Train':&gt;12}  {'Test':&gt;5}  {'MAE':&gt;9}  {'R2':&gt;8}  {'Drift?'}")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yr in range(2020, 2025):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 = years &lt; yr;  te = years == yr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m.fit(X[tr], y[tr]);  yp = m.predict(X[te])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mae = mean_absolute_error(y[te], yp)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r2  = r2_score(y[te], yp)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drift = "DRIFT" if r2 &lt; 0.15 else "OK"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print(f"{yr-2019:&gt;5}  {2019}-{yr-1:&gt;4}  {yr:&gt;5}  {mae:&gt;8,.0f}  {r2:&gt;8.4f}  {drift}")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498080" y="4873752"/>
            <a:ext cx="1645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⏱ 6h · 4/7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256032" y="91440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Subtema 4 — Resumen + Los 5 Conceptos Más Importantes de las 25 Horas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658368"/>
            <a:ext cx="8631936" cy="530352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64008" cy="5303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02336" y="7040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Principio causal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9692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En seguros, los datos tienen orden temporal. Solo el pasado puede entrenar; el futuro evalúa. Jamás al revés.</a:t>
            </a:r>
          </a:p>
        </p:txBody>
      </p:sp>
      <p:sp>
        <p:nvSpPr>
          <p:cNvPr id="8" name="Shape 6"/>
          <p:cNvSpPr/>
          <p:nvPr/>
        </p:nvSpPr>
        <p:spPr>
          <a:xfrm>
            <a:off x="256032" y="1261872"/>
            <a:ext cx="8631936" cy="530352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56032" y="1261872"/>
            <a:ext cx="64008" cy="5303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02336" y="13075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K-Fold da MAE optimista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15727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Con datos por año, K-Fold mezcla futuro con pasado → MAE artificialmente 30-50% bajo. Siempre TimeSeriesSplit.</a:t>
            </a:r>
          </a:p>
        </p:txBody>
      </p:sp>
      <p:sp>
        <p:nvSpPr>
          <p:cNvPr id="12" name="Shape 10"/>
          <p:cNvSpPr/>
          <p:nvPr/>
        </p:nvSpPr>
        <p:spPr>
          <a:xfrm>
            <a:off x="256032" y="1865376"/>
            <a:ext cx="8631936" cy="530352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56032" y="1865376"/>
            <a:ext cx="64008" cy="5303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02336" y="19110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Backtesting de pricing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" y="21762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Ratio prima predicha / siniestralidad real por segmento. CDMX Amplia con ratio 0.83 → subpricing del 17%.</a:t>
            </a:r>
          </a:p>
        </p:txBody>
      </p:sp>
      <p:sp>
        <p:nvSpPr>
          <p:cNvPr id="16" name="Shape 14"/>
          <p:cNvSpPr/>
          <p:nvPr/>
        </p:nvSpPr>
        <p:spPr>
          <a:xfrm>
            <a:off x="256032" y="2468880"/>
            <a:ext cx="8631936" cy="530352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256032" y="2468880"/>
            <a:ext cx="64008" cy="5303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02336" y="25146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Backtesting de reservas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" y="27797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Compara IBNR estimado vs. siniestros realmente pagados. RMSE es la métrica: errores grandes causan insolvencia.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072384"/>
            <a:ext cx="8631936" cy="530352"/>
          </a:xfrm>
          <a:prstGeom prst="rect">
            <a:avLst/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256032" y="3072384"/>
            <a:ext cx="64008" cy="53035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02336" y="31181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Model drift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" y="33832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Monitorear MAE y AUC mensualmente. Si MAE sube &gt; 20% o AUC baja &gt; 0.05 → re-entrenar. Solvencia II lo exige.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8631936" cy="1042416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384048" y="3767328"/>
            <a:ext cx="8430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DD3FC"/>
                </a:solidFill>
              </a:rPr>
              <a:t>LOS 5 PUNTOS MÁS IMPORTANTES DE TODA LA ASIGNATURA (25 HORAS)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041648"/>
            <a:ext cx="8430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1.  RMSE/MAE &gt; 1.5  →  investigar residuos grandes. En reservas: RMSE. En pricing masivo: MAE.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187952"/>
            <a:ext cx="8430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2.  R²_train − R²_test &gt; 0.15  →  overfitting severo. Siempre reportar ambos juntos, nunca solo el de entrenamiento.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334256"/>
            <a:ext cx="8430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3.  NUNCA solo accuracy en desbalance. Con 4% fraude, accuracy=96% es trivial. Usar F1, AUC, Recall, Precisión.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480560"/>
            <a:ext cx="8430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4.  El umbral 0.5 es arbitrario. En fraude: τ* = $3,500/($3,500+$35,000) = 0.091. Usar Youden o costos del negocio.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626864"/>
            <a:ext cx="8430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5.  K-Fold aleatorio con datos por año = leakage temporal. La diferencia puede ser 50% del MAE. Siempre TimeSeriesSplit.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256032" y="4873752"/>
            <a:ext cx="6858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Diplomado ML en Seguros  ·  Métricas de Evaluación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26068</TotalTime>
  <Words>5507</Words>
  <Application>Microsoft Office PowerPoint</Application>
  <PresentationFormat>Presentación en pantalla (16:9)</PresentationFormat>
  <Paragraphs>619</Paragraphs>
  <Slides>21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Karla Eugenia Medina Diaz</cp:lastModifiedBy>
  <cp:revision>3</cp:revision>
  <dcterms:created xsi:type="dcterms:W3CDTF">2026-07-14T02:08:52Z</dcterms:created>
  <dcterms:modified xsi:type="dcterms:W3CDTF">2026-08-05T23:46:25Z</dcterms:modified>
</cp:coreProperties>
</file>
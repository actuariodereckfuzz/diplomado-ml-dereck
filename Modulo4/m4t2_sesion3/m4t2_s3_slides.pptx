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7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38344"/>
            <a:ext cx="9144000" cy="100584"/>
          </a:xfrm>
          <a:prstGeom prst="rect">
            <a:avLst/>
          </a:prstGeom>
          <a:solidFill>
            <a:srgbClr val="0D7A8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9728"/>
            <a:ext cx="3657600" cy="36576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60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 · TEMA 2  —  GLM CON PYTHON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el Modelo y Jugar con la Tarifa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D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Efectos, validación, sensibilidad y simulación de tarifa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66928" y="2944368"/>
            <a:ext cx="2011680" cy="1828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08152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3</a:t>
            </a:r>
            <a:pPr indent="0" marL="0">
              <a:buNone/>
            </a:pPr>
            <a:r>
              <a:rPr lang="en-US" sz="140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28 de agosto de 2026   ·   3 horas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703320"/>
            <a:ext cx="1499616" cy="310896"/>
          </a:xfrm>
          <a:prstGeom prst="roundRect">
            <a:avLst>
              <a:gd name="adj" fmla="val 50000"/>
            </a:avLst>
          </a:prstGeom>
          <a:solidFill>
            <a:srgbClr val="122A44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703320"/>
            <a:ext cx="14996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efectos parciales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176272" y="3703320"/>
            <a:ext cx="694944" cy="310896"/>
          </a:xfrm>
          <a:prstGeom prst="roundRect">
            <a:avLst>
              <a:gd name="adj" fmla="val 50000"/>
            </a:avLst>
          </a:prstGeom>
          <a:solidFill>
            <a:srgbClr val="122A44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76272" y="3703320"/>
            <a:ext cx="6949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plotly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999232" y="3703320"/>
            <a:ext cx="2084832" cy="310896"/>
          </a:xfrm>
          <a:prstGeom prst="roundRect">
            <a:avLst>
              <a:gd name="adj" fmla="val 50000"/>
            </a:avLst>
          </a:prstGeom>
          <a:solidFill>
            <a:srgbClr val="122A44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99232" y="3703320"/>
            <a:ext cx="20848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Gini · calibración · lift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212080" y="3703320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122A44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0" y="3703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deducible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254496" y="3703320"/>
            <a:ext cx="1719072" cy="310896"/>
          </a:xfrm>
          <a:prstGeom prst="roundRect">
            <a:avLst>
              <a:gd name="adj" fmla="val 50000"/>
            </a:avLst>
          </a:prstGeom>
          <a:solidFill>
            <a:srgbClr val="122A44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54496" y="3703320"/>
            <a:ext cx="1719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simulación de tarifa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4389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del tema · sobre los tres modelos guardados en la Sesión 2.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D7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"/>
            <a:ext cx="2926080" cy="2743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4864608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Act. Eric Daniel Hernández Jardón   ·   Módulo 4 · Tema 2 — GLM con Python   ·   Sesión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 DE LA SESIÓN · 3 HORAS · 5 BLOQUES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64008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los Modelos a la Tarifa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411480" y="1554480"/>
            <a:ext cx="8321040" cy="566928"/>
          </a:xfrm>
          <a:prstGeom prst="roundRect">
            <a:avLst>
              <a:gd name="adj" fmla="val 12903"/>
            </a:avLst>
          </a:prstGeom>
          <a:solidFill>
            <a:srgbClr val="0F2138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554480"/>
            <a:ext cx="54864" cy="566928"/>
          </a:xfrm>
          <a:prstGeom prst="roundRect">
            <a:avLst>
              <a:gd name="adj" fmla="val 50000"/>
            </a:avLst>
          </a:prstGeom>
          <a:solidFill>
            <a:srgbClr val="0D7A8A"/>
          </a:solidFill>
          <a:ln/>
        </p:spPr>
      </p:sp>
      <p:sp>
        <p:nvSpPr>
          <p:cNvPr id="10" name="Shape 8"/>
          <p:cNvSpPr/>
          <p:nvPr/>
        </p:nvSpPr>
        <p:spPr>
          <a:xfrm>
            <a:off x="566928" y="1700784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D7A8A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17007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2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1627632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Visualización de efectos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297680" y="1627632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le hace cada variable a la prima — curvas de efecto parcial (+ plotly).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212848"/>
            <a:ext cx="8321040" cy="566928"/>
          </a:xfrm>
          <a:prstGeom prst="roundRect">
            <a:avLst>
              <a:gd name="adj" fmla="val 12903"/>
            </a:avLst>
          </a:prstGeom>
          <a:solidFill>
            <a:srgbClr val="0F2138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212848"/>
            <a:ext cx="54864" cy="566928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sp>
        <p:nvSpPr>
          <p:cNvPr id="16" name="Shape 14"/>
          <p:cNvSpPr/>
          <p:nvPr/>
        </p:nvSpPr>
        <p:spPr>
          <a:xfrm>
            <a:off x="566928" y="2359152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2359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2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228600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out-of-sample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297680" y="2286000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¿Sirve con datos nuevos? Gini, calibración por deciles, lift.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2871216"/>
            <a:ext cx="8321040" cy="566928"/>
          </a:xfrm>
          <a:prstGeom prst="roundRect">
            <a:avLst>
              <a:gd name="adj" fmla="val 12903"/>
            </a:avLst>
          </a:prstGeom>
          <a:solidFill>
            <a:srgbClr val="0F2138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2871216"/>
            <a:ext cx="54864" cy="566928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</p:sp>
      <p:sp>
        <p:nvSpPr>
          <p:cNvPr id="22" name="Shape 20"/>
          <p:cNvSpPr/>
          <p:nvPr/>
        </p:nvSpPr>
        <p:spPr>
          <a:xfrm>
            <a:off x="566928" y="301752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3017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2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" y="2944368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Deducible y suma asegurada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297680" y="2944368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entran a la tarifa · por qué el deducible afecta la frecuencia.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" y="3529584"/>
            <a:ext cx="8321040" cy="566928"/>
          </a:xfrm>
          <a:prstGeom prst="roundRect">
            <a:avLst>
              <a:gd name="adj" fmla="val 12903"/>
            </a:avLst>
          </a:prstGeom>
          <a:solidFill>
            <a:srgbClr val="0F2138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" y="3529584"/>
            <a:ext cx="54864" cy="566928"/>
          </a:xfrm>
          <a:prstGeom prst="roundRect">
            <a:avLst>
              <a:gd name="adj" fmla="val 50000"/>
            </a:avLst>
          </a:prstGeom>
          <a:solidFill>
            <a:srgbClr val="B07CC6"/>
          </a:solidFill>
          <a:ln/>
        </p:spPr>
      </p:sp>
      <p:sp>
        <p:nvSpPr>
          <p:cNvPr id="28" name="Shape 26"/>
          <p:cNvSpPr/>
          <p:nvPr/>
        </p:nvSpPr>
        <p:spPr>
          <a:xfrm>
            <a:off x="566928" y="367588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B07CC6"/>
          </a:solidFill>
          <a:ln/>
        </p:spPr>
      </p:sp>
      <p:sp>
        <p:nvSpPr>
          <p:cNvPr id="29" name="Text 27"/>
          <p:cNvSpPr/>
          <p:nvPr/>
        </p:nvSpPr>
        <p:spPr>
          <a:xfrm>
            <a:off x="566928" y="36758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2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60120" y="3602736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de sensibilidad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297680" y="3602736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pasa con la prima si muevo un factor?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11480" y="4187952"/>
            <a:ext cx="8321040" cy="566928"/>
          </a:xfrm>
          <a:prstGeom prst="roundRect">
            <a:avLst>
              <a:gd name="adj" fmla="val 12903"/>
            </a:avLst>
          </a:prstGeom>
          <a:solidFill>
            <a:srgbClr val="0F2138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" y="4187952"/>
            <a:ext cx="54864" cy="566928"/>
          </a:xfrm>
          <a:prstGeom prst="roundRect">
            <a:avLst>
              <a:gd name="adj" fmla="val 50000"/>
            </a:avLst>
          </a:prstGeom>
          <a:solidFill>
            <a:srgbClr val="13A5BC"/>
          </a:solidFill>
          <a:ln/>
        </p:spPr>
      </p:sp>
      <p:sp>
        <p:nvSpPr>
          <p:cNvPr id="34" name="Shape 32"/>
          <p:cNvSpPr/>
          <p:nvPr/>
        </p:nvSpPr>
        <p:spPr>
          <a:xfrm>
            <a:off x="566928" y="4334256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13A5BC"/>
          </a:solidFill>
          <a:ln/>
        </p:spPr>
      </p:sp>
      <p:sp>
        <p:nvSpPr>
          <p:cNvPr id="35" name="Text 33"/>
          <p:cNvSpPr/>
          <p:nvPr/>
        </p:nvSpPr>
        <p:spPr>
          <a:xfrm>
            <a:off x="566928" y="43342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2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60120" y="4261104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Simulación de tarifa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4297680" y="4261104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prima pura a tarifa · escenarios sobre el portafolio.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D7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"/>
            <a:ext cx="2926080" cy="2743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4864608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Act. Eric Daniel Hernández Jardón   ·   Módulo 4 · Tema 2 — GLM con Python   ·   Sesión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1 · VISUALIZACIÓN DE EFECTOS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64008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Efecto Parcial de Cada Variable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411480" y="1152144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Fija todo en referencia, mueve una variable, y mira la prima — el plot(Effect()) de R, en Python.</a:t>
            </a:r>
            <a:endParaRPr lang="en-US" sz="1200" dirty="0"/>
          </a:p>
        </p:txBody>
      </p:sp>
      <p:pic>
        <p:nvPicPr>
          <p:cNvPr id="9" name="Image 0" descr="figuras/s3_efec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554480"/>
            <a:ext cx="4572000" cy="30632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166360" y="155448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0F2138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49240" y="16642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construye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230368" y="1965960"/>
            <a:ext cx="3429000" cy="566928"/>
          </a:xfrm>
          <a:prstGeom prst="roundRect">
            <a:avLst>
              <a:gd name="adj" fmla="val 9677"/>
            </a:avLst>
          </a:prstGeom>
          <a:solidFill>
            <a:srgbClr val="081020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21808" y="1965960"/>
            <a:ext cx="3246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μ̂(nivel) = exp(β̂₀ + β̂_nivel)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349240" y="257860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predice sobre una malla de la variable con el resto de covariables en su categoría base.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166360" y="3108960"/>
            <a:ext cx="3566160" cy="1508760"/>
          </a:xfrm>
          <a:prstGeom prst="roundRect">
            <a:avLst>
              <a:gd name="adj" fmla="val 4848"/>
            </a:avLst>
          </a:prstGeom>
          <a:solidFill>
            <a:srgbClr val="122A44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166360" y="3108960"/>
            <a:ext cx="54864" cy="1508760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sp>
        <p:nvSpPr>
          <p:cNvPr id="17" name="Text 14"/>
          <p:cNvSpPr/>
          <p:nvPr/>
        </p:nvSpPr>
        <p:spPr>
          <a:xfrm>
            <a:off x="5349240" y="32186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importa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349240" y="352044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tabla de 28 coeficientes no dice CÓMO se comporta una variable. La curva de efecto sí: revela si es monótona, si tiene un mínimo, y si el patrón tiene sentido actuarial.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D7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"/>
            <a:ext cx="2926080" cy="2743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4864608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Act. Eric Daniel Hernández Jardón   ·   Módulo 4 · Tema 2 — GLM con Python   ·   Sesión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1 · INTERACTIVO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64008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Comparar Efectos con Plotly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411480" y="1152144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Varias variables en una sola figura interactiva: hover para el valor, zoom, on/off por serie.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600200"/>
            <a:ext cx="4754880" cy="2377440"/>
          </a:xfrm>
          <a:prstGeom prst="roundRect">
            <a:avLst>
              <a:gd name="adj" fmla="val 2308"/>
            </a:avLst>
          </a:prstGeom>
          <a:solidFill>
            <a:srgbClr val="081020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709928"/>
            <a:ext cx="4480560" cy="2157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plotly.graph_objects as go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 = go.Figure()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var in ['edad','bonus','potencia']: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ef = efecto_parcial(modelo, var)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fig.add_trace(go.Scatter(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x=ef.nivel, y=ef.efecto,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mode='lines+markers', name=var))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fig.add_hline(y=freq_ref, 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line_dash='dash')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fig.show()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394960" y="1600200"/>
            <a:ext cx="3337560" cy="2377440"/>
          </a:xfrm>
          <a:prstGeom prst="roundRect">
            <a:avLst>
              <a:gd name="adj" fmla="val 3077"/>
            </a:avLst>
          </a:prstGeom>
          <a:solidFill>
            <a:srgbClr val="122A44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94960" y="1600200"/>
            <a:ext cx="54864" cy="2377440"/>
          </a:xfrm>
          <a:prstGeom prst="roundRect">
            <a:avLst>
              <a:gd name="adj" fmla="val 50000"/>
            </a:avLst>
          </a:prstGeom>
          <a:solidFill>
            <a:srgbClr val="0D7A8A"/>
          </a:solidFill>
          <a:ln/>
        </p:spPr>
      </p:sp>
      <p:sp>
        <p:nvSpPr>
          <p:cNvPr id="13" name="Text 11"/>
          <p:cNvSpPr/>
          <p:nvPr/>
        </p:nvSpPr>
        <p:spPr>
          <a:xfrm>
            <a:off x="5577840" y="17373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plotly aquí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577840" y="21031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70448" y="2103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alumno explora las curvas sin regenerar la figura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577840" y="25786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70448" y="25786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 variables en la misma escala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77840" y="30540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70448" y="305409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hover da el valor exacto por nivel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577840" y="35295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70448" y="352958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exporta a HTML para compartir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D7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"/>
            <a:ext cx="2926080" cy="2743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4864608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Act. Eric Daniel Hernández Jardón   ·   Módulo 4 · Tema 2 — GLM con Python   ·   Sesión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2 · VALIDACIÓN OUT-OF-SAMPLE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64008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AIC No Basta: Prueba con Datos Nuevos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411480" y="1152144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 y devianza se calculan sobre los mismos datos del ajuste — no detectan sobreajuste.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600200"/>
            <a:ext cx="8321040" cy="960120"/>
          </a:xfrm>
          <a:prstGeom prst="roundRect">
            <a:avLst>
              <a:gd name="adj" fmla="val 7619"/>
            </a:avLst>
          </a:prstGeom>
          <a:solidFill>
            <a:srgbClr val="122A44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600200"/>
            <a:ext cx="54864" cy="960120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70992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 del overfitting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20116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modelo con muchas variables puede 'memorizar' el ruido del train y predecir mal en datos nuevos. Como estudiar con las respuestas del examen: 10 en el ensayo, reprobar el real.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2743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solución: 80% train / 20% test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11480" y="310896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0F2138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2461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 pred/obs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3584448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CALIBRACIÓN — ¿acierta el total?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94360" y="42519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ideal: ≈ 1.00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27832" y="310896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0F2138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10712" y="32461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Coeficiente de Gini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10712" y="3584448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DISCRIMINACIÓN — ¿separa riesgos?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410712" y="42519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ideal: &gt; 0.30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044184" y="310896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0F2138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27064" y="32461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Calibración + lift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27064" y="3584448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¿correcto en cada decil?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27064" y="42519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ideal: por segmento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D7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"/>
            <a:ext cx="2926080" cy="2743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4864608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Act. Eric Daniel Hernández Jardón   ·   Módulo 4 · Tema 2 — GLM con Python   ·   Sesión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2 · CALIBRACIÓN VS DISCRIMINACIÓN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64008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Preguntas Distintas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411480" y="1152144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modelo puede estar bien calibrado y discriminar poco — no son lo mismo.</a:t>
            </a:r>
            <a:endParaRPr lang="en-US" sz="1200" dirty="0"/>
          </a:p>
        </p:txBody>
      </p:sp>
      <p:pic>
        <p:nvPicPr>
          <p:cNvPr id="9" name="Image 0" descr="figuras/s3_calibrac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554480"/>
            <a:ext cx="4206240" cy="2834640"/>
          </a:xfrm>
          <a:prstGeom prst="rect">
            <a:avLst/>
          </a:prstGeom>
        </p:spPr>
      </p:pic>
      <p:pic>
        <p:nvPicPr>
          <p:cNvPr id="10" name="Image 1" descr="figuras/s3_li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554480"/>
            <a:ext cx="4206240" cy="28346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11480" y="4434840"/>
            <a:ext cx="8321040" cy="0"/>
          </a:xfrm>
          <a:prstGeom prst="roundRect">
            <a:avLst>
              <a:gd name="adj" fmla="val Infinity"/>
            </a:avLst>
          </a:prstGeom>
          <a:solidFill>
            <a:srgbClr val="0F2138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11480" y="4434840"/>
            <a:ext cx="54864" cy="0"/>
          </a:xfrm>
          <a:prstGeom prst="roundRect">
            <a:avLst>
              <a:gd name="adj" fmla="val Infinity"/>
            </a:avLst>
          </a:prstGeom>
          <a:solidFill>
            <a:srgbClr val="0D7A8A"/>
          </a:solidFill>
          <a:ln/>
        </p:spPr>
      </p:sp>
      <p:sp>
        <p:nvSpPr>
          <p:cNvPr id="13" name="Text 9"/>
          <p:cNvSpPr/>
          <p:nvPr/>
        </p:nvSpPr>
        <p:spPr>
          <a:xfrm>
            <a:off x="411480" y="4462272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Calibración (izq.): </a:t>
            </a:r>
            <a:pPr indent="0" marL="0">
              <a:buNone/>
            </a:pPr>
            <a:r>
              <a:rPr lang="en-US" sz="95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puntos sobre la diagonal → predicho ≈ observado por decil (ratio 1.02). </a:t>
            </a:r>
            <a:pPr indent="0" marL="0">
              <a:buNone/>
            </a:pPr>
            <a:r>
              <a:rPr lang="en-US" sz="95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Lift (der.): </a:t>
            </a:r>
            <a:pPr indent="0" marL="0">
              <a:buNone/>
            </a:pPr>
            <a:r>
              <a:rPr lang="en-US" sz="95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modelo separa el decil más riesgoso del menos por ~2.6×.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D7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"/>
            <a:ext cx="2926080" cy="2743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4864608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Act. Eric Daniel Hernández Jardón   ·   Módulo 4 · Tema 2 — GLM con Python   ·   Sesión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3 · DEDUCIBLE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64008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Deducible Afecta la FRECUENCIA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411480" y="1152144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siniestros menores al deducible no se reportan → la frecuencia observada cae.</a:t>
            </a:r>
            <a:endParaRPr lang="en-US" sz="1200" dirty="0"/>
          </a:p>
        </p:txBody>
      </p:sp>
      <p:pic>
        <p:nvPicPr>
          <p:cNvPr id="9" name="Image 0" descr="figuras/s3_deduci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554480"/>
            <a:ext cx="4572000" cy="30632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166360" y="155448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0F2138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49240" y="16642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mecanismo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349240" y="196596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conviene reclamar un siniestro por debajo del deducible. Esos siniestros desaparecen de los datos → menos frecuencia, y sube la severidad media de los que quedan.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166360" y="3108960"/>
            <a:ext cx="3566160" cy="1508760"/>
          </a:xfrm>
          <a:prstGeom prst="roundRect">
            <a:avLst>
              <a:gd name="adj" fmla="val 4848"/>
            </a:avLst>
          </a:prstGeom>
          <a:solidFill>
            <a:srgbClr val="122A44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166360" y="3108960"/>
            <a:ext cx="54864" cy="1508760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sp>
        <p:nvSpPr>
          <p:cNvPr id="15" name="Text 12"/>
          <p:cNvSpPr/>
          <p:nvPr/>
        </p:nvSpPr>
        <p:spPr>
          <a:xfrm>
            <a:off x="5349240" y="32186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 cartera (simulado)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349240" y="352044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7E3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Deducible $0 → freq 13.9%
</a:t>
            </a:r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Deducible $1000 → freq 6.1%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la severidad media sube de $1,309 a $2,664.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D7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"/>
            <a:ext cx="2926080" cy="2743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4864608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Act. Eric Daniel Hernández Jardón   ·   Módulo 4 · Tema 2 — GLM con Python   ·   Sesión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3 · SUMA ASEGURADA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64008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Suma Asegurada Afecta la SEVERIDAD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411480" y="1152144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variables, dos modelos distintos — el error común es meterlas en el lugar equivocado.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600200"/>
            <a:ext cx="4160520" cy="2788920"/>
          </a:xfrm>
          <a:prstGeom prst="roundRect">
            <a:avLst>
              <a:gd name="adj" fmla="val 2623"/>
            </a:avLst>
          </a:prstGeom>
          <a:solidFill>
            <a:srgbClr val="0F2138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600200"/>
            <a:ext cx="54864" cy="2788920"/>
          </a:xfrm>
          <a:prstGeom prst="roundRect">
            <a:avLst>
              <a:gd name="adj" fmla="val 50000"/>
            </a:avLst>
          </a:prstGeom>
          <a:solidFill>
            <a:srgbClr val="0D7A8A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17373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Deducible → FRECUENCIA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1792" y="2057400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Efecto de no-reporte y selección adversa.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Entra como predictor en el modelo de frecuencia.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Categórico o log(deducible).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21792" y="3566160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Deducibles altos → menos siniestros reportados.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1600200"/>
            <a:ext cx="4160520" cy="2788920"/>
          </a:xfrm>
          <a:prstGeom prst="roundRect">
            <a:avLst>
              <a:gd name="adj" fmla="val 2623"/>
            </a:avLst>
          </a:prstGeom>
          <a:solidFill>
            <a:srgbClr val="0F2138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1600200"/>
            <a:ext cx="54864" cy="2788920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sp>
        <p:nvSpPr>
          <p:cNvPr id="16" name="Text 14"/>
          <p:cNvSpPr/>
          <p:nvPr/>
        </p:nvSpPr>
        <p:spPr>
          <a:xfrm>
            <a:off x="4782312" y="17373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Suma asegurada → SEVERIDAD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82312" y="2057400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cambia la probabilidad de siniestro.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SÍ acota el pago máximo (censura por arriba).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Entra como predictor en el modelo de severidad.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82312" y="3566160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CNSF: documentar en qué modelo entra cada una y por qué.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D7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"/>
            <a:ext cx="2926080" cy="2743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4864608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Act. Eric Daniel Hernández Jardón   ·   Módulo 4 · Tema 2 — GLM con Python   ·   Sesión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4 · ANÁLISIS DE SENSIBILIDAD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64008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Tan Frágil Es Tu Tarifa?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411480" y="1152144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Mueve un rating factor y mide cuánto cambia la prima del portafolio — antes de fijarla.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371600" y="1572768"/>
            <a:ext cx="6400800" cy="566928"/>
          </a:xfrm>
          <a:prstGeom prst="roundRect">
            <a:avLst>
              <a:gd name="adj" fmla="val 9677"/>
            </a:avLst>
          </a:prstGeom>
          <a:solidFill>
            <a:srgbClr val="081020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1572768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prima_pura = frecuencia × severidad   →   perturbar → reagregar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88720" y="2377440"/>
          <a:ext cx="67665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291840"/>
                <a:gridCol w="21945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cambio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segmento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impacto en prima total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7E3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7E3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edad (17,30] — alta exposición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7E3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+2.49%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7E3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7E3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edad (60,95] — menor exposición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7E3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+1.56%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411480" y="3794760"/>
            <a:ext cx="8321040" cy="822960"/>
          </a:xfrm>
          <a:prstGeom prst="roundRect">
            <a:avLst>
              <a:gd name="adj" fmla="val 8889"/>
            </a:avLst>
          </a:prstGeom>
          <a:solidFill>
            <a:srgbClr val="122A44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11480" y="3794760"/>
            <a:ext cx="54864" cy="822960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913632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lección: </a:t>
            </a:r>
            <a:pPr indent="0" marL="0">
              <a:buNone/>
            </a:pPr>
            <a:r>
              <a:rPr lang="en-US" sz="115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impacto agregado depende de la EXPOSICIÓN del segmento. Mover un grupo chico casi no mueve el total — conviene afinar donde hay masa de cartera.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D7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"/>
            <a:ext cx="2926080" cy="2743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4864608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Act. Eric Daniel Hernández Jardón   ·   Módulo 4 · Tema 2 — GLM con Python   ·   Sesión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5 · SIMULACIÓN DE TARIFA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64008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Prima Pura a Prima de Tarifa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411480" y="1152144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prima pura es el costo del riesgo; la de tarifa carga gastos y margen.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88720" y="1572768"/>
            <a:ext cx="6766560" cy="566928"/>
          </a:xfrm>
          <a:prstGeom prst="roundRect">
            <a:avLst>
              <a:gd name="adj" fmla="val 9677"/>
            </a:avLst>
          </a:prstGeom>
          <a:solidFill>
            <a:srgbClr val="081020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1572768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prima_tarifa = prima_pura / (1 − gastos% − margen%)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2331720"/>
            <a:ext cx="4160520" cy="1234440"/>
          </a:xfrm>
          <a:prstGeom prst="roundRect">
            <a:avLst>
              <a:gd name="adj" fmla="val 5926"/>
            </a:avLst>
          </a:prstGeom>
          <a:solidFill>
            <a:srgbClr val="0F2138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44144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Supuestos del ejemplo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1792" y="2743200"/>
            <a:ext cx="3794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E3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Gastos 25% · Margen 5%  →  recargo ×1.429
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 pura total: $26.5M
</a:t>
            </a:r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 de tarifa total: $37.8M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17720" y="2331720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122A44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17720" y="2331720"/>
            <a:ext cx="54864" cy="1234440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sp>
        <p:nvSpPr>
          <p:cNvPr id="16" name="Text 14"/>
          <p:cNvSpPr/>
          <p:nvPr/>
        </p:nvSpPr>
        <p:spPr>
          <a:xfrm>
            <a:off x="4828032" y="244144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regla de oro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28032" y="2743200"/>
            <a:ext cx="3794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prima de tarifa nunca debe bajar de la prima pura total: si cargas menos que el costo esperado del riesgo, la tarifa es insuficiente.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11480" y="370332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122A44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3703320"/>
            <a:ext cx="54864" cy="914400"/>
          </a:xfrm>
          <a:prstGeom prst="roundRect">
            <a:avLst>
              <a:gd name="adj" fmla="val 50000"/>
            </a:avLst>
          </a:prstGeom>
          <a:solidFill>
            <a:srgbClr val="0D7A8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822192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esto se simulan escenarios: </a:t>
            </a:r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A8D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subir 8% a jóvenes, bajar 3% a mayores, un objetivo de recaudación, un cambio por segmento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y se mide el impacto agregado y la distribución de primas antes de llevarla a producción.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D7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"/>
            <a:ext cx="2926080" cy="2743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4864608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Act. Eric Daniel Hernández Jardón   ·   Módulo 4 · Tema 2 — GLM con Python   ·   Sesión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5 · EL ESCENARIO, SOBRE EL PORTAFOLIO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64008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Tarifa, Póliza por Póliza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411480" y="1152144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Aplicada al portafolio completo: la distribución de la prima y el impacto de un ajuste.</a:t>
            </a:r>
            <a:endParaRPr lang="en-US" sz="1200" dirty="0"/>
          </a:p>
        </p:txBody>
      </p:sp>
      <p:pic>
        <p:nvPicPr>
          <p:cNvPr id="9" name="Image 0" descr="figuras/s3_tarif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554480"/>
            <a:ext cx="4663440" cy="30632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257800" y="155448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122A44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257800" y="1554480"/>
            <a:ext cx="54864" cy="1417320"/>
          </a:xfrm>
          <a:prstGeom prst="roundRect">
            <a:avLst>
              <a:gd name="adj" fmla="val 50000"/>
            </a:avLst>
          </a:prstGeom>
          <a:solidFill>
            <a:srgbClr val="0D7A8A"/>
          </a:solidFill>
          <a:ln/>
        </p:spPr>
      </p:sp>
      <p:sp>
        <p:nvSpPr>
          <p:cNvPr id="12" name="Text 9"/>
          <p:cNvSpPr/>
          <p:nvPr/>
        </p:nvSpPr>
        <p:spPr>
          <a:xfrm>
            <a:off x="5440680" y="16642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Escenario simulado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40680" y="19659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+8% a jóvenes (17-30) y −3% a mayores de 55. Se recalcula la prima total y se compara con la actual.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257800" y="3063240"/>
            <a:ext cx="3474720" cy="1554480"/>
          </a:xfrm>
          <a:prstGeom prst="roundRect">
            <a:avLst>
              <a:gd name="adj" fmla="val 4706"/>
            </a:avLst>
          </a:prstGeom>
          <a:solidFill>
            <a:srgbClr val="122A44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257800" y="3063240"/>
            <a:ext cx="54864" cy="1554480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sp>
        <p:nvSpPr>
          <p:cNvPr id="16" name="Text 13"/>
          <p:cNvSpPr/>
          <p:nvPr/>
        </p:nvSpPr>
        <p:spPr>
          <a:xfrm>
            <a:off x="5440680" y="31729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ves en la curva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40680" y="347472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prima pura tiene cola larga: pocas pólizas muy caras (jóvenes, alto bonus), media ~$182. Al cargar gastos y margen (×1.429) pasa a prima de tarifa (~$260). Esa forma importa para reservas y reaseguro.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D7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"/>
            <a:ext cx="2926080" cy="2743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4864608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Act. Eric Daniel Hernández Jardón   ·   Módulo 4 · Tema 2 — GLM con Python   ·   Sesión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DEL TEMA 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64008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Tema Completo — y lo que Sigue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411480" y="1554480"/>
            <a:ext cx="4160520" cy="2834640"/>
          </a:xfrm>
          <a:prstGeom prst="roundRect">
            <a:avLst>
              <a:gd name="adj" fmla="val 2581"/>
            </a:avLst>
          </a:prstGeom>
          <a:solidFill>
            <a:srgbClr val="0F2138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69164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domina el tema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" y="20848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084832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Frecuencia (Poisson) y su diagnóstico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" y="25420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542032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Severidad (Gamma) y large losses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" y="29992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2999232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Tweedie y comparación de modelos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" y="34564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3456432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Selección automatizada (stepwise)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" y="39136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3913632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Validación, sensibilidad y tarifa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1554480"/>
            <a:ext cx="4023360" cy="2834640"/>
          </a:xfrm>
          <a:prstGeom prst="roundRect">
            <a:avLst>
              <a:gd name="adj" fmla="val 2581"/>
            </a:avLst>
          </a:prstGeom>
          <a:solidFill>
            <a:srgbClr val="122A44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9160" y="1554480"/>
            <a:ext cx="54864" cy="2834640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16916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sigue: un MCP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2011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Interpretar summaries, rating factors, validación y sensibilidad es repetitivo.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37760" y="24688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siguiente paso es un </a:t>
            </a:r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que interpreta las salidas del GLM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por ti: le pasas el modelo y devuelve la lectura en lenguaje de nota técnica.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937760" y="3429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FA3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construye aparte — hoy queda como el puente hacia automatizar la interpretación.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937760" y="3977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Evaluación del tema: el reporte evaluacion_M4T2.md que integra las tres sesiones.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M4T2 · Sesión 3 — Ver el modelo y jugar con la tarifa</dc:title>
  <dc:subject>PptxGenJS Presentation</dc:subject>
  <dc:creator>Act. Eric Daniel Hernández Jardón</dc:creator>
  <cp:lastModifiedBy>Act. Eric Daniel Hernández Jardón</cp:lastModifiedBy>
  <cp:revision>1</cp:revision>
  <dcterms:created xsi:type="dcterms:W3CDTF">2026-08-28T00:21:12Z</dcterms:created>
  <dcterms:modified xsi:type="dcterms:W3CDTF">2026-08-28T00:21:12Z</dcterms:modified>
</cp:coreProperties>
</file>
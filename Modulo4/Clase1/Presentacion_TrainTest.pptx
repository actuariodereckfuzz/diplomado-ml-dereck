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94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312E81"/>
          </a:solidFill>
          <a:ln w="12700">
            <a:solidFill>
              <a:srgbClr val="312E81"/>
            </a:solidFill>
            <a:prstDash val="solid"/>
          </a:ln>
        </p:spPr>
        <p:txBody>
          <a:bodyPr/>
          <a:lstStyle/>
          <a:p>
            <a:endParaRPr lang="es-MX"/>
          </a:p>
        </p:txBody>
      </p:sp>
      <p:sp>
        <p:nvSpPr>
          <p:cNvPr id="3" name="Shape 1"/>
          <p:cNvSpPr/>
          <p:nvPr/>
        </p:nvSpPr>
        <p:spPr>
          <a:xfrm>
            <a:off x="347472" y="0"/>
            <a:ext cx="64008" cy="5143500"/>
          </a:xfrm>
          <a:prstGeom prst="rect">
            <a:avLst/>
          </a:prstGeom>
          <a:solidFill>
            <a:srgbClr val="7C3AED"/>
          </a:solidFill>
          <a:ln w="12700">
            <a:solidFill>
              <a:srgbClr val="7C3AED"/>
            </a:solidFill>
            <a:prstDash val="solid"/>
          </a:ln>
        </p:spPr>
        <p:txBody>
          <a:bodyPr/>
          <a:lstStyle/>
          <a:p>
            <a:endParaRPr lang="es-MX"/>
          </a:p>
        </p:txBody>
      </p:sp>
      <p:sp>
        <p:nvSpPr>
          <p:cNvPr id="4" name="Text 2"/>
          <p:cNvSpPr/>
          <p:nvPr/>
        </p:nvSpPr>
        <p:spPr>
          <a:xfrm>
            <a:off x="658368" y="457200"/>
            <a:ext cx="8229600" cy="274320"/>
          </a:xfrm>
          <a:prstGeom prst="rect">
            <a:avLst/>
          </a:prstGeom>
          <a:noFill/>
          <a:ln/>
        </p:spPr>
        <p:txBody>
          <a:bodyPr wrap="square" lIns="0" tIns="0" rIns="0" bIns="0" rtlCol="0" anchor="t"/>
          <a:lstStyle/>
          <a:p>
            <a:pPr marL="0" indent="0">
              <a:buNone/>
            </a:pPr>
            <a:r>
              <a:rPr lang="en-US" sz="1000" b="1" kern="0" spc="400" dirty="0">
                <a:solidFill>
                  <a:srgbClr val="7C3AED"/>
                </a:solidFill>
              </a:rPr>
              <a:t>DIPLOMADO ML EN SEGUROS  ·  SUBTEMA 1</a:t>
            </a:r>
            <a:endParaRPr lang="en-US" sz="1000" dirty="0"/>
          </a:p>
        </p:txBody>
      </p:sp>
      <p:sp>
        <p:nvSpPr>
          <p:cNvPr id="5" name="Text 3"/>
          <p:cNvSpPr/>
          <p:nvPr/>
        </p:nvSpPr>
        <p:spPr>
          <a:xfrm>
            <a:off x="658368" y="868680"/>
            <a:ext cx="8046720" cy="1645920"/>
          </a:xfrm>
          <a:prstGeom prst="rect">
            <a:avLst/>
          </a:prstGeom>
          <a:noFill/>
          <a:ln/>
        </p:spPr>
        <p:txBody>
          <a:bodyPr wrap="square" lIns="0" tIns="0" rIns="0" bIns="0" rtlCol="0" anchor="t"/>
          <a:lstStyle/>
          <a:p>
            <a:pPr marL="0" indent="0">
              <a:buNone/>
            </a:pPr>
            <a:r>
              <a:rPr lang="en-US" sz="4000" b="1" dirty="0">
                <a:solidFill>
                  <a:srgbClr val="FFFFFF"/>
                </a:solidFill>
              </a:rPr>
              <a:t>Selección de Datos de</a:t>
            </a:r>
            <a:endParaRPr lang="en-US" sz="4000" dirty="0"/>
          </a:p>
          <a:p>
            <a:pPr marL="0" indent="0">
              <a:buNone/>
            </a:pPr>
            <a:r>
              <a:rPr lang="en-US" sz="4000" b="1" dirty="0">
                <a:solidFill>
                  <a:srgbClr val="FFFFFF"/>
                </a:solidFill>
              </a:rPr>
              <a:t>Entrenamiento y Prueba</a:t>
            </a:r>
            <a:endParaRPr lang="en-US" sz="4000" dirty="0"/>
          </a:p>
        </p:txBody>
      </p:sp>
      <p:sp>
        <p:nvSpPr>
          <p:cNvPr id="6" name="Text 4"/>
          <p:cNvSpPr/>
          <p:nvPr/>
        </p:nvSpPr>
        <p:spPr>
          <a:xfrm>
            <a:off x="658368" y="2651760"/>
            <a:ext cx="8046720" cy="292608"/>
          </a:xfrm>
          <a:prstGeom prst="rect">
            <a:avLst/>
          </a:prstGeom>
          <a:noFill/>
          <a:ln/>
        </p:spPr>
        <p:txBody>
          <a:bodyPr wrap="square" lIns="0" tIns="0" rIns="0" bIns="0" rtlCol="0" anchor="t"/>
          <a:lstStyle/>
          <a:p>
            <a:pPr marL="0" indent="0">
              <a:buNone/>
            </a:pPr>
            <a:r>
              <a:rPr lang="en-US" sz="1200" i="1" dirty="0">
                <a:solidFill>
                  <a:srgbClr val="94A3B8"/>
                </a:solidFill>
              </a:rPr>
              <a:t>Train Set  ·  Validation Set  ·  Test Set  ·  Data Leakage  ·  K-Fold</a:t>
            </a:r>
            <a:endParaRPr lang="en-US" sz="1200" dirty="0"/>
          </a:p>
        </p:txBody>
      </p:sp>
      <p:sp>
        <p:nvSpPr>
          <p:cNvPr id="7" name="Shape 5"/>
          <p:cNvSpPr/>
          <p:nvPr/>
        </p:nvSpPr>
        <p:spPr>
          <a:xfrm>
            <a:off x="658368" y="3127248"/>
            <a:ext cx="2542032" cy="914400"/>
          </a:xfrm>
          <a:prstGeom prst="rect">
            <a:avLst/>
          </a:prstGeom>
          <a:solidFill>
            <a:srgbClr val="0D7490"/>
          </a:solidFill>
          <a:ln w="12700">
            <a:solidFill>
              <a:srgbClr val="0D7490"/>
            </a:solidFill>
            <a:prstDash val="solid"/>
          </a:ln>
        </p:spPr>
        <p:txBody>
          <a:bodyPr/>
          <a:lstStyle/>
          <a:p>
            <a:endParaRPr lang="es-MX"/>
          </a:p>
        </p:txBody>
      </p:sp>
      <p:sp>
        <p:nvSpPr>
          <p:cNvPr id="8" name="Text 6"/>
          <p:cNvSpPr/>
          <p:nvPr/>
        </p:nvSpPr>
        <p:spPr>
          <a:xfrm>
            <a:off x="658368" y="3127248"/>
            <a:ext cx="2542032" cy="475488"/>
          </a:xfrm>
          <a:prstGeom prst="rect">
            <a:avLst/>
          </a:prstGeom>
          <a:noFill/>
          <a:ln/>
        </p:spPr>
        <p:txBody>
          <a:bodyPr wrap="square" lIns="0" tIns="0" rIns="0" bIns="0" rtlCol="0" anchor="ctr"/>
          <a:lstStyle/>
          <a:p>
            <a:pPr marL="0" indent="0" algn="ctr">
              <a:buNone/>
            </a:pPr>
            <a:r>
              <a:rPr lang="en-US" sz="2000" b="1" dirty="0">
                <a:solidFill>
                  <a:srgbClr val="FFFFFF"/>
                </a:solidFill>
              </a:rPr>
              <a:t>60-70%</a:t>
            </a:r>
            <a:endParaRPr lang="en-US" sz="2000" dirty="0"/>
          </a:p>
        </p:txBody>
      </p:sp>
      <p:sp>
        <p:nvSpPr>
          <p:cNvPr id="9" name="Text 7"/>
          <p:cNvSpPr/>
          <p:nvPr/>
        </p:nvSpPr>
        <p:spPr>
          <a:xfrm>
            <a:off x="658368" y="3584448"/>
            <a:ext cx="2542032" cy="457200"/>
          </a:xfrm>
          <a:prstGeom prst="rect">
            <a:avLst/>
          </a:prstGeom>
          <a:noFill/>
          <a:ln/>
        </p:spPr>
        <p:txBody>
          <a:bodyPr wrap="square" lIns="0" tIns="0" rIns="0" bIns="0" rtlCol="0" anchor="ctr"/>
          <a:lstStyle/>
          <a:p>
            <a:pPr marL="0" indent="0" algn="ctr">
              <a:buNone/>
            </a:pPr>
            <a:r>
              <a:rPr lang="en-US" sz="1200" b="1" kern="0" spc="300" dirty="0">
                <a:solidFill>
                  <a:srgbClr val="FFFFFF"/>
                </a:solidFill>
              </a:rPr>
              <a:t>TRAIN</a:t>
            </a:r>
            <a:endParaRPr lang="en-US" sz="1200" dirty="0"/>
          </a:p>
        </p:txBody>
      </p:sp>
      <p:sp>
        <p:nvSpPr>
          <p:cNvPr id="10" name="Shape 8"/>
          <p:cNvSpPr/>
          <p:nvPr/>
        </p:nvSpPr>
        <p:spPr>
          <a:xfrm>
            <a:off x="3401568" y="3127248"/>
            <a:ext cx="2542032" cy="914400"/>
          </a:xfrm>
          <a:prstGeom prst="rect">
            <a:avLst/>
          </a:prstGeom>
          <a:solidFill>
            <a:srgbClr val="7C3AED"/>
          </a:solidFill>
          <a:ln w="12700">
            <a:solidFill>
              <a:srgbClr val="7C3AED"/>
            </a:solidFill>
            <a:prstDash val="solid"/>
          </a:ln>
        </p:spPr>
        <p:txBody>
          <a:bodyPr/>
          <a:lstStyle/>
          <a:p>
            <a:endParaRPr lang="es-MX"/>
          </a:p>
        </p:txBody>
      </p:sp>
      <p:sp>
        <p:nvSpPr>
          <p:cNvPr id="11" name="Text 9"/>
          <p:cNvSpPr/>
          <p:nvPr/>
        </p:nvSpPr>
        <p:spPr>
          <a:xfrm>
            <a:off x="3401568" y="3127248"/>
            <a:ext cx="2542032" cy="475488"/>
          </a:xfrm>
          <a:prstGeom prst="rect">
            <a:avLst/>
          </a:prstGeom>
          <a:noFill/>
          <a:ln/>
        </p:spPr>
        <p:txBody>
          <a:bodyPr wrap="square" lIns="0" tIns="0" rIns="0" bIns="0" rtlCol="0" anchor="ctr"/>
          <a:lstStyle/>
          <a:p>
            <a:pPr marL="0" indent="0" algn="ctr">
              <a:buNone/>
            </a:pPr>
            <a:r>
              <a:rPr lang="en-US" sz="2000" b="1" dirty="0">
                <a:solidFill>
                  <a:srgbClr val="FFFFFF"/>
                </a:solidFill>
              </a:rPr>
              <a:t>15-20%</a:t>
            </a:r>
            <a:endParaRPr lang="en-US" sz="2000" dirty="0"/>
          </a:p>
        </p:txBody>
      </p:sp>
      <p:sp>
        <p:nvSpPr>
          <p:cNvPr id="12" name="Text 10"/>
          <p:cNvSpPr/>
          <p:nvPr/>
        </p:nvSpPr>
        <p:spPr>
          <a:xfrm>
            <a:off x="3401568" y="3584448"/>
            <a:ext cx="2542032" cy="457200"/>
          </a:xfrm>
          <a:prstGeom prst="rect">
            <a:avLst/>
          </a:prstGeom>
          <a:noFill/>
          <a:ln/>
        </p:spPr>
        <p:txBody>
          <a:bodyPr wrap="square" lIns="0" tIns="0" rIns="0" bIns="0" rtlCol="0" anchor="ctr"/>
          <a:lstStyle/>
          <a:p>
            <a:pPr marL="0" indent="0" algn="ctr">
              <a:buNone/>
            </a:pPr>
            <a:r>
              <a:rPr lang="en-US" sz="1200" b="1" kern="0" spc="300" dirty="0">
                <a:solidFill>
                  <a:srgbClr val="FFFFFF"/>
                </a:solidFill>
              </a:rPr>
              <a:t>VALIDACIÓN</a:t>
            </a:r>
            <a:endParaRPr lang="en-US" sz="1200" dirty="0"/>
          </a:p>
        </p:txBody>
      </p:sp>
      <p:sp>
        <p:nvSpPr>
          <p:cNvPr id="13" name="Shape 11"/>
          <p:cNvSpPr/>
          <p:nvPr/>
        </p:nvSpPr>
        <p:spPr>
          <a:xfrm>
            <a:off x="6144768" y="3127248"/>
            <a:ext cx="2542032" cy="914400"/>
          </a:xfrm>
          <a:prstGeom prst="rect">
            <a:avLst/>
          </a:prstGeom>
          <a:solidFill>
            <a:srgbClr val="D97706"/>
          </a:solidFill>
          <a:ln w="12700">
            <a:solidFill>
              <a:srgbClr val="D97706"/>
            </a:solidFill>
            <a:prstDash val="solid"/>
          </a:ln>
        </p:spPr>
        <p:txBody>
          <a:bodyPr/>
          <a:lstStyle/>
          <a:p>
            <a:endParaRPr lang="es-MX"/>
          </a:p>
        </p:txBody>
      </p:sp>
      <p:sp>
        <p:nvSpPr>
          <p:cNvPr id="14" name="Text 12"/>
          <p:cNvSpPr/>
          <p:nvPr/>
        </p:nvSpPr>
        <p:spPr>
          <a:xfrm>
            <a:off x="6144768" y="3127248"/>
            <a:ext cx="2542032" cy="475488"/>
          </a:xfrm>
          <a:prstGeom prst="rect">
            <a:avLst/>
          </a:prstGeom>
          <a:noFill/>
          <a:ln/>
        </p:spPr>
        <p:txBody>
          <a:bodyPr wrap="square" lIns="0" tIns="0" rIns="0" bIns="0" rtlCol="0" anchor="ctr"/>
          <a:lstStyle/>
          <a:p>
            <a:pPr marL="0" indent="0" algn="ctr">
              <a:buNone/>
            </a:pPr>
            <a:r>
              <a:rPr lang="en-US" sz="2000" b="1" dirty="0">
                <a:solidFill>
                  <a:srgbClr val="FFFFFF"/>
                </a:solidFill>
              </a:rPr>
              <a:t>15-20%</a:t>
            </a:r>
            <a:endParaRPr lang="en-US" sz="2000" dirty="0"/>
          </a:p>
        </p:txBody>
      </p:sp>
      <p:sp>
        <p:nvSpPr>
          <p:cNvPr id="15" name="Text 13"/>
          <p:cNvSpPr/>
          <p:nvPr/>
        </p:nvSpPr>
        <p:spPr>
          <a:xfrm>
            <a:off x="6144768" y="3584448"/>
            <a:ext cx="2542032" cy="457200"/>
          </a:xfrm>
          <a:prstGeom prst="rect">
            <a:avLst/>
          </a:prstGeom>
          <a:noFill/>
          <a:ln/>
        </p:spPr>
        <p:txBody>
          <a:bodyPr wrap="square" lIns="0" tIns="0" rIns="0" bIns="0" rtlCol="0" anchor="ctr"/>
          <a:lstStyle/>
          <a:p>
            <a:pPr marL="0" indent="0" algn="ctr">
              <a:buNone/>
            </a:pPr>
            <a:r>
              <a:rPr lang="en-US" sz="1200" b="1" kern="0" spc="300" dirty="0">
                <a:solidFill>
                  <a:srgbClr val="FFFFFF"/>
                </a:solidFill>
              </a:rPr>
              <a:t>TEST</a:t>
            </a:r>
            <a:endParaRPr lang="en-US" sz="1200" dirty="0"/>
          </a:p>
        </p:txBody>
      </p:sp>
      <p:sp>
        <p:nvSpPr>
          <p:cNvPr id="16" name="Shape 14"/>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17" name="Text 15"/>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¿Por qué es obligatorio dividir los datos?</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El modelo debe evaluarse en datos que nunca vio durante el entrenamiento</a:t>
            </a:r>
            <a:endParaRPr lang="en-US" sz="900" dirty="0"/>
          </a:p>
        </p:txBody>
      </p:sp>
      <p:sp>
        <p:nvSpPr>
          <p:cNvPr id="5" name="Text 3"/>
          <p:cNvSpPr/>
          <p:nvPr/>
        </p:nvSpPr>
        <p:spPr>
          <a:xfrm>
            <a:off x="274320" y="713232"/>
            <a:ext cx="8595360" cy="347472"/>
          </a:xfrm>
          <a:prstGeom prst="rect">
            <a:avLst/>
          </a:prstGeom>
          <a:noFill/>
          <a:ln/>
        </p:spPr>
        <p:txBody>
          <a:bodyPr wrap="square" lIns="0" tIns="0" rIns="0" bIns="0" rtlCol="0" anchor="t"/>
          <a:lstStyle/>
          <a:p>
            <a:pPr marL="0" indent="0">
              <a:buNone/>
            </a:pPr>
            <a:r>
              <a:rPr lang="en-US" sz="1150" dirty="0">
                <a:solidFill>
                  <a:srgbClr val="374151"/>
                </a:solidFill>
              </a:rPr>
              <a:t>El objetivo de un modelo en seguros no es predecir el pasado — es predecir el futuro: primas del portafolio que se renovará, fraudes de reclamaciones que llegarán mañana, siniestros del próximo año.</a:t>
            </a:r>
            <a:endParaRPr lang="en-US" sz="1150" dirty="0"/>
          </a:p>
        </p:txBody>
      </p:sp>
      <p:sp>
        <p:nvSpPr>
          <p:cNvPr id="6" name="Shape 4"/>
          <p:cNvSpPr/>
          <p:nvPr/>
        </p:nvSpPr>
        <p:spPr>
          <a:xfrm>
            <a:off x="274320" y="1152144"/>
            <a:ext cx="4224528" cy="1682496"/>
          </a:xfrm>
          <a:prstGeom prst="rect">
            <a:avLst/>
          </a:prstGeom>
          <a:solidFill>
            <a:srgbClr val="F1F5F9"/>
          </a:solidFill>
          <a:ln w="12700">
            <a:solidFill>
              <a:srgbClr val="CBD5E1"/>
            </a:solidFill>
            <a:prstDash val="solid"/>
          </a:ln>
        </p:spPr>
        <p:txBody>
          <a:bodyPr/>
          <a:lstStyle/>
          <a:p>
            <a:endParaRPr lang="es-MX"/>
          </a:p>
        </p:txBody>
      </p:sp>
      <p:sp>
        <p:nvSpPr>
          <p:cNvPr id="7" name="Shape 5"/>
          <p:cNvSpPr/>
          <p:nvPr/>
        </p:nvSpPr>
        <p:spPr>
          <a:xfrm>
            <a:off x="274320" y="1152144"/>
            <a:ext cx="4224528" cy="45720"/>
          </a:xfrm>
          <a:prstGeom prst="rect">
            <a:avLst/>
          </a:prstGeom>
          <a:solidFill>
            <a:srgbClr val="0D7490"/>
          </a:solidFill>
          <a:ln w="12700">
            <a:solidFill>
              <a:srgbClr val="0D7490"/>
            </a:solidFill>
            <a:prstDash val="solid"/>
          </a:ln>
        </p:spPr>
        <p:txBody>
          <a:bodyPr/>
          <a:lstStyle/>
          <a:p>
            <a:endParaRPr lang="es-MX"/>
          </a:p>
        </p:txBody>
      </p:sp>
      <p:sp>
        <p:nvSpPr>
          <p:cNvPr id="8" name="Text 6"/>
          <p:cNvSpPr/>
          <p:nvPr/>
        </p:nvSpPr>
        <p:spPr>
          <a:xfrm>
            <a:off x="384048" y="1261872"/>
            <a:ext cx="4005072" cy="274320"/>
          </a:xfrm>
          <a:prstGeom prst="rect">
            <a:avLst/>
          </a:prstGeom>
          <a:noFill/>
          <a:ln/>
        </p:spPr>
        <p:txBody>
          <a:bodyPr wrap="square" lIns="0" tIns="0" rIns="0" bIns="0" rtlCol="0" anchor="t"/>
          <a:lstStyle/>
          <a:p>
            <a:pPr marL="0" indent="0">
              <a:buNone/>
            </a:pPr>
            <a:r>
              <a:rPr lang="en-US" sz="1200" b="1" dirty="0">
                <a:solidFill>
                  <a:srgbClr val="0D2137"/>
                </a:solidFill>
              </a:rPr>
              <a:t>🎯  Medir desempeño real en producción</a:t>
            </a:r>
            <a:endParaRPr lang="en-US" sz="1200" dirty="0"/>
          </a:p>
        </p:txBody>
      </p:sp>
      <p:sp>
        <p:nvSpPr>
          <p:cNvPr id="9" name="Text 7"/>
          <p:cNvSpPr/>
          <p:nvPr/>
        </p:nvSpPr>
        <p:spPr>
          <a:xfrm>
            <a:off x="384048" y="1591056"/>
            <a:ext cx="4005072" cy="1170432"/>
          </a:xfrm>
          <a:prstGeom prst="rect">
            <a:avLst/>
          </a:prstGeom>
          <a:noFill/>
          <a:ln/>
        </p:spPr>
        <p:txBody>
          <a:bodyPr wrap="square" lIns="0" tIns="0" rIns="0" bIns="0" rtlCol="0" anchor="t"/>
          <a:lstStyle/>
          <a:p>
            <a:pPr marL="0" indent="0">
              <a:buNone/>
            </a:pPr>
            <a:r>
              <a:rPr lang="en-US" sz="1050" dirty="0">
                <a:solidFill>
                  <a:srgbClr val="374151"/>
                </a:solidFill>
              </a:rPr>
              <a:t>La única forma de saber cómo se comportará el modelo con pólizas nuevas es evaluarlo con datos que no participaron en el entrenamiento. Cualquier métrica calculada sobre los datos de train es optimista.</a:t>
            </a:r>
            <a:endParaRPr lang="en-US" sz="1050" dirty="0"/>
          </a:p>
        </p:txBody>
      </p:sp>
      <p:sp>
        <p:nvSpPr>
          <p:cNvPr id="10" name="Shape 8"/>
          <p:cNvSpPr/>
          <p:nvPr/>
        </p:nvSpPr>
        <p:spPr>
          <a:xfrm>
            <a:off x="4681728" y="1152144"/>
            <a:ext cx="4224528" cy="1682496"/>
          </a:xfrm>
          <a:prstGeom prst="rect">
            <a:avLst/>
          </a:prstGeom>
          <a:solidFill>
            <a:srgbClr val="F1F5F9"/>
          </a:solidFill>
          <a:ln w="12700">
            <a:solidFill>
              <a:srgbClr val="CBD5E1"/>
            </a:solidFill>
            <a:prstDash val="solid"/>
          </a:ln>
        </p:spPr>
        <p:txBody>
          <a:bodyPr/>
          <a:lstStyle/>
          <a:p>
            <a:endParaRPr lang="es-MX"/>
          </a:p>
        </p:txBody>
      </p:sp>
      <p:sp>
        <p:nvSpPr>
          <p:cNvPr id="11" name="Shape 9"/>
          <p:cNvSpPr/>
          <p:nvPr/>
        </p:nvSpPr>
        <p:spPr>
          <a:xfrm>
            <a:off x="4681728" y="1152144"/>
            <a:ext cx="4224528" cy="45720"/>
          </a:xfrm>
          <a:prstGeom prst="rect">
            <a:avLst/>
          </a:prstGeom>
          <a:solidFill>
            <a:srgbClr val="DC2626"/>
          </a:solidFill>
          <a:ln w="12700">
            <a:solidFill>
              <a:srgbClr val="DC2626"/>
            </a:solidFill>
            <a:prstDash val="solid"/>
          </a:ln>
        </p:spPr>
        <p:txBody>
          <a:bodyPr/>
          <a:lstStyle/>
          <a:p>
            <a:endParaRPr lang="es-MX"/>
          </a:p>
        </p:txBody>
      </p:sp>
      <p:sp>
        <p:nvSpPr>
          <p:cNvPr id="12" name="Text 10"/>
          <p:cNvSpPr/>
          <p:nvPr/>
        </p:nvSpPr>
        <p:spPr>
          <a:xfrm>
            <a:off x="4791456" y="1261872"/>
            <a:ext cx="4005072" cy="274320"/>
          </a:xfrm>
          <a:prstGeom prst="rect">
            <a:avLst/>
          </a:prstGeom>
          <a:noFill/>
          <a:ln/>
        </p:spPr>
        <p:txBody>
          <a:bodyPr wrap="square" lIns="0" tIns="0" rIns="0" bIns="0" rtlCol="0" anchor="t"/>
          <a:lstStyle/>
          <a:p>
            <a:pPr marL="0" indent="0">
              <a:buNone/>
            </a:pPr>
            <a:r>
              <a:rPr lang="en-US" sz="1200" b="1" dirty="0">
                <a:solidFill>
                  <a:srgbClr val="0D2137"/>
                </a:solidFill>
              </a:rPr>
              <a:t>⚠️  Detectar overfitting (sobreajuste)</a:t>
            </a:r>
            <a:endParaRPr lang="en-US" sz="1200" dirty="0"/>
          </a:p>
        </p:txBody>
      </p:sp>
      <p:sp>
        <p:nvSpPr>
          <p:cNvPr id="13" name="Text 11"/>
          <p:cNvSpPr/>
          <p:nvPr/>
        </p:nvSpPr>
        <p:spPr>
          <a:xfrm>
            <a:off x="4791456" y="1591056"/>
            <a:ext cx="4005072" cy="1170432"/>
          </a:xfrm>
          <a:prstGeom prst="rect">
            <a:avLst/>
          </a:prstGeom>
          <a:noFill/>
          <a:ln/>
        </p:spPr>
        <p:txBody>
          <a:bodyPr wrap="square" lIns="0" tIns="0" rIns="0" bIns="0" rtlCol="0" anchor="t"/>
          <a:lstStyle/>
          <a:p>
            <a:pPr marL="0" indent="0">
              <a:buNone/>
            </a:pPr>
            <a:r>
              <a:rPr lang="en-US" sz="1050" dirty="0">
                <a:solidFill>
                  <a:srgbClr val="374151"/>
                </a:solidFill>
              </a:rPr>
              <a:t>Un modelo con R²=0.98 en train y R²=0.35 en test memorizó el ruido. La diferencia entre métricas de train y test es la señal de alarma más importante del modelado.</a:t>
            </a:r>
            <a:endParaRPr lang="en-US" sz="1050" dirty="0"/>
          </a:p>
        </p:txBody>
      </p:sp>
      <p:sp>
        <p:nvSpPr>
          <p:cNvPr id="14" name="Shape 12"/>
          <p:cNvSpPr/>
          <p:nvPr/>
        </p:nvSpPr>
        <p:spPr>
          <a:xfrm>
            <a:off x="274320" y="2962656"/>
            <a:ext cx="4224528" cy="1682496"/>
          </a:xfrm>
          <a:prstGeom prst="rect">
            <a:avLst/>
          </a:prstGeom>
          <a:solidFill>
            <a:srgbClr val="F1F5F9"/>
          </a:solidFill>
          <a:ln w="12700">
            <a:solidFill>
              <a:srgbClr val="CBD5E1"/>
            </a:solidFill>
            <a:prstDash val="solid"/>
          </a:ln>
        </p:spPr>
        <p:txBody>
          <a:bodyPr/>
          <a:lstStyle/>
          <a:p>
            <a:endParaRPr lang="es-MX"/>
          </a:p>
        </p:txBody>
      </p:sp>
      <p:sp>
        <p:nvSpPr>
          <p:cNvPr id="15" name="Shape 13"/>
          <p:cNvSpPr/>
          <p:nvPr/>
        </p:nvSpPr>
        <p:spPr>
          <a:xfrm>
            <a:off x="274320" y="2962656"/>
            <a:ext cx="4224528" cy="45720"/>
          </a:xfrm>
          <a:prstGeom prst="rect">
            <a:avLst/>
          </a:prstGeom>
          <a:solidFill>
            <a:srgbClr val="312E81"/>
          </a:solidFill>
          <a:ln w="12700">
            <a:solidFill>
              <a:srgbClr val="312E81"/>
            </a:solidFill>
            <a:prstDash val="solid"/>
          </a:ln>
        </p:spPr>
        <p:txBody>
          <a:bodyPr/>
          <a:lstStyle/>
          <a:p>
            <a:endParaRPr lang="es-MX"/>
          </a:p>
        </p:txBody>
      </p:sp>
      <p:sp>
        <p:nvSpPr>
          <p:cNvPr id="16" name="Text 14"/>
          <p:cNvSpPr/>
          <p:nvPr/>
        </p:nvSpPr>
        <p:spPr>
          <a:xfrm>
            <a:off x="384048" y="3072384"/>
            <a:ext cx="4005072" cy="274320"/>
          </a:xfrm>
          <a:prstGeom prst="rect">
            <a:avLst/>
          </a:prstGeom>
          <a:noFill/>
          <a:ln/>
        </p:spPr>
        <p:txBody>
          <a:bodyPr wrap="square" lIns="0" tIns="0" rIns="0" bIns="0" rtlCol="0" anchor="t"/>
          <a:lstStyle/>
          <a:p>
            <a:pPr marL="0" indent="0">
              <a:buNone/>
            </a:pPr>
            <a:r>
              <a:rPr lang="en-US" sz="1200" b="1" dirty="0">
                <a:solidFill>
                  <a:srgbClr val="0D2137"/>
                </a:solidFill>
              </a:rPr>
              <a:t>📋  Cumplimiento regulatorio CNSF / IFRS 17</a:t>
            </a:r>
            <a:endParaRPr lang="en-US" sz="1200" dirty="0"/>
          </a:p>
        </p:txBody>
      </p:sp>
      <p:sp>
        <p:nvSpPr>
          <p:cNvPr id="17" name="Text 15"/>
          <p:cNvSpPr/>
          <p:nvPr/>
        </p:nvSpPr>
        <p:spPr>
          <a:xfrm>
            <a:off x="384048" y="3401568"/>
            <a:ext cx="4005072" cy="1170432"/>
          </a:xfrm>
          <a:prstGeom prst="rect">
            <a:avLst/>
          </a:prstGeom>
          <a:noFill/>
          <a:ln/>
        </p:spPr>
        <p:txBody>
          <a:bodyPr wrap="square" lIns="0" tIns="0" rIns="0" bIns="0" rtlCol="0" anchor="t"/>
          <a:lstStyle/>
          <a:p>
            <a:pPr marL="0" indent="0">
              <a:buNone/>
            </a:pPr>
            <a:r>
              <a:rPr lang="en-US" sz="1050" dirty="0">
                <a:solidFill>
                  <a:srgbClr val="374151"/>
                </a:solidFill>
              </a:rPr>
              <a:t>Los marcos regulatorios exigen que los modelos actuariales sean validados con métricas documentadas en datos no usados para el ajuste. Sin test set, no hay validación formal.</a:t>
            </a:r>
            <a:endParaRPr lang="en-US" sz="1050" dirty="0"/>
          </a:p>
        </p:txBody>
      </p:sp>
      <p:sp>
        <p:nvSpPr>
          <p:cNvPr id="18" name="Shape 16"/>
          <p:cNvSpPr/>
          <p:nvPr/>
        </p:nvSpPr>
        <p:spPr>
          <a:xfrm>
            <a:off x="4681728" y="2962656"/>
            <a:ext cx="4224528" cy="1682496"/>
          </a:xfrm>
          <a:prstGeom prst="rect">
            <a:avLst/>
          </a:prstGeom>
          <a:solidFill>
            <a:srgbClr val="F1F5F9"/>
          </a:solidFill>
          <a:ln w="12700">
            <a:solidFill>
              <a:srgbClr val="CBD5E1"/>
            </a:solidFill>
            <a:prstDash val="solid"/>
          </a:ln>
        </p:spPr>
        <p:txBody>
          <a:bodyPr/>
          <a:lstStyle/>
          <a:p>
            <a:endParaRPr lang="es-MX"/>
          </a:p>
        </p:txBody>
      </p:sp>
      <p:sp>
        <p:nvSpPr>
          <p:cNvPr id="19" name="Shape 17"/>
          <p:cNvSpPr/>
          <p:nvPr/>
        </p:nvSpPr>
        <p:spPr>
          <a:xfrm>
            <a:off x="4681728" y="2962656"/>
            <a:ext cx="4224528" cy="45720"/>
          </a:xfrm>
          <a:prstGeom prst="rect">
            <a:avLst/>
          </a:prstGeom>
          <a:solidFill>
            <a:srgbClr val="7C3AED"/>
          </a:solidFill>
          <a:ln w="12700">
            <a:solidFill>
              <a:srgbClr val="7C3AED"/>
            </a:solidFill>
            <a:prstDash val="solid"/>
          </a:ln>
        </p:spPr>
        <p:txBody>
          <a:bodyPr/>
          <a:lstStyle/>
          <a:p>
            <a:endParaRPr lang="es-MX"/>
          </a:p>
        </p:txBody>
      </p:sp>
      <p:sp>
        <p:nvSpPr>
          <p:cNvPr id="20" name="Text 18"/>
          <p:cNvSpPr/>
          <p:nvPr/>
        </p:nvSpPr>
        <p:spPr>
          <a:xfrm>
            <a:off x="4791456" y="3072384"/>
            <a:ext cx="4005072" cy="274320"/>
          </a:xfrm>
          <a:prstGeom prst="rect">
            <a:avLst/>
          </a:prstGeom>
          <a:noFill/>
          <a:ln/>
        </p:spPr>
        <p:txBody>
          <a:bodyPr wrap="square" lIns="0" tIns="0" rIns="0" bIns="0" rtlCol="0" anchor="t"/>
          <a:lstStyle/>
          <a:p>
            <a:pPr marL="0" indent="0">
              <a:buNone/>
            </a:pPr>
            <a:r>
              <a:rPr lang="en-US" sz="1200" b="1" dirty="0">
                <a:solidFill>
                  <a:srgbClr val="0D2137"/>
                </a:solidFill>
              </a:rPr>
              <a:t>🔄  Selección objetiva de modelos</a:t>
            </a:r>
            <a:endParaRPr lang="en-US" sz="1200" dirty="0"/>
          </a:p>
        </p:txBody>
      </p:sp>
      <p:sp>
        <p:nvSpPr>
          <p:cNvPr id="21" name="Text 19"/>
          <p:cNvSpPr/>
          <p:nvPr/>
        </p:nvSpPr>
        <p:spPr>
          <a:xfrm>
            <a:off x="4791456" y="3401568"/>
            <a:ext cx="4005072" cy="1170432"/>
          </a:xfrm>
          <a:prstGeom prst="rect">
            <a:avLst/>
          </a:prstGeom>
          <a:noFill/>
          <a:ln/>
        </p:spPr>
        <p:txBody>
          <a:bodyPr wrap="square" lIns="0" tIns="0" rIns="0" bIns="0" rtlCol="0" anchor="t"/>
          <a:lstStyle/>
          <a:p>
            <a:pPr marL="0" indent="0">
              <a:buNone/>
            </a:pPr>
            <a:r>
              <a:rPr lang="en-US" sz="1050" dirty="0">
                <a:solidFill>
                  <a:srgbClr val="374151"/>
                </a:solidFill>
              </a:rPr>
              <a:t>¿GLM o GBM para tarificación? La respuesta objetiva la da el MAE en el test set. Sin él, la elección es subjetiva y no documentable ante el regulador.</a:t>
            </a:r>
            <a:endParaRPr lang="en-US" sz="1050" dirty="0"/>
          </a:p>
        </p:txBody>
      </p:sp>
      <p:sp>
        <p:nvSpPr>
          <p:cNvPr id="22" name="Shape 20"/>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23" name="Text 21"/>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24" name="Shape 22"/>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25" name="Text 23"/>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1 / 12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Los Tres Conjuntos: Un Solo Dataset, Tres Roles</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La disciplina de mantener los roles separados es fundamental para evaluaciones honestas</a:t>
            </a:r>
            <a:endParaRPr lang="en-US" sz="900" dirty="0"/>
          </a:p>
        </p:txBody>
      </p:sp>
      <p:sp>
        <p:nvSpPr>
          <p:cNvPr id="5" name="Text 3"/>
          <p:cNvSpPr/>
          <p:nvPr/>
        </p:nvSpPr>
        <p:spPr>
          <a:xfrm>
            <a:off x="274320" y="713232"/>
            <a:ext cx="8595360" cy="256032"/>
          </a:xfrm>
          <a:prstGeom prst="rect">
            <a:avLst/>
          </a:prstGeom>
          <a:noFill/>
          <a:ln/>
        </p:spPr>
        <p:txBody>
          <a:bodyPr wrap="square" lIns="0" tIns="0" rIns="0" bIns="0" rtlCol="0" anchor="t"/>
          <a:lstStyle/>
          <a:p>
            <a:pPr marL="0" indent="0">
              <a:buNone/>
            </a:pPr>
            <a:r>
              <a:rPr lang="en-US" sz="1200" b="1" dirty="0">
                <a:solidFill>
                  <a:srgbClr val="0D2137"/>
                </a:solidFill>
              </a:rPr>
              <a:t>DATASET COMPLETO — 1,000 pólizas de seguros de auto</a:t>
            </a:r>
            <a:endParaRPr lang="en-US" sz="1200" dirty="0"/>
          </a:p>
        </p:txBody>
      </p:sp>
      <p:sp>
        <p:nvSpPr>
          <p:cNvPr id="6" name="Shape 4"/>
          <p:cNvSpPr/>
          <p:nvPr/>
        </p:nvSpPr>
        <p:spPr>
          <a:xfrm>
            <a:off x="274320" y="1024128"/>
            <a:ext cx="5888736" cy="475488"/>
          </a:xfrm>
          <a:prstGeom prst="rect">
            <a:avLst/>
          </a:prstGeom>
          <a:solidFill>
            <a:srgbClr val="0D7490"/>
          </a:solidFill>
          <a:ln w="12700">
            <a:solidFill>
              <a:srgbClr val="0D7490"/>
            </a:solidFill>
            <a:prstDash val="solid"/>
          </a:ln>
        </p:spPr>
        <p:txBody>
          <a:bodyPr/>
          <a:lstStyle/>
          <a:p>
            <a:endParaRPr lang="es-MX"/>
          </a:p>
        </p:txBody>
      </p:sp>
      <p:sp>
        <p:nvSpPr>
          <p:cNvPr id="7" name="Text 5"/>
          <p:cNvSpPr/>
          <p:nvPr/>
        </p:nvSpPr>
        <p:spPr>
          <a:xfrm>
            <a:off x="274320" y="1024128"/>
            <a:ext cx="5888736" cy="475488"/>
          </a:xfrm>
          <a:prstGeom prst="rect">
            <a:avLst/>
          </a:prstGeom>
          <a:noFill/>
          <a:ln/>
        </p:spPr>
        <p:txBody>
          <a:bodyPr wrap="square" lIns="0" tIns="0" rIns="0" bIns="0" rtlCol="0" anchor="ctr"/>
          <a:lstStyle/>
          <a:p>
            <a:pPr marL="0" indent="0" algn="ctr">
              <a:buNone/>
            </a:pPr>
            <a:r>
              <a:rPr lang="en-US" sz="1200" b="1" dirty="0">
                <a:solidFill>
                  <a:srgbClr val="FFFFFF"/>
                </a:solidFill>
              </a:rPr>
              <a:t>TRAIN  (60-70%)  —  700 pólizas</a:t>
            </a:r>
            <a:endParaRPr lang="en-US" sz="1200" dirty="0"/>
          </a:p>
        </p:txBody>
      </p:sp>
      <p:sp>
        <p:nvSpPr>
          <p:cNvPr id="8" name="Shape 6"/>
          <p:cNvSpPr/>
          <p:nvPr/>
        </p:nvSpPr>
        <p:spPr>
          <a:xfrm>
            <a:off x="6217920" y="1024128"/>
            <a:ext cx="1316736" cy="475488"/>
          </a:xfrm>
          <a:prstGeom prst="rect">
            <a:avLst/>
          </a:prstGeom>
          <a:solidFill>
            <a:srgbClr val="7C3AED"/>
          </a:solidFill>
          <a:ln w="12700">
            <a:solidFill>
              <a:srgbClr val="7C3AED"/>
            </a:solidFill>
            <a:prstDash val="solid"/>
          </a:ln>
        </p:spPr>
        <p:txBody>
          <a:bodyPr/>
          <a:lstStyle/>
          <a:p>
            <a:endParaRPr lang="es-MX"/>
          </a:p>
        </p:txBody>
      </p:sp>
      <p:sp>
        <p:nvSpPr>
          <p:cNvPr id="9" name="Text 7"/>
          <p:cNvSpPr/>
          <p:nvPr/>
        </p:nvSpPr>
        <p:spPr>
          <a:xfrm>
            <a:off x="6217920" y="1024128"/>
            <a:ext cx="1316736" cy="475488"/>
          </a:xfrm>
          <a:prstGeom prst="rect">
            <a:avLst/>
          </a:prstGeom>
          <a:noFill/>
          <a:ln/>
        </p:spPr>
        <p:txBody>
          <a:bodyPr wrap="square" lIns="0" tIns="0" rIns="0" bIns="0" rtlCol="0" anchor="ctr"/>
          <a:lstStyle/>
          <a:p>
            <a:pPr marL="0" indent="0" algn="ctr">
              <a:buNone/>
            </a:pPr>
            <a:r>
              <a:rPr lang="en-US" sz="950" b="1" dirty="0">
                <a:solidFill>
                  <a:srgbClr val="FFFFFF"/>
                </a:solidFill>
              </a:rPr>
              <a:t>VALIDACIÓN  (15%)</a:t>
            </a:r>
            <a:endParaRPr lang="en-US" sz="950" dirty="0"/>
          </a:p>
        </p:txBody>
      </p:sp>
      <p:sp>
        <p:nvSpPr>
          <p:cNvPr id="10" name="Shape 8"/>
          <p:cNvSpPr/>
          <p:nvPr/>
        </p:nvSpPr>
        <p:spPr>
          <a:xfrm>
            <a:off x="7589520" y="1024128"/>
            <a:ext cx="1280160" cy="475488"/>
          </a:xfrm>
          <a:prstGeom prst="rect">
            <a:avLst/>
          </a:prstGeom>
          <a:solidFill>
            <a:srgbClr val="D97706"/>
          </a:solidFill>
          <a:ln w="12700">
            <a:solidFill>
              <a:srgbClr val="D97706"/>
            </a:solidFill>
            <a:prstDash val="solid"/>
          </a:ln>
        </p:spPr>
        <p:txBody>
          <a:bodyPr/>
          <a:lstStyle/>
          <a:p>
            <a:endParaRPr lang="es-MX"/>
          </a:p>
        </p:txBody>
      </p:sp>
      <p:sp>
        <p:nvSpPr>
          <p:cNvPr id="11" name="Text 9"/>
          <p:cNvSpPr/>
          <p:nvPr/>
        </p:nvSpPr>
        <p:spPr>
          <a:xfrm>
            <a:off x="7589520" y="1024128"/>
            <a:ext cx="1280160" cy="475488"/>
          </a:xfrm>
          <a:prstGeom prst="rect">
            <a:avLst/>
          </a:prstGeom>
          <a:noFill/>
          <a:ln/>
        </p:spPr>
        <p:txBody>
          <a:bodyPr wrap="square" lIns="0" tIns="0" rIns="0" bIns="0" rtlCol="0" anchor="ctr"/>
          <a:lstStyle/>
          <a:p>
            <a:pPr marL="0" indent="0" algn="ctr">
              <a:buNone/>
            </a:pPr>
            <a:r>
              <a:rPr lang="en-US" sz="950" b="1" dirty="0">
                <a:solidFill>
                  <a:srgbClr val="FFFFFF"/>
                </a:solidFill>
              </a:rPr>
              <a:t>TEST  (15-20%)</a:t>
            </a:r>
            <a:endParaRPr lang="en-US" sz="950" dirty="0"/>
          </a:p>
        </p:txBody>
      </p:sp>
      <p:sp>
        <p:nvSpPr>
          <p:cNvPr id="12" name="Shape 10"/>
          <p:cNvSpPr/>
          <p:nvPr/>
        </p:nvSpPr>
        <p:spPr>
          <a:xfrm>
            <a:off x="274320" y="1591056"/>
            <a:ext cx="2651760" cy="3127248"/>
          </a:xfrm>
          <a:prstGeom prst="rect">
            <a:avLst/>
          </a:prstGeom>
          <a:solidFill>
            <a:srgbClr val="EFF8FA"/>
          </a:solidFill>
          <a:ln w="12700">
            <a:solidFill>
              <a:srgbClr val="0D7490"/>
            </a:solidFill>
            <a:prstDash val="solid"/>
          </a:ln>
        </p:spPr>
        <p:txBody>
          <a:bodyPr/>
          <a:lstStyle/>
          <a:p>
            <a:endParaRPr lang="es-MX"/>
          </a:p>
        </p:txBody>
      </p:sp>
      <p:sp>
        <p:nvSpPr>
          <p:cNvPr id="13" name="Text 11"/>
          <p:cNvSpPr/>
          <p:nvPr/>
        </p:nvSpPr>
        <p:spPr>
          <a:xfrm>
            <a:off x="365760" y="1645920"/>
            <a:ext cx="2468880" cy="274320"/>
          </a:xfrm>
          <a:prstGeom prst="rect">
            <a:avLst/>
          </a:prstGeom>
          <a:noFill/>
          <a:ln/>
        </p:spPr>
        <p:txBody>
          <a:bodyPr wrap="square" lIns="0" tIns="0" rIns="0" bIns="0" rtlCol="0" anchor="t"/>
          <a:lstStyle/>
          <a:p>
            <a:pPr marL="0" indent="0">
              <a:buNone/>
            </a:pPr>
            <a:r>
              <a:rPr lang="en-US" sz="1200" b="1" dirty="0">
                <a:solidFill>
                  <a:srgbClr val="0D7490"/>
                </a:solidFill>
              </a:rPr>
              <a:t>TRAIN SET</a:t>
            </a:r>
            <a:endParaRPr lang="en-US" sz="1200" dirty="0"/>
          </a:p>
        </p:txBody>
      </p:sp>
      <p:sp>
        <p:nvSpPr>
          <p:cNvPr id="14" name="Text 12"/>
          <p:cNvSpPr/>
          <p:nvPr/>
        </p:nvSpPr>
        <p:spPr>
          <a:xfrm>
            <a:off x="365760" y="1975104"/>
            <a:ext cx="2468880" cy="475488"/>
          </a:xfrm>
          <a:prstGeom prst="rect">
            <a:avLst/>
          </a:prstGeom>
          <a:noFill/>
          <a:ln/>
        </p:spPr>
        <p:txBody>
          <a:bodyPr wrap="square" lIns="0" tIns="0" rIns="0" bIns="0" rtlCol="0" anchor="t"/>
          <a:lstStyle/>
          <a:p>
            <a:pPr marL="0" indent="0">
              <a:buNone/>
            </a:pPr>
            <a:r>
              <a:rPr lang="en-US" sz="1000" dirty="0">
                <a:solidFill>
                  <a:srgbClr val="374151"/>
                </a:solidFill>
              </a:rPr>
              <a:t>• El modelo ve estos datos con fit().</a:t>
            </a:r>
            <a:endParaRPr lang="en-US" sz="1000" dirty="0"/>
          </a:p>
        </p:txBody>
      </p:sp>
      <p:sp>
        <p:nvSpPr>
          <p:cNvPr id="15" name="Text 13"/>
          <p:cNvSpPr/>
          <p:nvPr/>
        </p:nvSpPr>
        <p:spPr>
          <a:xfrm>
            <a:off x="365760" y="2487168"/>
            <a:ext cx="2468880" cy="475488"/>
          </a:xfrm>
          <a:prstGeom prst="rect">
            <a:avLst/>
          </a:prstGeom>
          <a:noFill/>
          <a:ln/>
        </p:spPr>
        <p:txBody>
          <a:bodyPr wrap="square" lIns="0" tIns="0" rIns="0" bIns="0" rtlCol="0" anchor="t"/>
          <a:lstStyle/>
          <a:p>
            <a:pPr marL="0" indent="0">
              <a:buNone/>
            </a:pPr>
            <a:r>
              <a:rPr lang="en-US" sz="1000" dirty="0">
                <a:solidFill>
                  <a:srgbClr val="374151"/>
                </a:solidFill>
              </a:rPr>
              <a:t>• Aprende: coeficientes β (GLM), pesos w (red neuronal), divisiones de nodos (árbol).</a:t>
            </a:r>
            <a:endParaRPr lang="en-US" sz="1000" dirty="0"/>
          </a:p>
        </p:txBody>
      </p:sp>
      <p:sp>
        <p:nvSpPr>
          <p:cNvPr id="16" name="Text 14"/>
          <p:cNvSpPr/>
          <p:nvPr/>
        </p:nvSpPr>
        <p:spPr>
          <a:xfrm>
            <a:off x="365760" y="2999232"/>
            <a:ext cx="2468880" cy="475488"/>
          </a:xfrm>
          <a:prstGeom prst="rect">
            <a:avLst/>
          </a:prstGeom>
          <a:noFill/>
          <a:ln/>
        </p:spPr>
        <p:txBody>
          <a:bodyPr wrap="square" lIns="0" tIns="0" rIns="0" bIns="0" rtlCol="0" anchor="t"/>
          <a:lstStyle/>
          <a:p>
            <a:pPr marL="0" indent="0">
              <a:buNone/>
            </a:pPr>
            <a:r>
              <a:rPr lang="en-US" sz="1000" dirty="0">
                <a:solidFill>
                  <a:srgbClr val="374151"/>
                </a:solidFill>
              </a:rPr>
              <a:t>• Tamaño: 60-70% del dataset.</a:t>
            </a:r>
            <a:endParaRPr lang="en-US" sz="1000" dirty="0"/>
          </a:p>
        </p:txBody>
      </p:sp>
      <p:sp>
        <p:nvSpPr>
          <p:cNvPr id="17" name="Text 15"/>
          <p:cNvSpPr/>
          <p:nvPr/>
        </p:nvSpPr>
        <p:spPr>
          <a:xfrm>
            <a:off x="365760" y="3511296"/>
            <a:ext cx="2468880" cy="475488"/>
          </a:xfrm>
          <a:prstGeom prst="rect">
            <a:avLst/>
          </a:prstGeom>
          <a:noFill/>
          <a:ln/>
        </p:spPr>
        <p:txBody>
          <a:bodyPr wrap="square" lIns="0" tIns="0" rIns="0" bIns="0" rtlCol="0" anchor="t"/>
          <a:lstStyle/>
          <a:p>
            <a:pPr marL="0" indent="0">
              <a:buNone/>
            </a:pPr>
            <a:r>
              <a:rPr lang="en-US" sz="1000" dirty="0">
                <a:solidFill>
                  <a:srgbClr val="374151"/>
                </a:solidFill>
              </a:rPr>
              <a:t>• REGLA: todo fit() ocurre SOLO aquí.</a:t>
            </a:r>
            <a:endParaRPr lang="en-US" sz="1000" dirty="0"/>
          </a:p>
        </p:txBody>
      </p:sp>
      <p:sp>
        <p:nvSpPr>
          <p:cNvPr id="18" name="Text 16"/>
          <p:cNvSpPr/>
          <p:nvPr/>
        </p:nvSpPr>
        <p:spPr>
          <a:xfrm>
            <a:off x="365760" y="4023360"/>
            <a:ext cx="2468880" cy="475488"/>
          </a:xfrm>
          <a:prstGeom prst="rect">
            <a:avLst/>
          </a:prstGeom>
          <a:noFill/>
          <a:ln/>
        </p:spPr>
        <p:txBody>
          <a:bodyPr wrap="square" lIns="0" tIns="0" rIns="0" bIns="0" rtlCol="0" anchor="t"/>
          <a:lstStyle/>
          <a:p>
            <a:pPr marL="0" indent="0">
              <a:buNone/>
            </a:pPr>
            <a:r>
              <a:rPr lang="en-US" sz="1000" dirty="0">
                <a:solidFill>
                  <a:srgbClr val="374151"/>
                </a:solidFill>
              </a:rPr>
              <a:t>• Incluye todas las zonas, coberturas y segmentos del portafolio.</a:t>
            </a:r>
            <a:endParaRPr lang="en-US" sz="1000" dirty="0"/>
          </a:p>
        </p:txBody>
      </p:sp>
      <p:sp>
        <p:nvSpPr>
          <p:cNvPr id="19" name="Shape 17"/>
          <p:cNvSpPr/>
          <p:nvPr/>
        </p:nvSpPr>
        <p:spPr>
          <a:xfrm>
            <a:off x="3072384" y="1591056"/>
            <a:ext cx="2633472" cy="3127248"/>
          </a:xfrm>
          <a:prstGeom prst="rect">
            <a:avLst/>
          </a:prstGeom>
          <a:solidFill>
            <a:srgbClr val="EDE9FE"/>
          </a:solidFill>
          <a:ln w="12700">
            <a:solidFill>
              <a:srgbClr val="7C3AED"/>
            </a:solidFill>
            <a:prstDash val="solid"/>
          </a:ln>
        </p:spPr>
        <p:txBody>
          <a:bodyPr/>
          <a:lstStyle/>
          <a:p>
            <a:endParaRPr lang="es-MX"/>
          </a:p>
        </p:txBody>
      </p:sp>
      <p:sp>
        <p:nvSpPr>
          <p:cNvPr id="20" name="Text 18"/>
          <p:cNvSpPr/>
          <p:nvPr/>
        </p:nvSpPr>
        <p:spPr>
          <a:xfrm>
            <a:off x="3163824" y="1645920"/>
            <a:ext cx="2450592" cy="274320"/>
          </a:xfrm>
          <a:prstGeom prst="rect">
            <a:avLst/>
          </a:prstGeom>
          <a:noFill/>
          <a:ln/>
        </p:spPr>
        <p:txBody>
          <a:bodyPr wrap="square" lIns="0" tIns="0" rIns="0" bIns="0" rtlCol="0" anchor="t"/>
          <a:lstStyle/>
          <a:p>
            <a:pPr marL="0" indent="0">
              <a:buNone/>
            </a:pPr>
            <a:r>
              <a:rPr lang="en-US" sz="1200" b="1" dirty="0">
                <a:solidFill>
                  <a:srgbClr val="7C3AED"/>
                </a:solidFill>
              </a:rPr>
              <a:t>VALIDATION SET</a:t>
            </a:r>
            <a:endParaRPr lang="en-US" sz="1200" dirty="0"/>
          </a:p>
        </p:txBody>
      </p:sp>
      <p:sp>
        <p:nvSpPr>
          <p:cNvPr id="21" name="Text 19"/>
          <p:cNvSpPr/>
          <p:nvPr/>
        </p:nvSpPr>
        <p:spPr>
          <a:xfrm>
            <a:off x="3163824" y="1975104"/>
            <a:ext cx="2450592" cy="475488"/>
          </a:xfrm>
          <a:prstGeom prst="rect">
            <a:avLst/>
          </a:prstGeom>
          <a:noFill/>
          <a:ln/>
        </p:spPr>
        <p:txBody>
          <a:bodyPr wrap="square" lIns="0" tIns="0" rIns="0" bIns="0" rtlCol="0" anchor="t"/>
          <a:lstStyle/>
          <a:p>
            <a:pPr marL="0" indent="0">
              <a:buNone/>
            </a:pPr>
            <a:r>
              <a:rPr lang="en-US" sz="1000" dirty="0">
                <a:solidFill>
                  <a:srgbClr val="374151"/>
                </a:solidFill>
              </a:rPr>
              <a:t>• El modelo NO ve este set en fit().</a:t>
            </a:r>
            <a:endParaRPr lang="en-US" sz="1000" dirty="0"/>
          </a:p>
        </p:txBody>
      </p:sp>
      <p:sp>
        <p:nvSpPr>
          <p:cNvPr id="22" name="Text 20"/>
          <p:cNvSpPr/>
          <p:nvPr/>
        </p:nvSpPr>
        <p:spPr>
          <a:xfrm>
            <a:off x="3163824" y="2487168"/>
            <a:ext cx="2450592" cy="475488"/>
          </a:xfrm>
          <a:prstGeom prst="rect">
            <a:avLst/>
          </a:prstGeom>
          <a:noFill/>
          <a:ln/>
        </p:spPr>
        <p:txBody>
          <a:bodyPr wrap="square" lIns="0" tIns="0" rIns="0" bIns="0" rtlCol="0" anchor="t"/>
          <a:lstStyle/>
          <a:p>
            <a:pPr marL="0" indent="0">
              <a:buNone/>
            </a:pPr>
            <a:r>
              <a:rPr lang="en-US" sz="1000" dirty="0">
                <a:solidFill>
                  <a:srgbClr val="374151"/>
                </a:solidFill>
              </a:rPr>
              <a:t>• El MODELADOR lo usa para elegir hiperparámetros.</a:t>
            </a:r>
            <a:endParaRPr lang="en-US" sz="1000" dirty="0"/>
          </a:p>
        </p:txBody>
      </p:sp>
      <p:sp>
        <p:nvSpPr>
          <p:cNvPr id="23" name="Text 21"/>
          <p:cNvSpPr/>
          <p:nvPr/>
        </p:nvSpPr>
        <p:spPr>
          <a:xfrm>
            <a:off x="3163824" y="2999232"/>
            <a:ext cx="2450592" cy="475488"/>
          </a:xfrm>
          <a:prstGeom prst="rect">
            <a:avLst/>
          </a:prstGeom>
          <a:noFill/>
          <a:ln/>
        </p:spPr>
        <p:txBody>
          <a:bodyPr wrap="square" lIns="0" tIns="0" rIns="0" bIns="0" rtlCol="0" anchor="t"/>
          <a:lstStyle/>
          <a:p>
            <a:pPr marL="0" indent="0">
              <a:buNone/>
            </a:pPr>
            <a:r>
              <a:rPr lang="en-US" sz="1000" dirty="0">
                <a:solidFill>
                  <a:srgbClr val="374151"/>
                </a:solidFill>
              </a:rPr>
              <a:t>• Tamaño: 15-20% del dataset.</a:t>
            </a:r>
            <a:endParaRPr lang="en-US" sz="1000" dirty="0"/>
          </a:p>
        </p:txBody>
      </p:sp>
      <p:sp>
        <p:nvSpPr>
          <p:cNvPr id="24" name="Text 22"/>
          <p:cNvSpPr/>
          <p:nvPr/>
        </p:nvSpPr>
        <p:spPr>
          <a:xfrm>
            <a:off x="3163824" y="3511296"/>
            <a:ext cx="2450592" cy="475488"/>
          </a:xfrm>
          <a:prstGeom prst="rect">
            <a:avLst/>
          </a:prstGeom>
          <a:noFill/>
          <a:ln/>
        </p:spPr>
        <p:txBody>
          <a:bodyPr wrap="square" lIns="0" tIns="0" rIns="0" bIns="0" rtlCol="0" anchor="t"/>
          <a:lstStyle/>
          <a:p>
            <a:pPr marL="0" indent="0">
              <a:buNone/>
            </a:pPr>
            <a:r>
              <a:rPr lang="en-US" sz="1000" dirty="0">
                <a:solidFill>
                  <a:srgbClr val="374151"/>
                </a:solidFill>
              </a:rPr>
              <a:t>• El error en validación es ligeramente optimista (el modelador lo ha usado múltiples veces).</a:t>
            </a:r>
            <a:endParaRPr lang="en-US" sz="1000" dirty="0"/>
          </a:p>
        </p:txBody>
      </p:sp>
      <p:sp>
        <p:nvSpPr>
          <p:cNvPr id="25" name="Text 23"/>
          <p:cNvSpPr/>
          <p:nvPr/>
        </p:nvSpPr>
        <p:spPr>
          <a:xfrm>
            <a:off x="3163824" y="4023360"/>
            <a:ext cx="2450592" cy="475488"/>
          </a:xfrm>
          <a:prstGeom prst="rect">
            <a:avLst/>
          </a:prstGeom>
          <a:noFill/>
          <a:ln/>
        </p:spPr>
        <p:txBody>
          <a:bodyPr wrap="square" lIns="0" tIns="0" rIns="0" bIns="0" rtlCol="0" anchor="t"/>
          <a:lstStyle/>
          <a:p>
            <a:pPr marL="0" indent="0">
              <a:buNone/>
            </a:pPr>
            <a:r>
              <a:rPr lang="en-US" sz="1000" dirty="0">
                <a:solidFill>
                  <a:srgbClr val="374151"/>
                </a:solidFill>
              </a:rPr>
              <a:t>• Alternativa: K-Fold dentro del train elimina la necesidad de este set.</a:t>
            </a:r>
            <a:endParaRPr lang="en-US" sz="1000" dirty="0"/>
          </a:p>
        </p:txBody>
      </p:sp>
      <p:sp>
        <p:nvSpPr>
          <p:cNvPr id="26" name="Shape 24"/>
          <p:cNvSpPr/>
          <p:nvPr/>
        </p:nvSpPr>
        <p:spPr>
          <a:xfrm>
            <a:off x="5852160" y="1591056"/>
            <a:ext cx="3017520" cy="3127248"/>
          </a:xfrm>
          <a:prstGeom prst="rect">
            <a:avLst/>
          </a:prstGeom>
          <a:solidFill>
            <a:srgbClr val="FFFBEB"/>
          </a:solidFill>
          <a:ln w="12700">
            <a:solidFill>
              <a:srgbClr val="D97706"/>
            </a:solidFill>
            <a:prstDash val="solid"/>
          </a:ln>
        </p:spPr>
        <p:txBody>
          <a:bodyPr/>
          <a:lstStyle/>
          <a:p>
            <a:endParaRPr lang="es-MX"/>
          </a:p>
        </p:txBody>
      </p:sp>
      <p:sp>
        <p:nvSpPr>
          <p:cNvPr id="27" name="Text 25"/>
          <p:cNvSpPr/>
          <p:nvPr/>
        </p:nvSpPr>
        <p:spPr>
          <a:xfrm>
            <a:off x="5943600" y="1645920"/>
            <a:ext cx="2834640" cy="274320"/>
          </a:xfrm>
          <a:prstGeom prst="rect">
            <a:avLst/>
          </a:prstGeom>
          <a:noFill/>
          <a:ln/>
        </p:spPr>
        <p:txBody>
          <a:bodyPr wrap="square" lIns="0" tIns="0" rIns="0" bIns="0" rtlCol="0" anchor="t"/>
          <a:lstStyle/>
          <a:p>
            <a:pPr marL="0" indent="0">
              <a:buNone/>
            </a:pPr>
            <a:r>
              <a:rPr lang="en-US" sz="1200" b="1" dirty="0">
                <a:solidFill>
                  <a:srgbClr val="D97706"/>
                </a:solidFill>
              </a:rPr>
              <a:t>TEST SET  ⭐</a:t>
            </a:r>
            <a:endParaRPr lang="en-US" sz="1200" dirty="0"/>
          </a:p>
        </p:txBody>
      </p:sp>
      <p:sp>
        <p:nvSpPr>
          <p:cNvPr id="28" name="Text 26"/>
          <p:cNvSpPr/>
          <p:nvPr/>
        </p:nvSpPr>
        <p:spPr>
          <a:xfrm>
            <a:off x="5943600" y="1975104"/>
            <a:ext cx="2834640" cy="475488"/>
          </a:xfrm>
          <a:prstGeom prst="rect">
            <a:avLst/>
          </a:prstGeom>
          <a:noFill/>
          <a:ln/>
        </p:spPr>
        <p:txBody>
          <a:bodyPr wrap="square" lIns="0" tIns="0" rIns="0" bIns="0" rtlCol="0" anchor="t"/>
          <a:lstStyle/>
          <a:p>
            <a:pPr marL="0" indent="0">
              <a:buNone/>
            </a:pPr>
            <a:r>
              <a:rPr lang="en-US" sz="1000" dirty="0">
                <a:solidFill>
                  <a:srgbClr val="374151"/>
                </a:solidFill>
              </a:rPr>
              <a:t>• Se usa UNA SOLA VEZ, al final.</a:t>
            </a:r>
            <a:endParaRPr lang="en-US" sz="1000" dirty="0"/>
          </a:p>
        </p:txBody>
      </p:sp>
      <p:sp>
        <p:nvSpPr>
          <p:cNvPr id="29" name="Text 27"/>
          <p:cNvSpPr/>
          <p:nvPr/>
        </p:nvSpPr>
        <p:spPr>
          <a:xfrm>
            <a:off x="5943600" y="2487168"/>
            <a:ext cx="2834640" cy="475488"/>
          </a:xfrm>
          <a:prstGeom prst="rect">
            <a:avLst/>
          </a:prstGeom>
          <a:noFill/>
          <a:ln/>
        </p:spPr>
        <p:txBody>
          <a:bodyPr wrap="square" lIns="0" tIns="0" rIns="0" bIns="0" rtlCol="0" anchor="t"/>
          <a:lstStyle/>
          <a:p>
            <a:pPr marL="0" indent="0">
              <a:buNone/>
            </a:pPr>
            <a:r>
              <a:rPr lang="en-US" sz="1000" dirty="0">
                <a:solidFill>
                  <a:srgbClr val="374151"/>
                </a:solidFill>
              </a:rPr>
              <a:t>• Después de TODAS las decisiones de modelado.</a:t>
            </a:r>
            <a:endParaRPr lang="en-US" sz="1000" dirty="0"/>
          </a:p>
        </p:txBody>
      </p:sp>
      <p:sp>
        <p:nvSpPr>
          <p:cNvPr id="30" name="Text 28"/>
          <p:cNvSpPr/>
          <p:nvPr/>
        </p:nvSpPr>
        <p:spPr>
          <a:xfrm>
            <a:off x="5943600" y="2999232"/>
            <a:ext cx="2834640" cy="475488"/>
          </a:xfrm>
          <a:prstGeom prst="rect">
            <a:avLst/>
          </a:prstGeom>
          <a:noFill/>
          <a:ln/>
        </p:spPr>
        <p:txBody>
          <a:bodyPr wrap="square" lIns="0" tIns="0" rIns="0" bIns="0" rtlCol="0" anchor="t"/>
          <a:lstStyle/>
          <a:p>
            <a:pPr marL="0" indent="0">
              <a:buNone/>
            </a:pPr>
            <a:r>
              <a:rPr lang="en-US" sz="1000" dirty="0">
                <a:solidFill>
                  <a:srgbClr val="374151"/>
                </a:solidFill>
              </a:rPr>
              <a:t>• Proporciona la estimación más honesta del desempeño en producción.</a:t>
            </a:r>
            <a:endParaRPr lang="en-US" sz="1000" dirty="0"/>
          </a:p>
        </p:txBody>
      </p:sp>
      <p:sp>
        <p:nvSpPr>
          <p:cNvPr id="31" name="Text 29"/>
          <p:cNvSpPr/>
          <p:nvPr/>
        </p:nvSpPr>
        <p:spPr>
          <a:xfrm>
            <a:off x="5943600" y="3511296"/>
            <a:ext cx="2834640" cy="475488"/>
          </a:xfrm>
          <a:prstGeom prst="rect">
            <a:avLst/>
          </a:prstGeom>
          <a:noFill/>
          <a:ln/>
        </p:spPr>
        <p:txBody>
          <a:bodyPr wrap="square" lIns="0" tIns="0" rIns="0" bIns="0" rtlCol="0" anchor="t"/>
          <a:lstStyle/>
          <a:p>
            <a:pPr marL="0" indent="0">
              <a:buNone/>
            </a:pPr>
            <a:r>
              <a:rPr lang="en-US" sz="1000" dirty="0">
                <a:solidFill>
                  <a:srgbClr val="374151"/>
                </a:solidFill>
              </a:rPr>
              <a:t>• Si se usa más de una vez → pierde su propósito.</a:t>
            </a:r>
            <a:endParaRPr lang="en-US" sz="1000" dirty="0"/>
          </a:p>
        </p:txBody>
      </p:sp>
      <p:sp>
        <p:nvSpPr>
          <p:cNvPr id="32" name="Text 30"/>
          <p:cNvSpPr/>
          <p:nvPr/>
        </p:nvSpPr>
        <p:spPr>
          <a:xfrm>
            <a:off x="5943600" y="4023360"/>
            <a:ext cx="2834640" cy="475488"/>
          </a:xfrm>
          <a:prstGeom prst="rect">
            <a:avLst/>
          </a:prstGeom>
          <a:noFill/>
          <a:ln/>
        </p:spPr>
        <p:txBody>
          <a:bodyPr wrap="square" lIns="0" tIns="0" rIns="0" bIns="0" rtlCol="0" anchor="t"/>
          <a:lstStyle/>
          <a:p>
            <a:pPr marL="0" indent="0">
              <a:buNone/>
            </a:pPr>
            <a:r>
              <a:rPr lang="en-US" sz="1000" dirty="0">
                <a:solidFill>
                  <a:srgbClr val="374151"/>
                </a:solidFill>
              </a:rPr>
              <a:t>• Tamaño: 15-20% del dataset.</a:t>
            </a:r>
            <a:endParaRPr lang="en-US" sz="1000" dirty="0"/>
          </a:p>
        </p:txBody>
      </p:sp>
      <p:sp>
        <p:nvSpPr>
          <p:cNvPr id="33" name="Shape 31"/>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34" name="Text 32"/>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35" name="Shape 33"/>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36" name="Text 34"/>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2 / 12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El Conjunto de Entrenamiento — Reglas y Errores Frecuentes</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El modelo ajusta sus parámetros internos EXCLUSIVAMENTE con estos datos</a:t>
            </a:r>
            <a:endParaRPr lang="en-US" sz="900" dirty="0"/>
          </a:p>
        </p:txBody>
      </p:sp>
      <p:sp>
        <p:nvSpPr>
          <p:cNvPr id="5" name="Text 3"/>
          <p:cNvSpPr/>
          <p:nvPr/>
        </p:nvSpPr>
        <p:spPr>
          <a:xfrm>
            <a:off x="274320" y="713232"/>
            <a:ext cx="8595360" cy="237744"/>
          </a:xfrm>
          <a:prstGeom prst="rect">
            <a:avLst/>
          </a:prstGeom>
          <a:noFill/>
          <a:ln/>
        </p:spPr>
        <p:txBody>
          <a:bodyPr wrap="square" lIns="0" tIns="0" rIns="0" bIns="0" rtlCol="0" anchor="t"/>
          <a:lstStyle/>
          <a:p>
            <a:pPr marL="0" indent="0">
              <a:buNone/>
            </a:pPr>
            <a:r>
              <a:rPr lang="en-US" sz="1200" b="1" dirty="0">
                <a:solidFill>
                  <a:srgbClr val="0D2137"/>
                </a:solidFill>
              </a:rPr>
              <a:t>¿Qué aprende el modelo del Training Set?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87552"/>
          <a:ext cx="8595360" cy="1676400"/>
        </p:xfrm>
        <a:graphic>
          <a:graphicData uri="http://schemas.openxmlformats.org/drawingml/2006/table">
            <a:tbl>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rPr>
                        <a:t>Modelo</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1000" b="1" dirty="0">
                          <a:solidFill>
                            <a:srgbClr val="FFFFFF"/>
                          </a:solidFill>
                        </a:rPr>
                        <a:t>¿Qué parámetros aprende?</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1000" b="1" dirty="0">
                          <a:solidFill>
                            <a:srgbClr val="FFFFFF"/>
                          </a:solidFill>
                        </a:rPr>
                        <a:t>Código</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374151"/>
                          </a:solidFill>
                        </a:rPr>
                        <a:t>GLM / Regresión Lineal</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374151"/>
                          </a:solidFill>
                        </a:rPr>
                        <a:t>Coeficientes β que minimizan el error cuadrático</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374151"/>
                          </a:solidFill>
                        </a:rPr>
                        <a:t>scaler.fit(X_train)  →  modelo.fit(X_train_sc, y_train)</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374151"/>
                          </a:solidFill>
                        </a:rPr>
                        <a:t>Árbol de decisión</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374151"/>
                          </a:solidFill>
                        </a:rPr>
                        <a:t>Reglas de división de nodos (qué variable y en qué valor partir)</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374151"/>
                          </a:solidFill>
                        </a:rPr>
                        <a:t>DecisionTreeRegressor().fit(X_train, y_train)</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374151"/>
                          </a:solidFill>
                        </a:rPr>
                        <a:t>Red neuronal</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374151"/>
                          </a:solidFill>
                        </a:rPr>
                        <a:t>Pesos w y sesgos b de cada neurona por gradiente descendente</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374151"/>
                          </a:solidFill>
                        </a:rPr>
                        <a:t>model.fit(X_train, y_train, epochs=100)</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374151"/>
                          </a:solidFill>
                        </a:rPr>
                        <a:t>GBM / Random Forest</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374151"/>
                          </a:solidFill>
                        </a:rPr>
                        <a:t>Árboles secuenciales (GBM) o paralelos (RF) que corrigen errores</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374151"/>
                          </a:solidFill>
                        </a:rPr>
                        <a:t>GradientBoostingRegressor().fit(X_train, y_train)</a:t>
                      </a:r>
                      <a:endParaRPr lang="en-US" sz="10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7" name="Text 4"/>
          <p:cNvSpPr/>
          <p:nvPr/>
        </p:nvSpPr>
        <p:spPr>
          <a:xfrm>
            <a:off x="274320" y="2578608"/>
            <a:ext cx="8595360" cy="237744"/>
          </a:xfrm>
          <a:prstGeom prst="rect">
            <a:avLst/>
          </a:prstGeom>
          <a:noFill/>
          <a:ln/>
        </p:spPr>
        <p:txBody>
          <a:bodyPr wrap="square" lIns="0" tIns="0" rIns="0" bIns="0" rtlCol="0" anchor="t"/>
          <a:lstStyle/>
          <a:p>
            <a:pPr marL="0" indent="0">
              <a:buNone/>
            </a:pPr>
            <a:r>
              <a:rPr lang="en-US" sz="1200" b="1" dirty="0">
                <a:solidFill>
                  <a:srgbClr val="0D2137"/>
                </a:solidFill>
              </a:rPr>
              <a:t>¿Qué MÁS debe ocurrir SOLO sobre el Training Set?</a:t>
            </a:r>
            <a:endParaRPr lang="en-US" sz="1200" dirty="0"/>
          </a:p>
        </p:txBody>
      </p:sp>
      <p:sp>
        <p:nvSpPr>
          <p:cNvPr id="8" name="Shape 5"/>
          <p:cNvSpPr/>
          <p:nvPr/>
        </p:nvSpPr>
        <p:spPr>
          <a:xfrm>
            <a:off x="274320" y="2871216"/>
            <a:ext cx="8595360" cy="347472"/>
          </a:xfrm>
          <a:prstGeom prst="rect">
            <a:avLst/>
          </a:prstGeom>
          <a:solidFill>
            <a:srgbClr val="FFFFFF"/>
          </a:solidFill>
          <a:ln w="12700">
            <a:solidFill>
              <a:srgbClr val="CBD5E1"/>
            </a:solidFill>
            <a:prstDash val="solid"/>
          </a:ln>
        </p:spPr>
        <p:txBody>
          <a:bodyPr/>
          <a:lstStyle/>
          <a:p>
            <a:endParaRPr lang="es-MX"/>
          </a:p>
        </p:txBody>
      </p:sp>
      <p:sp>
        <p:nvSpPr>
          <p:cNvPr id="9" name="Text 6"/>
          <p:cNvSpPr/>
          <p:nvPr/>
        </p:nvSpPr>
        <p:spPr>
          <a:xfrm>
            <a:off x="384048" y="2907792"/>
            <a:ext cx="1645920" cy="274320"/>
          </a:xfrm>
          <a:prstGeom prst="rect">
            <a:avLst/>
          </a:prstGeom>
          <a:noFill/>
          <a:ln/>
        </p:spPr>
        <p:txBody>
          <a:bodyPr wrap="square" lIns="0" tIns="0" rIns="0" bIns="0" rtlCol="0" anchor="ctr"/>
          <a:lstStyle/>
          <a:p>
            <a:pPr marL="0" indent="0">
              <a:buNone/>
            </a:pPr>
            <a:r>
              <a:rPr lang="en-US" sz="1050" b="1" dirty="0">
                <a:solidFill>
                  <a:srgbClr val="7C3AED"/>
                </a:solidFill>
              </a:rPr>
              <a:t>StandardScaler:</a:t>
            </a:r>
            <a:endParaRPr lang="en-US" sz="1050" dirty="0"/>
          </a:p>
        </p:txBody>
      </p:sp>
      <p:sp>
        <p:nvSpPr>
          <p:cNvPr id="10" name="Text 7"/>
          <p:cNvSpPr/>
          <p:nvPr/>
        </p:nvSpPr>
        <p:spPr>
          <a:xfrm>
            <a:off x="2084832" y="2907792"/>
            <a:ext cx="6675120" cy="274320"/>
          </a:xfrm>
          <a:prstGeom prst="rect">
            <a:avLst/>
          </a:prstGeom>
          <a:noFill/>
          <a:ln/>
        </p:spPr>
        <p:txBody>
          <a:bodyPr wrap="square" lIns="0" tIns="0" rIns="0" bIns="0" rtlCol="0" anchor="ctr"/>
          <a:lstStyle/>
          <a:p>
            <a:pPr marL="0" indent="0">
              <a:buNone/>
            </a:pPr>
            <a:r>
              <a:rPr lang="en-US" sz="1050" dirty="0">
                <a:solidFill>
                  <a:srgbClr val="374151"/>
                </a:solidFill>
              </a:rPr>
              <a:t>Calcula media y desviación estándar SOLO de las pólizas de train. Luego transforma train y test con esos mismos valores.</a:t>
            </a:r>
            <a:endParaRPr lang="en-US" sz="1050" dirty="0"/>
          </a:p>
        </p:txBody>
      </p:sp>
      <p:sp>
        <p:nvSpPr>
          <p:cNvPr id="11" name="Shape 8"/>
          <p:cNvSpPr/>
          <p:nvPr/>
        </p:nvSpPr>
        <p:spPr>
          <a:xfrm>
            <a:off x="274320" y="3291840"/>
            <a:ext cx="8595360" cy="347472"/>
          </a:xfrm>
          <a:prstGeom prst="rect">
            <a:avLst/>
          </a:prstGeom>
          <a:solidFill>
            <a:srgbClr val="F1F5F9"/>
          </a:solidFill>
          <a:ln w="12700">
            <a:solidFill>
              <a:srgbClr val="CBD5E1"/>
            </a:solidFill>
            <a:prstDash val="solid"/>
          </a:ln>
        </p:spPr>
        <p:txBody>
          <a:bodyPr/>
          <a:lstStyle/>
          <a:p>
            <a:endParaRPr lang="es-MX"/>
          </a:p>
        </p:txBody>
      </p:sp>
      <p:sp>
        <p:nvSpPr>
          <p:cNvPr id="12" name="Text 9"/>
          <p:cNvSpPr/>
          <p:nvPr/>
        </p:nvSpPr>
        <p:spPr>
          <a:xfrm>
            <a:off x="384048" y="3328416"/>
            <a:ext cx="1645920" cy="274320"/>
          </a:xfrm>
          <a:prstGeom prst="rect">
            <a:avLst/>
          </a:prstGeom>
          <a:noFill/>
          <a:ln/>
        </p:spPr>
        <p:txBody>
          <a:bodyPr wrap="square" lIns="0" tIns="0" rIns="0" bIns="0" rtlCol="0" anchor="ctr"/>
          <a:lstStyle/>
          <a:p>
            <a:pPr marL="0" indent="0">
              <a:buNone/>
            </a:pPr>
            <a:r>
              <a:rPr lang="en-US" sz="1050" b="1" dirty="0">
                <a:solidFill>
                  <a:srgbClr val="7C3AED"/>
                </a:solidFill>
              </a:rPr>
              <a:t>TargetEncoder:</a:t>
            </a:r>
            <a:endParaRPr lang="en-US" sz="1050" dirty="0"/>
          </a:p>
        </p:txBody>
      </p:sp>
      <p:sp>
        <p:nvSpPr>
          <p:cNvPr id="13" name="Text 10"/>
          <p:cNvSpPr/>
          <p:nvPr/>
        </p:nvSpPr>
        <p:spPr>
          <a:xfrm>
            <a:off x="2084832" y="3328416"/>
            <a:ext cx="6675120" cy="274320"/>
          </a:xfrm>
          <a:prstGeom prst="rect">
            <a:avLst/>
          </a:prstGeom>
          <a:noFill/>
          <a:ln/>
        </p:spPr>
        <p:txBody>
          <a:bodyPr wrap="square" lIns="0" tIns="0" rIns="0" bIns="0" rtlCol="0" anchor="ctr"/>
          <a:lstStyle/>
          <a:p>
            <a:pPr marL="0" indent="0">
              <a:buNone/>
            </a:pPr>
            <a:r>
              <a:rPr lang="en-US" sz="1050" dirty="0">
                <a:solidFill>
                  <a:srgbClr val="374151"/>
                </a:solidFill>
              </a:rPr>
              <a:t>Calcula el encoding de cada categoría (zona, cobertura) SOLO con los siniestros de train. Evita que el test contamine los encodings.</a:t>
            </a:r>
            <a:endParaRPr lang="en-US" sz="1050" dirty="0"/>
          </a:p>
        </p:txBody>
      </p:sp>
      <p:sp>
        <p:nvSpPr>
          <p:cNvPr id="14" name="Shape 11"/>
          <p:cNvSpPr/>
          <p:nvPr/>
        </p:nvSpPr>
        <p:spPr>
          <a:xfrm>
            <a:off x="274320" y="3712464"/>
            <a:ext cx="8595360" cy="347472"/>
          </a:xfrm>
          <a:prstGeom prst="rect">
            <a:avLst/>
          </a:prstGeom>
          <a:solidFill>
            <a:srgbClr val="FFFFFF"/>
          </a:solidFill>
          <a:ln w="12700">
            <a:solidFill>
              <a:srgbClr val="CBD5E1"/>
            </a:solidFill>
            <a:prstDash val="solid"/>
          </a:ln>
        </p:spPr>
        <p:txBody>
          <a:bodyPr/>
          <a:lstStyle/>
          <a:p>
            <a:endParaRPr lang="es-MX"/>
          </a:p>
        </p:txBody>
      </p:sp>
      <p:sp>
        <p:nvSpPr>
          <p:cNvPr id="15" name="Text 12"/>
          <p:cNvSpPr/>
          <p:nvPr/>
        </p:nvSpPr>
        <p:spPr>
          <a:xfrm>
            <a:off x="384048" y="3749040"/>
            <a:ext cx="1645920" cy="274320"/>
          </a:xfrm>
          <a:prstGeom prst="rect">
            <a:avLst/>
          </a:prstGeom>
          <a:noFill/>
          <a:ln/>
        </p:spPr>
        <p:txBody>
          <a:bodyPr wrap="square" lIns="0" tIns="0" rIns="0" bIns="0" rtlCol="0" anchor="ctr"/>
          <a:lstStyle/>
          <a:p>
            <a:pPr marL="0" indent="0">
              <a:buNone/>
            </a:pPr>
            <a:r>
              <a:rPr lang="en-US" sz="1050" b="1" dirty="0">
                <a:solidFill>
                  <a:srgbClr val="7C3AED"/>
                </a:solidFill>
              </a:rPr>
              <a:t>Selección de variables:</a:t>
            </a:r>
            <a:endParaRPr lang="en-US" sz="1050" dirty="0"/>
          </a:p>
        </p:txBody>
      </p:sp>
      <p:sp>
        <p:nvSpPr>
          <p:cNvPr id="16" name="Text 13"/>
          <p:cNvSpPr/>
          <p:nvPr/>
        </p:nvSpPr>
        <p:spPr>
          <a:xfrm>
            <a:off x="2084832" y="3749040"/>
            <a:ext cx="6675120" cy="274320"/>
          </a:xfrm>
          <a:prstGeom prst="rect">
            <a:avLst/>
          </a:prstGeom>
          <a:noFill/>
          <a:ln/>
        </p:spPr>
        <p:txBody>
          <a:bodyPr wrap="square" lIns="0" tIns="0" rIns="0" bIns="0" rtlCol="0" anchor="ctr"/>
          <a:lstStyle/>
          <a:p>
            <a:pPr marL="0" indent="0">
              <a:buNone/>
            </a:pPr>
            <a:r>
              <a:rPr lang="en-US" sz="1050" dirty="0">
                <a:solidFill>
                  <a:srgbClr val="374151"/>
                </a:solidFill>
              </a:rPr>
              <a:t>Si se seleccionan variables por correlación o importancia, calcularla SOLO sobre train. El test no existe en esta etapa.</a:t>
            </a:r>
            <a:endParaRPr lang="en-US" sz="1050" dirty="0"/>
          </a:p>
        </p:txBody>
      </p:sp>
      <p:sp>
        <p:nvSpPr>
          <p:cNvPr id="17" name="Shape 14"/>
          <p:cNvSpPr/>
          <p:nvPr/>
        </p:nvSpPr>
        <p:spPr>
          <a:xfrm>
            <a:off x="274320" y="4133088"/>
            <a:ext cx="8595360" cy="347472"/>
          </a:xfrm>
          <a:prstGeom prst="rect">
            <a:avLst/>
          </a:prstGeom>
          <a:solidFill>
            <a:srgbClr val="F1F5F9"/>
          </a:solidFill>
          <a:ln w="12700">
            <a:solidFill>
              <a:srgbClr val="CBD5E1"/>
            </a:solidFill>
            <a:prstDash val="solid"/>
          </a:ln>
        </p:spPr>
        <p:txBody>
          <a:bodyPr/>
          <a:lstStyle/>
          <a:p>
            <a:endParaRPr lang="es-MX"/>
          </a:p>
        </p:txBody>
      </p:sp>
      <p:sp>
        <p:nvSpPr>
          <p:cNvPr id="18" name="Text 15"/>
          <p:cNvSpPr/>
          <p:nvPr/>
        </p:nvSpPr>
        <p:spPr>
          <a:xfrm>
            <a:off x="384048" y="4169664"/>
            <a:ext cx="1645920" cy="274320"/>
          </a:xfrm>
          <a:prstGeom prst="rect">
            <a:avLst/>
          </a:prstGeom>
          <a:noFill/>
          <a:ln/>
        </p:spPr>
        <p:txBody>
          <a:bodyPr wrap="square" lIns="0" tIns="0" rIns="0" bIns="0" rtlCol="0" anchor="ctr"/>
          <a:lstStyle/>
          <a:p>
            <a:pPr marL="0" indent="0">
              <a:buNone/>
            </a:pPr>
            <a:r>
              <a:rPr lang="en-US" sz="1050" b="1" dirty="0">
                <a:solidFill>
                  <a:srgbClr val="7C3AED"/>
                </a:solidFill>
              </a:rPr>
              <a:t>Análisis exploratorio:</a:t>
            </a:r>
            <a:endParaRPr lang="en-US" sz="1050" dirty="0"/>
          </a:p>
        </p:txBody>
      </p:sp>
      <p:sp>
        <p:nvSpPr>
          <p:cNvPr id="19" name="Text 16"/>
          <p:cNvSpPr/>
          <p:nvPr/>
        </p:nvSpPr>
        <p:spPr>
          <a:xfrm>
            <a:off x="2084832" y="4169664"/>
            <a:ext cx="6675120" cy="274320"/>
          </a:xfrm>
          <a:prstGeom prst="rect">
            <a:avLst/>
          </a:prstGeom>
          <a:noFill/>
          <a:ln/>
        </p:spPr>
        <p:txBody>
          <a:bodyPr wrap="square" lIns="0" tIns="0" rIns="0" bIns="0" rtlCol="0" anchor="ctr"/>
          <a:lstStyle/>
          <a:p>
            <a:pPr marL="0" indent="0">
              <a:buNone/>
            </a:pPr>
            <a:r>
              <a:rPr lang="en-US" sz="1050" dirty="0">
                <a:solidFill>
                  <a:srgbClr val="374151"/>
                </a:solidFill>
              </a:rPr>
              <a:t>df.describe(), histogramas, correlaciones — hacerlos sobre df_train, no sobre el dataset completo.</a:t>
            </a:r>
            <a:endParaRPr lang="en-US" sz="1050" dirty="0"/>
          </a:p>
        </p:txBody>
      </p:sp>
      <p:sp>
        <p:nvSpPr>
          <p:cNvPr id="20" name="Shape 17"/>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21" name="Text 18"/>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22" name="Shape 19"/>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23" name="Text 20"/>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3 / 12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El Conjunto de Prueba — La Regla Absoluta</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Se usa UNA SOLA VEZ, al final, después de todas las decisiones de modelado</a:t>
            </a:r>
            <a:endParaRPr lang="en-US" sz="900" dirty="0"/>
          </a:p>
        </p:txBody>
      </p:sp>
      <p:sp>
        <p:nvSpPr>
          <p:cNvPr id="5" name="Shape 3"/>
          <p:cNvSpPr/>
          <p:nvPr/>
        </p:nvSpPr>
        <p:spPr>
          <a:xfrm>
            <a:off x="274320" y="713232"/>
            <a:ext cx="8595360" cy="658368"/>
          </a:xfrm>
          <a:prstGeom prst="rect">
            <a:avLst/>
          </a:prstGeom>
          <a:solidFill>
            <a:srgbClr val="FFF1F2"/>
          </a:solidFill>
          <a:ln w="12700">
            <a:solidFill>
              <a:srgbClr val="DC2626"/>
            </a:solidFill>
            <a:prstDash val="solid"/>
          </a:ln>
        </p:spPr>
        <p:txBody>
          <a:bodyPr/>
          <a:lstStyle/>
          <a:p>
            <a:endParaRPr lang="es-MX"/>
          </a:p>
        </p:txBody>
      </p:sp>
      <p:sp>
        <p:nvSpPr>
          <p:cNvPr id="6" name="Shape 4"/>
          <p:cNvSpPr/>
          <p:nvPr/>
        </p:nvSpPr>
        <p:spPr>
          <a:xfrm>
            <a:off x="274320" y="713232"/>
            <a:ext cx="64008" cy="658368"/>
          </a:xfrm>
          <a:prstGeom prst="rect">
            <a:avLst/>
          </a:prstGeom>
          <a:solidFill>
            <a:srgbClr val="DC2626"/>
          </a:solidFill>
          <a:ln w="12700">
            <a:solidFill>
              <a:srgbClr val="DC2626"/>
            </a:solidFill>
            <a:prstDash val="solid"/>
          </a:ln>
        </p:spPr>
        <p:txBody>
          <a:bodyPr/>
          <a:lstStyle/>
          <a:p>
            <a:endParaRPr lang="es-MX"/>
          </a:p>
        </p:txBody>
      </p:sp>
      <p:sp>
        <p:nvSpPr>
          <p:cNvPr id="7" name="Text 5"/>
          <p:cNvSpPr/>
          <p:nvPr/>
        </p:nvSpPr>
        <p:spPr>
          <a:xfrm>
            <a:off x="402336" y="768096"/>
            <a:ext cx="8339328" cy="548640"/>
          </a:xfrm>
          <a:prstGeom prst="rect">
            <a:avLst/>
          </a:prstGeom>
          <a:noFill/>
          <a:ln/>
        </p:spPr>
        <p:txBody>
          <a:bodyPr wrap="square" lIns="0" tIns="0" rIns="0" bIns="0" rtlCol="0" anchor="ctr"/>
          <a:lstStyle/>
          <a:p>
            <a:pPr marL="0" indent="0">
              <a:buNone/>
            </a:pPr>
            <a:r>
              <a:rPr lang="en-US" sz="1100" dirty="0">
                <a:solidFill>
                  <a:srgbClr val="991B1B"/>
                </a:solidFill>
              </a:rPr>
              <a:t>⚠️  REGLA ABSOLUTA: El conjunto de prueba se usa UNA SOLA VEZ, después de que TODAS las decisiones de modelado han sido tomadas.</a:t>
            </a:r>
            <a:endParaRPr lang="en-US" sz="1100" dirty="0"/>
          </a:p>
          <a:p>
            <a:pPr marL="0" indent="0">
              <a:buNone/>
            </a:pPr>
            <a:r>
              <a:rPr lang="en-US" sz="1100" dirty="0">
                <a:solidFill>
                  <a:srgbClr val="991B1B"/>
                </a:solidFill>
              </a:rPr>
              <a:t>Si se consulta más de una vez, deja de ser un test set — se convierte en otro validation set.</a:t>
            </a:r>
            <a:endParaRPr lang="en-US" sz="1100" dirty="0"/>
          </a:p>
        </p:txBody>
      </p:sp>
      <p:sp>
        <p:nvSpPr>
          <p:cNvPr id="8" name="Text 6"/>
          <p:cNvSpPr/>
          <p:nvPr/>
        </p:nvSpPr>
        <p:spPr>
          <a:xfrm>
            <a:off x="274320" y="1481328"/>
            <a:ext cx="8595360" cy="237744"/>
          </a:xfrm>
          <a:prstGeom prst="rect">
            <a:avLst/>
          </a:prstGeom>
          <a:noFill/>
          <a:ln/>
        </p:spPr>
        <p:txBody>
          <a:bodyPr wrap="square" lIns="0" tIns="0" rIns="0" bIns="0" rtlCol="0" anchor="t"/>
          <a:lstStyle/>
          <a:p>
            <a:pPr marL="0" indent="0">
              <a:buNone/>
            </a:pPr>
            <a:r>
              <a:rPr lang="en-US" sz="1200" b="1" dirty="0">
                <a:solidFill>
                  <a:srgbClr val="0D2137"/>
                </a:solidFill>
              </a:rPr>
              <a:t>¿Qué ocurre si se usa el test set repetidamente?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755648"/>
          <a:ext cx="7863840" cy="1508760"/>
        </p:xfrm>
        <a:graphic>
          <a:graphicData uri="http://schemas.openxmlformats.org/drawingml/2006/table">
            <a:tbl>
              <a:tblPr/>
              <a:tblGrid>
                <a:gridCol w="8229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rPr>
                        <a:t>Uso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1050" b="1" dirty="0">
                          <a:solidFill>
                            <a:srgbClr val="FFFFFF"/>
                          </a:solidFill>
                        </a:rPr>
                        <a:t>Lo que hace el modelador</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1050" b="1" dirty="0">
                          <a:solidFill>
                            <a:srgbClr val="FFFFFF"/>
                          </a:solidFill>
                        </a:rPr>
                        <a:t>MAE reportado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1050" b="1" dirty="0">
                          <a:solidFill>
                            <a:srgbClr val="FFFFFF"/>
                          </a:solidFill>
                        </a:rPr>
                        <a:t>¿Válido?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374151"/>
                          </a:solidFill>
                        </a:rPr>
                        <a:t>1ª vez</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DF4"/>
                    </a:solidFill>
                  </a:tcPr>
                </a:tc>
                <a:tc>
                  <a:txBody>
                    <a:bodyPr/>
                    <a:lstStyle/>
                    <a:p>
                      <a:pPr marL="0" indent="0">
                        <a:buNone/>
                      </a:pPr>
                      <a:r>
                        <a:rPr lang="en-US" sz="1050" dirty="0">
                          <a:solidFill>
                            <a:srgbClr val="374151"/>
                          </a:solidFill>
                        </a:rPr>
                        <a:t>Evaluar el modelo base en test</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DF4"/>
                    </a:solidFill>
                  </a:tcPr>
                </a:tc>
                <a:tc>
                  <a:txBody>
                    <a:bodyPr/>
                    <a:lstStyle/>
                    <a:p>
                      <a:pPr marL="0" indent="0">
                        <a:buNone/>
                      </a:pPr>
                      <a:r>
                        <a:rPr lang="en-US" sz="1050" b="1" dirty="0">
                          <a:solidFill>
                            <a:srgbClr val="166534"/>
                          </a:solidFill>
                        </a:rPr>
                        <a:t>MAE = $4,200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DF4"/>
                    </a:solidFill>
                  </a:tcPr>
                </a:tc>
                <a:tc>
                  <a:txBody>
                    <a:bodyPr/>
                    <a:lstStyle/>
                    <a:p>
                      <a:pPr marL="0" indent="0">
                        <a:buNone/>
                      </a:pPr>
                      <a:r>
                        <a:rPr lang="en-US" sz="1050" b="1" dirty="0">
                          <a:solidFill>
                            <a:srgbClr val="166534"/>
                          </a:solidFill>
                        </a:rPr>
                        <a:t>✅ Sí</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DF4"/>
                    </a:solidFill>
                  </a:tcPr>
                </a:tc>
                <a:extLst>
                  <a:ext uri="{0D108BD9-81ED-4DB2-BD59-A6C34878D82A}">
                    <a16:rowId xmlns:a16="http://schemas.microsoft.com/office/drawing/2014/main" val="10001"/>
                  </a:ext>
                </a:extLst>
              </a:tr>
              <a:tr h="0">
                <a:tc>
                  <a:txBody>
                    <a:bodyPr/>
                    <a:lstStyle/>
                    <a:p>
                      <a:pPr marL="0" indent="0">
                        <a:buNone/>
                      </a:pPr>
                      <a:r>
                        <a:rPr lang="en-US" sz="1050" dirty="0">
                          <a:solidFill>
                            <a:srgbClr val="374151"/>
                          </a:solidFill>
                        </a:rPr>
                        <a:t>2ª vez</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dirty="0">
                          <a:solidFill>
                            <a:srgbClr val="374151"/>
                          </a:solidFill>
                        </a:rPr>
                        <a:t>Ver que MAE es alto → cambiar max_depth → evaluar en test</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MAE = $3,800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 No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extLst>
                  <a:ext uri="{0D108BD9-81ED-4DB2-BD59-A6C34878D82A}">
                    <a16:rowId xmlns:a16="http://schemas.microsoft.com/office/drawing/2014/main" val="10002"/>
                  </a:ext>
                </a:extLst>
              </a:tr>
              <a:tr h="0">
                <a:tc>
                  <a:txBody>
                    <a:bodyPr/>
                    <a:lstStyle/>
                    <a:p>
                      <a:pPr marL="0" indent="0">
                        <a:buNone/>
                      </a:pPr>
                      <a:r>
                        <a:rPr lang="en-US" sz="1050" dirty="0">
                          <a:solidFill>
                            <a:srgbClr val="374151"/>
                          </a:solidFill>
                        </a:rPr>
                        <a:t>3ª vez</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dirty="0">
                          <a:solidFill>
                            <a:srgbClr val="374151"/>
                          </a:solidFill>
                        </a:rPr>
                        <a:t>Ver que mejoró → cambiar n_estimators → evaluar en test</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MAE = $3,500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 No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extLst>
                  <a:ext uri="{0D108BD9-81ED-4DB2-BD59-A6C34878D82A}">
                    <a16:rowId xmlns:a16="http://schemas.microsoft.com/office/drawing/2014/main" val="10003"/>
                  </a:ext>
                </a:extLst>
              </a:tr>
              <a:tr h="0">
                <a:tc>
                  <a:txBody>
                    <a:bodyPr/>
                    <a:lstStyle/>
                    <a:p>
                      <a:pPr marL="0" indent="0">
                        <a:buNone/>
                      </a:pPr>
                      <a:r>
                        <a:rPr lang="en-US" sz="1050" dirty="0">
                          <a:solidFill>
                            <a:srgbClr val="374151"/>
                          </a:solidFill>
                        </a:rPr>
                        <a:t>4ª vez</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dirty="0">
                          <a:solidFill>
                            <a:srgbClr val="374151"/>
                          </a:solidFill>
                        </a:rPr>
                        <a:t>Ajustar el preprocesamiento → evaluar en test</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MAE = $3,200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 No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extLst>
                  <a:ext uri="{0D108BD9-81ED-4DB2-BD59-A6C34878D82A}">
                    <a16:rowId xmlns:a16="http://schemas.microsoft.com/office/drawing/2014/main" val="10004"/>
                  </a:ext>
                </a:extLst>
              </a:tr>
              <a:tr h="0">
                <a:tc>
                  <a:txBody>
                    <a:bodyPr/>
                    <a:lstStyle/>
                    <a:p>
                      <a:pPr marL="0" indent="0">
                        <a:buNone/>
                      </a:pPr>
                      <a:r>
                        <a:rPr lang="en-US" sz="1050" dirty="0">
                          <a:solidFill>
                            <a:srgbClr val="374151"/>
                          </a:solidFill>
                        </a:rPr>
                        <a:t>Producción</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dirty="0">
                          <a:solidFill>
                            <a:srgbClr val="374151"/>
                          </a:solidFill>
                        </a:rPr>
                        <a:t>Aplicar el modelo a pólizas reales nuevas</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MAE real ≈ $4,000</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marL="0" indent="0">
                        <a:buNone/>
                      </a:pPr>
                      <a:r>
                        <a:rPr lang="en-US" sz="1050" b="1" dirty="0">
                          <a:solidFill>
                            <a:srgbClr val="991B1B"/>
                          </a:solidFill>
                        </a:rPr>
                        <a:t>❌ No</a:t>
                      </a:r>
                      <a:endParaRPr lang="en-US" sz="10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extLst>
                  <a:ext uri="{0D108BD9-81ED-4DB2-BD59-A6C34878D82A}">
                    <a16:rowId xmlns:a16="http://schemas.microsoft.com/office/drawing/2014/main" val="10005"/>
                  </a:ext>
                </a:extLst>
              </a:tr>
            </a:tbl>
          </a:graphicData>
        </a:graphic>
      </p:graphicFrame>
      <p:sp>
        <p:nvSpPr>
          <p:cNvPr id="10" name="Shape 7"/>
          <p:cNvSpPr/>
          <p:nvPr/>
        </p:nvSpPr>
        <p:spPr>
          <a:xfrm>
            <a:off x="274320" y="4334256"/>
            <a:ext cx="8595360" cy="384048"/>
          </a:xfrm>
          <a:prstGeom prst="rect">
            <a:avLst/>
          </a:prstGeom>
          <a:solidFill>
            <a:srgbClr val="FFFBEB"/>
          </a:solidFill>
          <a:ln w="12700">
            <a:solidFill>
              <a:srgbClr val="D97706"/>
            </a:solidFill>
            <a:prstDash val="solid"/>
          </a:ln>
        </p:spPr>
        <p:txBody>
          <a:bodyPr/>
          <a:lstStyle/>
          <a:p>
            <a:endParaRPr lang="es-MX"/>
          </a:p>
        </p:txBody>
      </p:sp>
      <p:sp>
        <p:nvSpPr>
          <p:cNvPr id="11" name="Shape 8"/>
          <p:cNvSpPr/>
          <p:nvPr/>
        </p:nvSpPr>
        <p:spPr>
          <a:xfrm>
            <a:off x="274320" y="4334256"/>
            <a:ext cx="64008" cy="384048"/>
          </a:xfrm>
          <a:prstGeom prst="rect">
            <a:avLst/>
          </a:prstGeom>
          <a:solidFill>
            <a:srgbClr val="D97706"/>
          </a:solidFill>
          <a:ln w="12700">
            <a:solidFill>
              <a:srgbClr val="D97706"/>
            </a:solidFill>
            <a:prstDash val="solid"/>
          </a:ln>
        </p:spPr>
        <p:txBody>
          <a:bodyPr/>
          <a:lstStyle/>
          <a:p>
            <a:endParaRPr lang="es-MX"/>
          </a:p>
        </p:txBody>
      </p:sp>
      <p:sp>
        <p:nvSpPr>
          <p:cNvPr id="12" name="Text 9"/>
          <p:cNvSpPr/>
          <p:nvPr/>
        </p:nvSpPr>
        <p:spPr>
          <a:xfrm>
            <a:off x="402336" y="4389120"/>
            <a:ext cx="8339328" cy="274320"/>
          </a:xfrm>
          <a:prstGeom prst="rect">
            <a:avLst/>
          </a:prstGeom>
          <a:noFill/>
          <a:ln/>
        </p:spPr>
        <p:txBody>
          <a:bodyPr wrap="square" lIns="0" tIns="0" rIns="0" bIns="0" rtlCol="0" anchor="ctr"/>
          <a:lstStyle/>
          <a:p>
            <a:pPr marL="0" indent="0">
              <a:buNone/>
            </a:pPr>
            <a:r>
              <a:rPr lang="en-US" sz="1050" b="1" dirty="0">
                <a:solidFill>
                  <a:srgbClr val="D97706"/>
                </a:solidFill>
              </a:rPr>
              <a:t>💡  El modelador optimizó las decisiones para ese test set específico. En producción, los datos son distintos y el MAE real es mucho mayor que el reportado.</a:t>
            </a:r>
            <a:endParaRPr lang="en-US" sz="1050" dirty="0"/>
          </a:p>
        </p:txBody>
      </p:sp>
      <p:sp>
        <p:nvSpPr>
          <p:cNvPr id="13" name="Shape 10"/>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14" name="Text 11"/>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15" name="Shape 12"/>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16" name="Text 13"/>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4 / 12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Data Leakage — El Error Más Costoso y Más Frecuente</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Ocurre cuando información del test set contamina el proceso de entrenamiento</a:t>
            </a:r>
            <a:endParaRPr lang="en-US" sz="900" dirty="0"/>
          </a:p>
        </p:txBody>
      </p:sp>
      <p:sp>
        <p:nvSpPr>
          <p:cNvPr id="5" name="Text 3"/>
          <p:cNvSpPr/>
          <p:nvPr/>
        </p:nvSpPr>
        <p:spPr>
          <a:xfrm>
            <a:off x="274320" y="713232"/>
            <a:ext cx="8595360" cy="237744"/>
          </a:xfrm>
          <a:prstGeom prst="rect">
            <a:avLst/>
          </a:prstGeom>
          <a:noFill/>
          <a:ln/>
        </p:spPr>
        <p:txBody>
          <a:bodyPr wrap="square" lIns="0" tIns="0" rIns="0" bIns="0" rtlCol="0" anchor="t"/>
          <a:lstStyle/>
          <a:p>
            <a:pPr marL="0" indent="0">
              <a:buNone/>
            </a:pPr>
            <a:r>
              <a:rPr lang="en-US" sz="1200" b="1" dirty="0">
                <a:solidFill>
                  <a:srgbClr val="DC2626"/>
                </a:solidFill>
              </a:rPr>
              <a:t>El error clásico: escalar ANTES de separar los datos</a:t>
            </a:r>
            <a:endParaRPr lang="en-US" sz="1200" dirty="0"/>
          </a:p>
        </p:txBody>
      </p:sp>
      <p:sp>
        <p:nvSpPr>
          <p:cNvPr id="6" name="Shape 4"/>
          <p:cNvSpPr/>
          <p:nvPr/>
        </p:nvSpPr>
        <p:spPr>
          <a:xfrm>
            <a:off x="274320" y="1005840"/>
            <a:ext cx="4169664" cy="2487168"/>
          </a:xfrm>
          <a:prstGeom prst="rect">
            <a:avLst/>
          </a:prstGeom>
          <a:solidFill>
            <a:srgbClr val="FFF1F2"/>
          </a:solidFill>
          <a:ln w="12700">
            <a:solidFill>
              <a:srgbClr val="DC2626"/>
            </a:solidFill>
            <a:prstDash val="solid"/>
          </a:ln>
        </p:spPr>
        <p:txBody>
          <a:bodyPr/>
          <a:lstStyle/>
          <a:p>
            <a:endParaRPr lang="es-MX"/>
          </a:p>
        </p:txBody>
      </p:sp>
      <p:sp>
        <p:nvSpPr>
          <p:cNvPr id="7" name="Shape 5"/>
          <p:cNvSpPr/>
          <p:nvPr/>
        </p:nvSpPr>
        <p:spPr>
          <a:xfrm>
            <a:off x="274320" y="1005840"/>
            <a:ext cx="4169664" cy="310896"/>
          </a:xfrm>
          <a:prstGeom prst="rect">
            <a:avLst/>
          </a:prstGeom>
          <a:solidFill>
            <a:srgbClr val="DC2626"/>
          </a:solidFill>
          <a:ln w="12700">
            <a:solidFill>
              <a:srgbClr val="DC2626"/>
            </a:solidFill>
            <a:prstDash val="solid"/>
          </a:ln>
        </p:spPr>
        <p:txBody>
          <a:bodyPr/>
          <a:lstStyle/>
          <a:p>
            <a:endParaRPr lang="es-MX"/>
          </a:p>
        </p:txBody>
      </p:sp>
      <p:sp>
        <p:nvSpPr>
          <p:cNvPr id="8" name="Text 6"/>
          <p:cNvSpPr/>
          <p:nvPr/>
        </p:nvSpPr>
        <p:spPr>
          <a:xfrm>
            <a:off x="274320" y="1005840"/>
            <a:ext cx="4169664" cy="310896"/>
          </a:xfrm>
          <a:prstGeom prst="rect">
            <a:avLst/>
          </a:prstGeom>
          <a:noFill/>
          <a:ln/>
        </p:spPr>
        <p:txBody>
          <a:bodyPr wrap="square" lIns="0" tIns="0" rIns="0" bIns="0" rtlCol="0" anchor="ctr"/>
          <a:lstStyle/>
          <a:p>
            <a:pPr marL="0" indent="0" algn="ctr">
              <a:buNone/>
            </a:pPr>
            <a:r>
              <a:rPr lang="en-US" sz="1150" b="1" dirty="0">
                <a:solidFill>
                  <a:srgbClr val="FFFFFF"/>
                </a:solidFill>
              </a:rPr>
              <a:t>❌  CÓDIGO INCORRECTO</a:t>
            </a:r>
            <a:endParaRPr lang="en-US" sz="1150" dirty="0"/>
          </a:p>
        </p:txBody>
      </p:sp>
      <p:sp>
        <p:nvSpPr>
          <p:cNvPr id="9" name="Text 7"/>
          <p:cNvSpPr/>
          <p:nvPr/>
        </p:nvSpPr>
        <p:spPr>
          <a:xfrm>
            <a:off x="384048" y="1371600"/>
            <a:ext cx="3950208" cy="2029968"/>
          </a:xfrm>
          <a:prstGeom prst="rect">
            <a:avLst/>
          </a:prstGeom>
          <a:noFill/>
          <a:ln/>
        </p:spPr>
        <p:txBody>
          <a:bodyPr wrap="square" lIns="0" tIns="0" rIns="0" bIns="0" rtlCol="0" anchor="ctr"/>
          <a:lstStyle/>
          <a:p>
            <a:pPr marL="0" indent="0">
              <a:buNone/>
            </a:pPr>
            <a:r>
              <a:rPr lang="en-US" sz="950" dirty="0">
                <a:solidFill>
                  <a:srgbClr val="94A3B8"/>
                </a:solidFill>
                <a:latin typeface="Courier New" pitchFamily="34" charset="0"/>
                <a:ea typeface="Courier New" pitchFamily="34" charset="-122"/>
                <a:cs typeface="Courier New" pitchFamily="34" charset="-120"/>
              </a:rPr>
              <a:t>scaler = StandardScaler()</a:t>
            </a:r>
            <a:endParaRPr lang="en-US" sz="950" dirty="0"/>
          </a:p>
          <a:p>
            <a:pPr marL="0" indent="0">
              <a:buNone/>
            </a:pPr>
            <a:endParaRPr lang="en-US" sz="950" dirty="0"/>
          </a:p>
          <a:p>
            <a:pPr marL="0" indent="0">
              <a:buNone/>
            </a:pPr>
            <a:r>
              <a:rPr lang="en-US" sz="950" dirty="0">
                <a:solidFill>
                  <a:srgbClr val="94A3B8"/>
                </a:solidFill>
                <a:latin typeface="Courier New" pitchFamily="34" charset="0"/>
                <a:ea typeface="Courier New" pitchFamily="34" charset="-122"/>
                <a:cs typeface="Courier New" pitchFamily="34" charset="-120"/>
              </a:rPr>
              <a:t># ERROR: calcula media/std con TODO el dataset,</a:t>
            </a:r>
            <a:endParaRPr lang="en-US" sz="950" dirty="0"/>
          </a:p>
          <a:p>
            <a:pPr marL="0" indent="0">
              <a:buNone/>
            </a:pPr>
            <a:r>
              <a:rPr lang="en-US" sz="950" dirty="0">
                <a:solidFill>
                  <a:srgbClr val="94A3B8"/>
                </a:solidFill>
                <a:latin typeface="Courier New" pitchFamily="34" charset="0"/>
                <a:ea typeface="Courier New" pitchFamily="34" charset="-122"/>
                <a:cs typeface="Courier New" pitchFamily="34" charset="-120"/>
              </a:rPr>
              <a:t># incluyendo las pólizas que luego serán test</a:t>
            </a:r>
            <a:endParaRPr lang="en-US" sz="950" dirty="0"/>
          </a:p>
          <a:p>
            <a:pPr marL="0" indent="0">
              <a:buNone/>
            </a:pPr>
            <a:r>
              <a:rPr lang="en-US" sz="950" dirty="0">
                <a:solidFill>
                  <a:srgbClr val="94A3B8"/>
                </a:solidFill>
                <a:latin typeface="Courier New" pitchFamily="34" charset="0"/>
                <a:ea typeface="Courier New" pitchFamily="34" charset="-122"/>
                <a:cs typeface="Courier New" pitchFamily="34" charset="-120"/>
              </a:rPr>
              <a:t>X_esc = scaler.fit_transform(X_total)</a:t>
            </a:r>
            <a:endParaRPr lang="en-US" sz="950" dirty="0"/>
          </a:p>
          <a:p>
            <a:pPr marL="0" indent="0">
              <a:buNone/>
            </a:pPr>
            <a:endParaRPr lang="en-US" sz="950" dirty="0"/>
          </a:p>
          <a:p>
            <a:pPr marL="0" indent="0">
              <a:buNone/>
            </a:pPr>
            <a:r>
              <a:rPr lang="en-US" sz="950" dirty="0">
                <a:solidFill>
                  <a:srgbClr val="94A3B8"/>
                </a:solidFill>
                <a:latin typeface="Courier New" pitchFamily="34" charset="0"/>
                <a:ea typeface="Courier New" pitchFamily="34" charset="-122"/>
                <a:cs typeface="Courier New" pitchFamily="34" charset="-120"/>
              </a:rPr>
              <a:t># Ya es tarde: el test fue 'visto'</a:t>
            </a:r>
            <a:endParaRPr lang="en-US" sz="950" dirty="0"/>
          </a:p>
          <a:p>
            <a:pPr marL="0" indent="0">
              <a:buNone/>
            </a:pPr>
            <a:r>
              <a:rPr lang="en-US" sz="950" dirty="0">
                <a:solidFill>
                  <a:srgbClr val="94A3B8"/>
                </a:solidFill>
                <a:latin typeface="Courier New" pitchFamily="34" charset="0"/>
                <a:ea typeface="Courier New" pitchFamily="34" charset="-122"/>
                <a:cs typeface="Courier New" pitchFamily="34" charset="-120"/>
              </a:rPr>
              <a:t>X_tr, X_te, y_tr, y_te = \</a:t>
            </a:r>
            <a:endParaRPr lang="en-US" sz="950" dirty="0"/>
          </a:p>
          <a:p>
            <a:pPr marL="0" indent="0">
              <a:buNone/>
            </a:pPr>
            <a:r>
              <a:rPr lang="en-US" sz="950" dirty="0">
                <a:solidFill>
                  <a:srgbClr val="94A3B8"/>
                </a:solidFill>
                <a:latin typeface="Courier New" pitchFamily="34" charset="0"/>
                <a:ea typeface="Courier New" pitchFamily="34" charset="-122"/>
                <a:cs typeface="Courier New" pitchFamily="34" charset="-120"/>
              </a:rPr>
              <a:t>    train_test_split(X_esc, y)</a:t>
            </a:r>
            <a:endParaRPr lang="en-US" sz="950" dirty="0"/>
          </a:p>
        </p:txBody>
      </p:sp>
      <p:sp>
        <p:nvSpPr>
          <p:cNvPr id="10" name="Shape 8"/>
          <p:cNvSpPr/>
          <p:nvPr/>
        </p:nvSpPr>
        <p:spPr>
          <a:xfrm>
            <a:off x="4700016" y="1005840"/>
            <a:ext cx="4169664" cy="2487168"/>
          </a:xfrm>
          <a:prstGeom prst="rect">
            <a:avLst/>
          </a:prstGeom>
          <a:solidFill>
            <a:srgbClr val="F0FDF4"/>
          </a:solidFill>
          <a:ln w="12700">
            <a:solidFill>
              <a:srgbClr val="059669"/>
            </a:solidFill>
            <a:prstDash val="solid"/>
          </a:ln>
        </p:spPr>
        <p:txBody>
          <a:bodyPr/>
          <a:lstStyle/>
          <a:p>
            <a:endParaRPr lang="es-MX"/>
          </a:p>
        </p:txBody>
      </p:sp>
      <p:sp>
        <p:nvSpPr>
          <p:cNvPr id="11" name="Shape 9"/>
          <p:cNvSpPr/>
          <p:nvPr/>
        </p:nvSpPr>
        <p:spPr>
          <a:xfrm>
            <a:off x="4700016" y="1005840"/>
            <a:ext cx="4169664" cy="310896"/>
          </a:xfrm>
          <a:prstGeom prst="rect">
            <a:avLst/>
          </a:prstGeom>
          <a:solidFill>
            <a:srgbClr val="059669"/>
          </a:solidFill>
          <a:ln w="12700">
            <a:solidFill>
              <a:srgbClr val="059669"/>
            </a:solidFill>
            <a:prstDash val="solid"/>
          </a:ln>
        </p:spPr>
        <p:txBody>
          <a:bodyPr/>
          <a:lstStyle/>
          <a:p>
            <a:endParaRPr lang="es-MX"/>
          </a:p>
        </p:txBody>
      </p:sp>
      <p:sp>
        <p:nvSpPr>
          <p:cNvPr id="12" name="Text 10"/>
          <p:cNvSpPr/>
          <p:nvPr/>
        </p:nvSpPr>
        <p:spPr>
          <a:xfrm>
            <a:off x="4700016" y="1005840"/>
            <a:ext cx="4169664" cy="310896"/>
          </a:xfrm>
          <a:prstGeom prst="rect">
            <a:avLst/>
          </a:prstGeom>
          <a:noFill/>
          <a:ln/>
        </p:spPr>
        <p:txBody>
          <a:bodyPr wrap="square" lIns="0" tIns="0" rIns="0" bIns="0" rtlCol="0" anchor="ctr"/>
          <a:lstStyle/>
          <a:p>
            <a:pPr marL="0" indent="0" algn="ctr">
              <a:buNone/>
            </a:pPr>
            <a:r>
              <a:rPr lang="en-US" sz="1150" b="1" dirty="0">
                <a:solidFill>
                  <a:srgbClr val="FFFFFF"/>
                </a:solidFill>
              </a:rPr>
              <a:t>✅  CÓDIGO CORRECTO</a:t>
            </a:r>
            <a:endParaRPr lang="en-US" sz="1150" dirty="0"/>
          </a:p>
        </p:txBody>
      </p:sp>
      <p:sp>
        <p:nvSpPr>
          <p:cNvPr id="13" name="Text 11"/>
          <p:cNvSpPr/>
          <p:nvPr/>
        </p:nvSpPr>
        <p:spPr>
          <a:xfrm>
            <a:off x="4809744" y="1371600"/>
            <a:ext cx="3950208" cy="2029968"/>
          </a:xfrm>
          <a:prstGeom prst="rect">
            <a:avLst/>
          </a:prstGeom>
          <a:noFill/>
          <a:ln/>
        </p:spPr>
        <p:txBody>
          <a:bodyPr wrap="square" lIns="0" tIns="0" rIns="0" bIns="0" rtlCol="0" anchor="ctr"/>
          <a:lstStyle/>
          <a:p>
            <a:pPr marL="0" indent="0">
              <a:buNone/>
            </a:pPr>
            <a:r>
              <a:rPr lang="en-US" sz="950" dirty="0">
                <a:solidFill>
                  <a:srgbClr val="166534"/>
                </a:solidFill>
                <a:latin typeface="Courier New" pitchFamily="34" charset="0"/>
                <a:ea typeface="Courier New" pitchFamily="34" charset="-122"/>
                <a:cs typeface="Courier New" pitchFamily="34" charset="-120"/>
              </a:rPr>
              <a:t># PASO 1: Separar PRIMERO</a:t>
            </a:r>
            <a:endParaRPr lang="en-US" sz="950" dirty="0"/>
          </a:p>
          <a:p>
            <a:pPr marL="0" indent="0">
              <a:buNone/>
            </a:pPr>
            <a:r>
              <a:rPr lang="en-US" sz="950" dirty="0">
                <a:solidFill>
                  <a:srgbClr val="166534"/>
                </a:solidFill>
                <a:latin typeface="Courier New" pitchFamily="34" charset="0"/>
                <a:ea typeface="Courier New" pitchFamily="34" charset="-122"/>
                <a:cs typeface="Courier New" pitchFamily="34" charset="-120"/>
              </a:rPr>
              <a:t>X_tr, X_te, y_tr, y_te = \</a:t>
            </a:r>
            <a:endParaRPr lang="en-US" sz="950" dirty="0"/>
          </a:p>
          <a:p>
            <a:pPr marL="0" indent="0">
              <a:buNone/>
            </a:pPr>
            <a:r>
              <a:rPr lang="en-US" sz="950" dirty="0">
                <a:solidFill>
                  <a:srgbClr val="166534"/>
                </a:solidFill>
                <a:latin typeface="Courier New" pitchFamily="34" charset="0"/>
                <a:ea typeface="Courier New" pitchFamily="34" charset="-122"/>
                <a:cs typeface="Courier New" pitchFamily="34" charset="-120"/>
              </a:rPr>
              <a:t>    train_test_split(X, y, test_size=0.2)</a:t>
            </a:r>
            <a:endParaRPr lang="en-US" sz="950" dirty="0"/>
          </a:p>
          <a:p>
            <a:pPr marL="0" indent="0">
              <a:buNone/>
            </a:pPr>
            <a:endParaRPr lang="en-US" sz="950" dirty="0"/>
          </a:p>
          <a:p>
            <a:pPr marL="0" indent="0">
              <a:buNone/>
            </a:pPr>
            <a:r>
              <a:rPr lang="en-US" sz="950" dirty="0">
                <a:solidFill>
                  <a:srgbClr val="166534"/>
                </a:solidFill>
                <a:latin typeface="Courier New" pitchFamily="34" charset="0"/>
                <a:ea typeface="Courier New" pitchFamily="34" charset="-122"/>
                <a:cs typeface="Courier New" pitchFamily="34" charset="-120"/>
              </a:rPr>
              <a:t># PASO 2: fit() SOLO en train</a:t>
            </a:r>
            <a:endParaRPr lang="en-US" sz="950" dirty="0"/>
          </a:p>
          <a:p>
            <a:pPr marL="0" indent="0">
              <a:buNone/>
            </a:pPr>
            <a:r>
              <a:rPr lang="en-US" sz="950" dirty="0">
                <a:solidFill>
                  <a:srgbClr val="166534"/>
                </a:solidFill>
                <a:latin typeface="Courier New" pitchFamily="34" charset="0"/>
                <a:ea typeface="Courier New" pitchFamily="34" charset="-122"/>
                <a:cs typeface="Courier New" pitchFamily="34" charset="-120"/>
              </a:rPr>
              <a:t>scaler = StandardScaler()</a:t>
            </a:r>
            <a:endParaRPr lang="en-US" sz="950" dirty="0"/>
          </a:p>
          <a:p>
            <a:pPr marL="0" indent="0">
              <a:buNone/>
            </a:pPr>
            <a:r>
              <a:rPr lang="en-US" sz="950" dirty="0">
                <a:solidFill>
                  <a:srgbClr val="166534"/>
                </a:solidFill>
                <a:latin typeface="Courier New" pitchFamily="34" charset="0"/>
                <a:ea typeface="Courier New" pitchFamily="34" charset="-122"/>
                <a:cs typeface="Courier New" pitchFamily="34" charset="-120"/>
              </a:rPr>
              <a:t>X_tr_sc = scaler.fit_transform(X_tr)</a:t>
            </a:r>
            <a:endParaRPr lang="en-US" sz="950" dirty="0"/>
          </a:p>
          <a:p>
            <a:pPr marL="0" indent="0">
              <a:buNone/>
            </a:pPr>
            <a:endParaRPr lang="en-US" sz="950" dirty="0"/>
          </a:p>
          <a:p>
            <a:pPr marL="0" indent="0">
              <a:buNone/>
            </a:pPr>
            <a:r>
              <a:rPr lang="en-US" sz="950" dirty="0">
                <a:solidFill>
                  <a:srgbClr val="166534"/>
                </a:solidFill>
                <a:latin typeface="Courier New" pitchFamily="34" charset="0"/>
                <a:ea typeface="Courier New" pitchFamily="34" charset="-122"/>
                <a:cs typeface="Courier New" pitchFamily="34" charset="-120"/>
              </a:rPr>
              <a:t># PASO 3: transform() en test (sin fit)</a:t>
            </a:r>
            <a:endParaRPr lang="en-US" sz="950" dirty="0"/>
          </a:p>
          <a:p>
            <a:pPr marL="0" indent="0">
              <a:buNone/>
            </a:pPr>
            <a:r>
              <a:rPr lang="en-US" sz="950" dirty="0">
                <a:solidFill>
                  <a:srgbClr val="166534"/>
                </a:solidFill>
                <a:latin typeface="Courier New" pitchFamily="34" charset="0"/>
                <a:ea typeface="Courier New" pitchFamily="34" charset="-122"/>
                <a:cs typeface="Courier New" pitchFamily="34" charset="-120"/>
              </a:rPr>
              <a:t>X_te_sc = scaler.transform(X_te)</a:t>
            </a:r>
            <a:endParaRPr lang="en-US" sz="950" dirty="0"/>
          </a:p>
        </p:txBody>
      </p:sp>
      <p:sp>
        <p:nvSpPr>
          <p:cNvPr id="14" name="Text 12"/>
          <p:cNvSpPr/>
          <p:nvPr/>
        </p:nvSpPr>
        <p:spPr>
          <a:xfrm>
            <a:off x="274320" y="3584448"/>
            <a:ext cx="8595360" cy="237744"/>
          </a:xfrm>
          <a:prstGeom prst="rect">
            <a:avLst/>
          </a:prstGeom>
          <a:noFill/>
          <a:ln/>
        </p:spPr>
        <p:txBody>
          <a:bodyPr wrap="square" lIns="0" tIns="0" rIns="0" bIns="0" rtlCol="0" anchor="t"/>
          <a:lstStyle/>
          <a:p>
            <a:pPr marL="0" indent="0">
              <a:buNone/>
            </a:pPr>
            <a:r>
              <a:rPr lang="en-US" sz="1200" b="1" dirty="0">
                <a:solidFill>
                  <a:srgbClr val="0D2137"/>
                </a:solidFill>
              </a:rPr>
              <a:t>La regla de oro — 3 pasos siempre en este orden:</a:t>
            </a:r>
            <a:endParaRPr lang="en-US" sz="1200" dirty="0"/>
          </a:p>
        </p:txBody>
      </p:sp>
      <p:sp>
        <p:nvSpPr>
          <p:cNvPr id="15" name="Shape 13"/>
          <p:cNvSpPr/>
          <p:nvPr/>
        </p:nvSpPr>
        <p:spPr>
          <a:xfrm>
            <a:off x="274320" y="3858768"/>
            <a:ext cx="2743200" cy="749808"/>
          </a:xfrm>
          <a:prstGeom prst="rect">
            <a:avLst/>
          </a:prstGeom>
          <a:solidFill>
            <a:srgbClr val="0D7490"/>
          </a:solidFill>
          <a:ln w="12700">
            <a:solidFill>
              <a:srgbClr val="0D7490"/>
            </a:solidFill>
            <a:prstDash val="solid"/>
          </a:ln>
        </p:spPr>
        <p:txBody>
          <a:bodyPr/>
          <a:lstStyle/>
          <a:p>
            <a:endParaRPr lang="es-MX"/>
          </a:p>
        </p:txBody>
      </p:sp>
      <p:sp>
        <p:nvSpPr>
          <p:cNvPr id="16" name="Text 14"/>
          <p:cNvSpPr/>
          <p:nvPr/>
        </p:nvSpPr>
        <p:spPr>
          <a:xfrm>
            <a:off x="274320" y="3858768"/>
            <a:ext cx="457200" cy="749808"/>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17" name="Text 15"/>
          <p:cNvSpPr/>
          <p:nvPr/>
        </p:nvSpPr>
        <p:spPr>
          <a:xfrm>
            <a:off x="804672" y="3950208"/>
            <a:ext cx="2121408" cy="566928"/>
          </a:xfrm>
          <a:prstGeom prst="rect">
            <a:avLst/>
          </a:prstGeom>
          <a:noFill/>
          <a:ln/>
        </p:spPr>
        <p:txBody>
          <a:bodyPr wrap="square" lIns="0" tIns="0" rIns="0" bIns="0" rtlCol="0" anchor="ctr"/>
          <a:lstStyle/>
          <a:p>
            <a:pPr marL="0" indent="0">
              <a:buNone/>
            </a:pPr>
            <a:r>
              <a:rPr lang="en-US" sz="1050" dirty="0">
                <a:solidFill>
                  <a:srgbClr val="FFFFFF"/>
                </a:solidFill>
              </a:rPr>
              <a:t>train_test_split(X, y)</a:t>
            </a:r>
            <a:endParaRPr lang="en-US" sz="1050" dirty="0"/>
          </a:p>
        </p:txBody>
      </p:sp>
      <p:sp>
        <p:nvSpPr>
          <p:cNvPr id="18" name="Shape 16"/>
          <p:cNvSpPr/>
          <p:nvPr/>
        </p:nvSpPr>
        <p:spPr>
          <a:xfrm>
            <a:off x="3145536" y="3858768"/>
            <a:ext cx="2743200" cy="749808"/>
          </a:xfrm>
          <a:prstGeom prst="rect">
            <a:avLst/>
          </a:prstGeom>
          <a:solidFill>
            <a:srgbClr val="7C3AED"/>
          </a:solidFill>
          <a:ln w="12700">
            <a:solidFill>
              <a:srgbClr val="7C3AED"/>
            </a:solidFill>
            <a:prstDash val="solid"/>
          </a:ln>
        </p:spPr>
        <p:txBody>
          <a:bodyPr/>
          <a:lstStyle/>
          <a:p>
            <a:endParaRPr lang="es-MX"/>
          </a:p>
        </p:txBody>
      </p:sp>
      <p:sp>
        <p:nvSpPr>
          <p:cNvPr id="19" name="Text 17"/>
          <p:cNvSpPr/>
          <p:nvPr/>
        </p:nvSpPr>
        <p:spPr>
          <a:xfrm>
            <a:off x="3145536" y="3858768"/>
            <a:ext cx="457200" cy="749808"/>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20" name="Text 18"/>
          <p:cNvSpPr/>
          <p:nvPr/>
        </p:nvSpPr>
        <p:spPr>
          <a:xfrm>
            <a:off x="3675888" y="3950208"/>
            <a:ext cx="2121408" cy="566928"/>
          </a:xfrm>
          <a:prstGeom prst="rect">
            <a:avLst/>
          </a:prstGeom>
          <a:noFill/>
          <a:ln/>
        </p:spPr>
        <p:txBody>
          <a:bodyPr wrap="square" lIns="0" tIns="0" rIns="0" bIns="0" rtlCol="0" anchor="ctr"/>
          <a:lstStyle/>
          <a:p>
            <a:pPr marL="0" indent="0">
              <a:buNone/>
            </a:pPr>
            <a:r>
              <a:rPr lang="en-US" sz="1050" dirty="0">
                <a:solidFill>
                  <a:srgbClr val="FFFFFF"/>
                </a:solidFill>
              </a:rPr>
              <a:t>scaler.fit(X_train)  →  scaler.transform(X_train)</a:t>
            </a:r>
            <a:endParaRPr lang="en-US" sz="1050" dirty="0"/>
          </a:p>
        </p:txBody>
      </p:sp>
      <p:sp>
        <p:nvSpPr>
          <p:cNvPr id="21" name="Shape 19"/>
          <p:cNvSpPr/>
          <p:nvPr/>
        </p:nvSpPr>
        <p:spPr>
          <a:xfrm>
            <a:off x="6016752" y="3858768"/>
            <a:ext cx="2743200" cy="749808"/>
          </a:xfrm>
          <a:prstGeom prst="rect">
            <a:avLst/>
          </a:prstGeom>
          <a:solidFill>
            <a:srgbClr val="D97706"/>
          </a:solidFill>
          <a:ln w="12700">
            <a:solidFill>
              <a:srgbClr val="D97706"/>
            </a:solidFill>
            <a:prstDash val="solid"/>
          </a:ln>
        </p:spPr>
        <p:txBody>
          <a:bodyPr/>
          <a:lstStyle/>
          <a:p>
            <a:endParaRPr lang="es-MX"/>
          </a:p>
        </p:txBody>
      </p:sp>
      <p:sp>
        <p:nvSpPr>
          <p:cNvPr id="22" name="Text 20"/>
          <p:cNvSpPr/>
          <p:nvPr/>
        </p:nvSpPr>
        <p:spPr>
          <a:xfrm>
            <a:off x="6016752" y="3858768"/>
            <a:ext cx="457200" cy="749808"/>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23" name="Text 21"/>
          <p:cNvSpPr/>
          <p:nvPr/>
        </p:nvSpPr>
        <p:spPr>
          <a:xfrm>
            <a:off x="6547104" y="3950208"/>
            <a:ext cx="2121408" cy="566928"/>
          </a:xfrm>
          <a:prstGeom prst="rect">
            <a:avLst/>
          </a:prstGeom>
          <a:noFill/>
          <a:ln/>
        </p:spPr>
        <p:txBody>
          <a:bodyPr wrap="square" lIns="0" tIns="0" rIns="0" bIns="0" rtlCol="0" anchor="ctr"/>
          <a:lstStyle/>
          <a:p>
            <a:pPr marL="0" indent="0">
              <a:buNone/>
            </a:pPr>
            <a:r>
              <a:rPr lang="en-US" sz="1050" dirty="0">
                <a:solidFill>
                  <a:srgbClr val="FFFFFF"/>
                </a:solidFill>
              </a:rPr>
              <a:t>scaler.transform(X_test)  ←  sin fit()</a:t>
            </a:r>
            <a:endParaRPr lang="en-US" sz="1050" dirty="0"/>
          </a:p>
        </p:txBody>
      </p:sp>
      <p:sp>
        <p:nvSpPr>
          <p:cNvPr id="24" name="Shape 22"/>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25" name="Text 23"/>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26" name="Shape 24"/>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27" name="Text 25"/>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5 / 12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Tipos de Data Leakage en Proyectos de Seguros</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El leakage no siempre es obvio — hay que buscarlo en cada etapa del pipeline</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851392" cy="2286000"/>
        </p:xfrm>
        <a:graphic>
          <a:graphicData uri="http://schemas.openxmlformats.org/drawingml/2006/table">
            <a:tbl>
              <a:tblPr/>
              <a:tblGrid>
                <a:gridCol w="1645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33472">
                  <a:extLst>
                    <a:ext uri="{9D8B030D-6E8A-4147-A177-3AD203B41FA5}">
                      <a16:colId xmlns:a16="http://schemas.microsoft.com/office/drawing/2014/main" val="20003"/>
                    </a:ext>
                  </a:extLst>
                </a:gridCol>
              </a:tblGrid>
              <a:tr h="0">
                <a:tc>
                  <a:txBody>
                    <a:bodyPr/>
                    <a:lstStyle/>
                    <a:p>
                      <a:pPr marL="0" indent="0">
                        <a:buNone/>
                      </a:pPr>
                      <a:r>
                        <a:rPr lang="en-US" sz="950" b="1" dirty="0">
                          <a:solidFill>
                            <a:srgbClr val="FFFFFF"/>
                          </a:solidFill>
                        </a:rPr>
                        <a:t>Tipo de Leakage</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950" b="1" dirty="0">
                          <a:solidFill>
                            <a:srgbClr val="FFFFFF"/>
                          </a:solidFill>
                        </a:rPr>
                        <a:t>Cómo ocurre en la práctica</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950" b="1" dirty="0">
                          <a:solidFill>
                            <a:srgbClr val="FFFFFF"/>
                          </a:solidFill>
                        </a:rPr>
                        <a:t>Consecuencia</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tc>
                  <a:txBody>
                    <a:bodyPr/>
                    <a:lstStyle/>
                    <a:p>
                      <a:pPr marL="0" indent="0">
                        <a:buNone/>
                      </a:pPr>
                      <a:r>
                        <a:rPr lang="en-US" sz="950" b="1" dirty="0">
                          <a:solidFill>
                            <a:srgbClr val="FFFFFF"/>
                          </a:solidFill>
                        </a:rPr>
                        <a:t>Prevención</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374151"/>
                          </a:solidFill>
                        </a:rPr>
                        <a:t>Leakage de escalado</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scaler.fit_transform(X_total) antes de separar</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MAE del test optimista; desempeño real en producción es peor</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Separar primero. Usar Pipeline para que el scaler se ajuste en cada fold</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dirty="0">
                          <a:solidFill>
                            <a:srgbClr val="374151"/>
                          </a:solidFill>
                        </a:rPr>
                        <a:t>Leakage temporal</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374151"/>
                          </a:solidFill>
                        </a:rPr>
                        <a:t>K-Fold con pólizas de múltiples años mezcla 2023 con 2019</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374151"/>
                          </a:solidFill>
                        </a:rPr>
                        <a:t>El modelo aprende la inflación futura → MAE muy bajo, falso</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374151"/>
                          </a:solidFill>
                        </a:rPr>
                        <a:t>Usar TimeSeriesSplit: train=pasado, test=año siguiente siempre</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950" dirty="0">
                          <a:solidFill>
                            <a:srgbClr val="374151"/>
                          </a:solidFill>
                        </a:rPr>
                        <a:t>Leakage de variable</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Incluir una variable que solo existe después del siniestro a predecir</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El modelo predice perfectamente en train, falla en producción donde la variable no existe aún</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Verificar la disponibilidad temporal de cada variable en el momento de la predicción</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dirty="0">
                          <a:solidFill>
                            <a:srgbClr val="374151"/>
                          </a:solidFill>
                        </a:rPr>
                        <a:t>Leakage de encoding</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374151"/>
                          </a:solidFill>
                        </a:rPr>
                        <a:t>TargetEncoder calculado con todo el dataset antes de separar</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374151"/>
                          </a:solidFill>
                        </a:rPr>
                        <a:t>Las categorías raras en el train usan información del test</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374151"/>
                          </a:solidFill>
                        </a:rPr>
                        <a:t>Calcular encodings SOLO dentro de cada fold del K-Fold (usar Pipeline)</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950" dirty="0">
                          <a:solidFill>
                            <a:srgbClr val="374151"/>
                          </a:solidFill>
                        </a:rPr>
                        <a:t>Leakage de grupo</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Pólizas del mismo cliente aparecen en train y test simultáneamente</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El modelo aprende el perfil del cliente en train y lo aplica en test</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74151"/>
                          </a:solidFill>
                        </a:rPr>
                        <a:t>Usar GroupKFold para garantizar que un cliente está en un solo fold</a:t>
                      </a:r>
                      <a:endParaRPr lang="en-US" sz="95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274320" y="4517136"/>
            <a:ext cx="8595360" cy="292608"/>
          </a:xfrm>
          <a:prstGeom prst="rect">
            <a:avLst/>
          </a:prstGeom>
          <a:solidFill>
            <a:srgbClr val="FFFBEB"/>
          </a:solidFill>
          <a:ln w="12700">
            <a:solidFill>
              <a:srgbClr val="D97706"/>
            </a:solidFill>
            <a:prstDash val="solid"/>
          </a:ln>
        </p:spPr>
        <p:txBody>
          <a:bodyPr/>
          <a:lstStyle/>
          <a:p>
            <a:endParaRPr lang="es-MX"/>
          </a:p>
        </p:txBody>
      </p:sp>
      <p:sp>
        <p:nvSpPr>
          <p:cNvPr id="7" name="Shape 4"/>
          <p:cNvSpPr/>
          <p:nvPr/>
        </p:nvSpPr>
        <p:spPr>
          <a:xfrm>
            <a:off x="274320" y="4517136"/>
            <a:ext cx="64008" cy="292608"/>
          </a:xfrm>
          <a:prstGeom prst="rect">
            <a:avLst/>
          </a:prstGeom>
          <a:solidFill>
            <a:srgbClr val="D97706"/>
          </a:solidFill>
          <a:ln w="12700">
            <a:solidFill>
              <a:srgbClr val="D97706"/>
            </a:solidFill>
            <a:prstDash val="solid"/>
          </a:ln>
        </p:spPr>
        <p:txBody>
          <a:bodyPr/>
          <a:lstStyle/>
          <a:p>
            <a:endParaRPr lang="es-MX"/>
          </a:p>
        </p:txBody>
      </p:sp>
      <p:sp>
        <p:nvSpPr>
          <p:cNvPr id="5" name="Text 5"/>
          <p:cNvSpPr/>
          <p:nvPr/>
        </p:nvSpPr>
        <p:spPr>
          <a:xfrm>
            <a:off x="402336" y="4553712"/>
            <a:ext cx="8339328" cy="201168"/>
          </a:xfrm>
          <a:prstGeom prst="rect">
            <a:avLst/>
          </a:prstGeom>
          <a:noFill/>
          <a:ln/>
        </p:spPr>
        <p:txBody>
          <a:bodyPr wrap="square" lIns="0" tIns="0" rIns="0" bIns="0" rtlCol="0" anchor="ctr"/>
          <a:lstStyle/>
          <a:p>
            <a:pPr marL="0" indent="0">
              <a:buNone/>
            </a:pPr>
            <a:r>
              <a:rPr lang="en-US" sz="1000" dirty="0">
                <a:solidFill>
                  <a:srgbClr val="D97706"/>
                </a:solidFill>
              </a:rPr>
              <a:t>💡  La solución más robusta para todos los tipos es usar Pipeline de sklearn: encadena el preprocesamiento y el modelo en un objeto que aplica fit() de forma automática y correcta en cada fold del K-Fold.</a:t>
            </a:r>
            <a:endParaRPr lang="en-US" sz="1000" dirty="0"/>
          </a:p>
        </p:txBody>
      </p:sp>
      <p:sp>
        <p:nvSpPr>
          <p:cNvPr id="9" name="Shape 6"/>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10" name="Text 7"/>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11" name="Shape 8"/>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12" name="Text 9"/>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6 / 12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Proporciones de Partición — Criterios por Tamaño del Dataset</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Las proporciones no son un dogma: dependen del tamaño del portafolio y la complejidad del modelo</a:t>
            </a:r>
            <a:endParaRPr lang="en-US" sz="900" dirty="0"/>
          </a:p>
        </p:txBody>
      </p:sp>
      <p:sp>
        <p:nvSpPr>
          <p:cNvPr id="5" name="Text 3"/>
          <p:cNvSpPr/>
          <p:nvPr/>
        </p:nvSpPr>
        <p:spPr>
          <a:xfrm>
            <a:off x="274320" y="749808"/>
            <a:ext cx="1828800" cy="256032"/>
          </a:xfrm>
          <a:prstGeom prst="rect">
            <a:avLst/>
          </a:prstGeom>
          <a:noFill/>
          <a:ln/>
        </p:spPr>
        <p:txBody>
          <a:bodyPr wrap="square" lIns="0" tIns="0" rIns="0" bIns="0" rtlCol="0" anchor="ctr"/>
          <a:lstStyle/>
          <a:p>
            <a:pPr marL="0" indent="0">
              <a:buNone/>
            </a:pPr>
            <a:r>
              <a:rPr lang="en-US" sz="1050" b="1" dirty="0">
                <a:solidFill>
                  <a:srgbClr val="0D2137"/>
                </a:solidFill>
              </a:rPr>
              <a:t>N &lt; 500 pólizas</a:t>
            </a:r>
            <a:endParaRPr lang="en-US" sz="1050" dirty="0"/>
          </a:p>
        </p:txBody>
      </p:sp>
      <p:sp>
        <p:nvSpPr>
          <p:cNvPr id="6" name="Shape 4"/>
          <p:cNvSpPr/>
          <p:nvPr/>
        </p:nvSpPr>
        <p:spPr>
          <a:xfrm>
            <a:off x="2194560" y="768096"/>
            <a:ext cx="4242816" cy="310896"/>
          </a:xfrm>
          <a:prstGeom prst="rect">
            <a:avLst/>
          </a:prstGeom>
          <a:solidFill>
            <a:srgbClr val="0D7490"/>
          </a:solidFill>
          <a:ln w="12700">
            <a:solidFill>
              <a:srgbClr val="0D7490"/>
            </a:solidFill>
            <a:prstDash val="solid"/>
          </a:ln>
        </p:spPr>
        <p:txBody>
          <a:bodyPr/>
          <a:lstStyle/>
          <a:p>
            <a:endParaRPr lang="es-MX"/>
          </a:p>
        </p:txBody>
      </p:sp>
      <p:sp>
        <p:nvSpPr>
          <p:cNvPr id="7" name="Text 5"/>
          <p:cNvSpPr/>
          <p:nvPr/>
        </p:nvSpPr>
        <p:spPr>
          <a:xfrm>
            <a:off x="2194560" y="768096"/>
            <a:ext cx="4242816" cy="310896"/>
          </a:xfrm>
          <a:prstGeom prst="rect">
            <a:avLst/>
          </a:prstGeom>
          <a:noFill/>
          <a:ln/>
        </p:spPr>
        <p:txBody>
          <a:bodyPr wrap="square" lIns="0" tIns="0" rIns="0" bIns="0" rtlCol="0" anchor="ctr"/>
          <a:lstStyle/>
          <a:p>
            <a:pPr marL="0" indent="0" algn="ctr">
              <a:buNone/>
            </a:pPr>
            <a:r>
              <a:rPr lang="en-US" sz="900" b="1" dirty="0">
                <a:solidFill>
                  <a:srgbClr val="FFFFFF"/>
                </a:solidFill>
              </a:rPr>
              <a:t>80%</a:t>
            </a:r>
            <a:endParaRPr lang="en-US" sz="900" dirty="0"/>
          </a:p>
        </p:txBody>
      </p:sp>
      <p:sp>
        <p:nvSpPr>
          <p:cNvPr id="8" name="Shape 6"/>
          <p:cNvSpPr/>
          <p:nvPr/>
        </p:nvSpPr>
        <p:spPr>
          <a:xfrm>
            <a:off x="6437376" y="768096"/>
            <a:ext cx="1060704" cy="310896"/>
          </a:xfrm>
          <a:prstGeom prst="rect">
            <a:avLst/>
          </a:prstGeom>
          <a:solidFill>
            <a:srgbClr val="D97706"/>
          </a:solidFill>
          <a:ln w="12700">
            <a:solidFill>
              <a:srgbClr val="D97706"/>
            </a:solidFill>
            <a:prstDash val="solid"/>
          </a:ln>
        </p:spPr>
        <p:txBody>
          <a:bodyPr/>
          <a:lstStyle/>
          <a:p>
            <a:endParaRPr lang="es-MX"/>
          </a:p>
        </p:txBody>
      </p:sp>
      <p:sp>
        <p:nvSpPr>
          <p:cNvPr id="9" name="Text 7"/>
          <p:cNvSpPr/>
          <p:nvPr/>
        </p:nvSpPr>
        <p:spPr>
          <a:xfrm>
            <a:off x="6437376" y="768096"/>
            <a:ext cx="1060704" cy="310896"/>
          </a:xfrm>
          <a:prstGeom prst="rect">
            <a:avLst/>
          </a:prstGeom>
          <a:noFill/>
          <a:ln/>
        </p:spPr>
        <p:txBody>
          <a:bodyPr wrap="square" lIns="0" tIns="0" rIns="0" bIns="0" rtlCol="0" anchor="ctr"/>
          <a:lstStyle/>
          <a:p>
            <a:pPr marL="0" indent="0" algn="ctr">
              <a:buNone/>
            </a:pPr>
            <a:r>
              <a:rPr lang="en-US" sz="900" b="1" dirty="0">
                <a:solidFill>
                  <a:srgbClr val="FFFFFF"/>
                </a:solidFill>
              </a:rPr>
              <a:t>20%</a:t>
            </a:r>
            <a:endParaRPr lang="en-US" sz="900" dirty="0"/>
          </a:p>
        </p:txBody>
      </p:sp>
      <p:sp>
        <p:nvSpPr>
          <p:cNvPr id="10" name="Text 8"/>
          <p:cNvSpPr/>
          <p:nvPr/>
        </p:nvSpPr>
        <p:spPr>
          <a:xfrm>
            <a:off x="7589520" y="795528"/>
            <a:ext cx="1444752" cy="347472"/>
          </a:xfrm>
          <a:prstGeom prst="rect">
            <a:avLst/>
          </a:prstGeom>
          <a:noFill/>
          <a:ln/>
        </p:spPr>
        <p:txBody>
          <a:bodyPr wrap="square" lIns="0" tIns="0" rIns="0" bIns="0" rtlCol="0" anchor="t"/>
          <a:lstStyle/>
          <a:p>
            <a:pPr marL="0" indent="0">
              <a:buNone/>
            </a:pPr>
            <a:r>
              <a:rPr lang="en-US" sz="900" dirty="0">
                <a:solidFill>
                  <a:srgbClr val="374151"/>
                </a:solidFill>
              </a:rPr>
              <a:t>K-Fold K=10 o LOO dentro del train. Test = 20%.</a:t>
            </a:r>
            <a:endParaRPr lang="en-US" sz="900" dirty="0"/>
          </a:p>
        </p:txBody>
      </p:sp>
      <p:sp>
        <p:nvSpPr>
          <p:cNvPr id="11" name="Text 9"/>
          <p:cNvSpPr/>
          <p:nvPr/>
        </p:nvSpPr>
        <p:spPr>
          <a:xfrm>
            <a:off x="274320" y="1536192"/>
            <a:ext cx="1828800" cy="256032"/>
          </a:xfrm>
          <a:prstGeom prst="rect">
            <a:avLst/>
          </a:prstGeom>
          <a:noFill/>
          <a:ln/>
        </p:spPr>
        <p:txBody>
          <a:bodyPr wrap="square" lIns="0" tIns="0" rIns="0" bIns="0" rtlCol="0" anchor="ctr"/>
          <a:lstStyle/>
          <a:p>
            <a:pPr marL="0" indent="0">
              <a:buNone/>
            </a:pPr>
            <a:r>
              <a:rPr lang="en-US" sz="1050" b="1" dirty="0">
                <a:solidFill>
                  <a:srgbClr val="0D2137"/>
                </a:solidFill>
              </a:rPr>
              <a:t>N 500 – 5,000</a:t>
            </a:r>
            <a:endParaRPr lang="en-US" sz="1050" dirty="0"/>
          </a:p>
        </p:txBody>
      </p:sp>
      <p:sp>
        <p:nvSpPr>
          <p:cNvPr id="12" name="Shape 10"/>
          <p:cNvSpPr/>
          <p:nvPr/>
        </p:nvSpPr>
        <p:spPr>
          <a:xfrm>
            <a:off x="2194560" y="1554480"/>
            <a:ext cx="3977640" cy="310896"/>
          </a:xfrm>
          <a:prstGeom prst="rect">
            <a:avLst/>
          </a:prstGeom>
          <a:solidFill>
            <a:srgbClr val="0D7490"/>
          </a:solidFill>
          <a:ln w="12700">
            <a:solidFill>
              <a:srgbClr val="0D7490"/>
            </a:solidFill>
            <a:prstDash val="solid"/>
          </a:ln>
        </p:spPr>
        <p:txBody>
          <a:bodyPr/>
          <a:lstStyle/>
          <a:p>
            <a:endParaRPr lang="es-MX"/>
          </a:p>
        </p:txBody>
      </p:sp>
      <p:sp>
        <p:nvSpPr>
          <p:cNvPr id="13" name="Text 11"/>
          <p:cNvSpPr/>
          <p:nvPr/>
        </p:nvSpPr>
        <p:spPr>
          <a:xfrm>
            <a:off x="2194560" y="1554480"/>
            <a:ext cx="3977640" cy="310896"/>
          </a:xfrm>
          <a:prstGeom prst="rect">
            <a:avLst/>
          </a:prstGeom>
          <a:noFill/>
          <a:ln/>
        </p:spPr>
        <p:txBody>
          <a:bodyPr wrap="square" lIns="0" tIns="0" rIns="0" bIns="0" rtlCol="0" anchor="ctr"/>
          <a:lstStyle/>
          <a:p>
            <a:pPr marL="0" indent="0" algn="ctr">
              <a:buNone/>
            </a:pPr>
            <a:r>
              <a:rPr lang="en-US" sz="900" b="1" dirty="0">
                <a:solidFill>
                  <a:srgbClr val="FFFFFF"/>
                </a:solidFill>
              </a:rPr>
              <a:t>75%</a:t>
            </a:r>
            <a:endParaRPr lang="en-US" sz="900" dirty="0"/>
          </a:p>
        </p:txBody>
      </p:sp>
      <p:sp>
        <p:nvSpPr>
          <p:cNvPr id="14" name="Shape 12"/>
          <p:cNvSpPr/>
          <p:nvPr/>
        </p:nvSpPr>
        <p:spPr>
          <a:xfrm>
            <a:off x="6172200" y="1554480"/>
            <a:ext cx="1325880" cy="310896"/>
          </a:xfrm>
          <a:prstGeom prst="rect">
            <a:avLst/>
          </a:prstGeom>
          <a:solidFill>
            <a:srgbClr val="D97706"/>
          </a:solidFill>
          <a:ln w="12700">
            <a:solidFill>
              <a:srgbClr val="D97706"/>
            </a:solidFill>
            <a:prstDash val="solid"/>
          </a:ln>
        </p:spPr>
        <p:txBody>
          <a:bodyPr/>
          <a:lstStyle/>
          <a:p>
            <a:endParaRPr lang="es-MX"/>
          </a:p>
        </p:txBody>
      </p:sp>
      <p:sp>
        <p:nvSpPr>
          <p:cNvPr id="15" name="Text 13"/>
          <p:cNvSpPr/>
          <p:nvPr/>
        </p:nvSpPr>
        <p:spPr>
          <a:xfrm>
            <a:off x="6172200" y="1554480"/>
            <a:ext cx="1325880" cy="310896"/>
          </a:xfrm>
          <a:prstGeom prst="rect">
            <a:avLst/>
          </a:prstGeom>
          <a:noFill/>
          <a:ln/>
        </p:spPr>
        <p:txBody>
          <a:bodyPr wrap="square" lIns="0" tIns="0" rIns="0" bIns="0" rtlCol="0" anchor="ctr"/>
          <a:lstStyle/>
          <a:p>
            <a:pPr marL="0" indent="0" algn="ctr">
              <a:buNone/>
            </a:pPr>
            <a:r>
              <a:rPr lang="en-US" sz="900" b="1" dirty="0">
                <a:solidFill>
                  <a:srgbClr val="FFFFFF"/>
                </a:solidFill>
              </a:rPr>
              <a:t>25%</a:t>
            </a:r>
            <a:endParaRPr lang="en-US" sz="900" dirty="0"/>
          </a:p>
        </p:txBody>
      </p:sp>
      <p:sp>
        <p:nvSpPr>
          <p:cNvPr id="16" name="Text 14"/>
          <p:cNvSpPr/>
          <p:nvPr/>
        </p:nvSpPr>
        <p:spPr>
          <a:xfrm>
            <a:off x="7589520" y="1581912"/>
            <a:ext cx="1444752" cy="347472"/>
          </a:xfrm>
          <a:prstGeom prst="rect">
            <a:avLst/>
          </a:prstGeom>
          <a:noFill/>
          <a:ln/>
        </p:spPr>
        <p:txBody>
          <a:bodyPr wrap="square" lIns="0" tIns="0" rIns="0" bIns="0" rtlCol="0" anchor="t"/>
          <a:lstStyle/>
          <a:p>
            <a:pPr marL="0" indent="0">
              <a:buNone/>
            </a:pPr>
            <a:r>
              <a:rPr lang="en-US" sz="900" dirty="0">
                <a:solidFill>
                  <a:srgbClr val="374151"/>
                </a:solidFill>
              </a:rPr>
              <a:t>K-Fold K=10 dentro del train. Sin validation set separado.</a:t>
            </a:r>
            <a:endParaRPr lang="en-US" sz="900" dirty="0"/>
          </a:p>
        </p:txBody>
      </p:sp>
      <p:sp>
        <p:nvSpPr>
          <p:cNvPr id="17" name="Text 15"/>
          <p:cNvSpPr/>
          <p:nvPr/>
        </p:nvSpPr>
        <p:spPr>
          <a:xfrm>
            <a:off x="274320" y="2322576"/>
            <a:ext cx="1828800" cy="256032"/>
          </a:xfrm>
          <a:prstGeom prst="rect">
            <a:avLst/>
          </a:prstGeom>
          <a:noFill/>
          <a:ln/>
        </p:spPr>
        <p:txBody>
          <a:bodyPr wrap="square" lIns="0" tIns="0" rIns="0" bIns="0" rtlCol="0" anchor="ctr"/>
          <a:lstStyle/>
          <a:p>
            <a:pPr marL="0" indent="0">
              <a:buNone/>
            </a:pPr>
            <a:r>
              <a:rPr lang="en-US" sz="1050" b="1" dirty="0">
                <a:solidFill>
                  <a:srgbClr val="0D2137"/>
                </a:solidFill>
              </a:rPr>
              <a:t>N 5,000 – 50,000</a:t>
            </a:r>
            <a:endParaRPr lang="en-US" sz="1050" dirty="0"/>
          </a:p>
        </p:txBody>
      </p:sp>
      <p:sp>
        <p:nvSpPr>
          <p:cNvPr id="18" name="Shape 16"/>
          <p:cNvSpPr/>
          <p:nvPr/>
        </p:nvSpPr>
        <p:spPr>
          <a:xfrm>
            <a:off x="2194560" y="2340864"/>
            <a:ext cx="3712464" cy="310896"/>
          </a:xfrm>
          <a:prstGeom prst="rect">
            <a:avLst/>
          </a:prstGeom>
          <a:solidFill>
            <a:srgbClr val="0D7490"/>
          </a:solidFill>
          <a:ln w="12700">
            <a:solidFill>
              <a:srgbClr val="0D7490"/>
            </a:solidFill>
            <a:prstDash val="solid"/>
          </a:ln>
        </p:spPr>
        <p:txBody>
          <a:bodyPr/>
          <a:lstStyle/>
          <a:p>
            <a:endParaRPr lang="es-MX"/>
          </a:p>
        </p:txBody>
      </p:sp>
      <p:sp>
        <p:nvSpPr>
          <p:cNvPr id="19" name="Text 17"/>
          <p:cNvSpPr/>
          <p:nvPr/>
        </p:nvSpPr>
        <p:spPr>
          <a:xfrm>
            <a:off x="2194560" y="2340864"/>
            <a:ext cx="3712464" cy="310896"/>
          </a:xfrm>
          <a:prstGeom prst="rect">
            <a:avLst/>
          </a:prstGeom>
          <a:noFill/>
          <a:ln/>
        </p:spPr>
        <p:txBody>
          <a:bodyPr wrap="square" lIns="0" tIns="0" rIns="0" bIns="0" rtlCol="0" anchor="ctr"/>
          <a:lstStyle/>
          <a:p>
            <a:pPr marL="0" indent="0" algn="ctr">
              <a:buNone/>
            </a:pPr>
            <a:r>
              <a:rPr lang="en-US" sz="900" b="1" dirty="0">
                <a:solidFill>
                  <a:srgbClr val="FFFFFF"/>
                </a:solidFill>
              </a:rPr>
              <a:t>70%</a:t>
            </a:r>
            <a:endParaRPr lang="en-US" sz="900" dirty="0"/>
          </a:p>
        </p:txBody>
      </p:sp>
      <p:sp>
        <p:nvSpPr>
          <p:cNvPr id="20" name="Shape 18"/>
          <p:cNvSpPr/>
          <p:nvPr/>
        </p:nvSpPr>
        <p:spPr>
          <a:xfrm>
            <a:off x="5907024" y="2340864"/>
            <a:ext cx="795528" cy="310896"/>
          </a:xfrm>
          <a:prstGeom prst="rect">
            <a:avLst/>
          </a:prstGeom>
          <a:solidFill>
            <a:srgbClr val="7C3AED"/>
          </a:solidFill>
          <a:ln w="12700">
            <a:solidFill>
              <a:srgbClr val="7C3AED"/>
            </a:solidFill>
            <a:prstDash val="solid"/>
          </a:ln>
        </p:spPr>
        <p:txBody>
          <a:bodyPr/>
          <a:lstStyle/>
          <a:p>
            <a:endParaRPr lang="es-MX"/>
          </a:p>
        </p:txBody>
      </p:sp>
      <p:sp>
        <p:nvSpPr>
          <p:cNvPr id="21" name="Text 19"/>
          <p:cNvSpPr/>
          <p:nvPr/>
        </p:nvSpPr>
        <p:spPr>
          <a:xfrm>
            <a:off x="5907024" y="2340864"/>
            <a:ext cx="795528" cy="310896"/>
          </a:xfrm>
          <a:prstGeom prst="rect">
            <a:avLst/>
          </a:prstGeom>
          <a:noFill/>
          <a:ln/>
        </p:spPr>
        <p:txBody>
          <a:bodyPr wrap="square" lIns="0" tIns="0" rIns="0" bIns="0" rtlCol="0" anchor="ctr"/>
          <a:lstStyle/>
          <a:p>
            <a:pPr marL="0" indent="0" algn="ctr">
              <a:buNone/>
            </a:pPr>
            <a:r>
              <a:rPr lang="en-US" sz="900" b="1" dirty="0">
                <a:solidFill>
                  <a:srgbClr val="FFFFFF"/>
                </a:solidFill>
              </a:rPr>
              <a:t>15%</a:t>
            </a:r>
            <a:endParaRPr lang="en-US" sz="900" dirty="0"/>
          </a:p>
        </p:txBody>
      </p:sp>
      <p:sp>
        <p:nvSpPr>
          <p:cNvPr id="22" name="Shape 20"/>
          <p:cNvSpPr/>
          <p:nvPr/>
        </p:nvSpPr>
        <p:spPr>
          <a:xfrm>
            <a:off x="6702552" y="2340864"/>
            <a:ext cx="795528" cy="310896"/>
          </a:xfrm>
          <a:prstGeom prst="rect">
            <a:avLst/>
          </a:prstGeom>
          <a:solidFill>
            <a:srgbClr val="D97706"/>
          </a:solidFill>
          <a:ln w="12700">
            <a:solidFill>
              <a:srgbClr val="D97706"/>
            </a:solidFill>
            <a:prstDash val="solid"/>
          </a:ln>
        </p:spPr>
        <p:txBody>
          <a:bodyPr/>
          <a:lstStyle/>
          <a:p>
            <a:endParaRPr lang="es-MX"/>
          </a:p>
        </p:txBody>
      </p:sp>
      <p:sp>
        <p:nvSpPr>
          <p:cNvPr id="23" name="Text 21"/>
          <p:cNvSpPr/>
          <p:nvPr/>
        </p:nvSpPr>
        <p:spPr>
          <a:xfrm>
            <a:off x="6702552" y="2340864"/>
            <a:ext cx="795528" cy="310896"/>
          </a:xfrm>
          <a:prstGeom prst="rect">
            <a:avLst/>
          </a:prstGeom>
          <a:noFill/>
          <a:ln/>
        </p:spPr>
        <p:txBody>
          <a:bodyPr wrap="square" lIns="0" tIns="0" rIns="0" bIns="0" rtlCol="0" anchor="ctr"/>
          <a:lstStyle/>
          <a:p>
            <a:pPr marL="0" indent="0" algn="ctr">
              <a:buNone/>
            </a:pPr>
            <a:r>
              <a:rPr lang="en-US" sz="900" b="1" dirty="0">
                <a:solidFill>
                  <a:srgbClr val="FFFFFF"/>
                </a:solidFill>
              </a:rPr>
              <a:t>15%</a:t>
            </a:r>
            <a:endParaRPr lang="en-US" sz="900" dirty="0"/>
          </a:p>
        </p:txBody>
      </p:sp>
      <p:sp>
        <p:nvSpPr>
          <p:cNvPr id="24" name="Text 22"/>
          <p:cNvSpPr/>
          <p:nvPr/>
        </p:nvSpPr>
        <p:spPr>
          <a:xfrm>
            <a:off x="7589520" y="2368296"/>
            <a:ext cx="1444752" cy="347472"/>
          </a:xfrm>
          <a:prstGeom prst="rect">
            <a:avLst/>
          </a:prstGeom>
          <a:noFill/>
          <a:ln/>
        </p:spPr>
        <p:txBody>
          <a:bodyPr wrap="square" lIns="0" tIns="0" rIns="0" bIns="0" rtlCol="0" anchor="t"/>
          <a:lstStyle/>
          <a:p>
            <a:pPr marL="0" indent="0">
              <a:buNone/>
            </a:pPr>
            <a:r>
              <a:rPr lang="en-US" sz="900" dirty="0">
                <a:solidFill>
                  <a:srgbClr val="374151"/>
                </a:solidFill>
              </a:rPr>
              <a:t>Split 70/15/15 clásico o K-Fold K=5 sin validation separado.</a:t>
            </a:r>
            <a:endParaRPr lang="en-US" sz="900" dirty="0"/>
          </a:p>
        </p:txBody>
      </p:sp>
      <p:sp>
        <p:nvSpPr>
          <p:cNvPr id="25" name="Text 23"/>
          <p:cNvSpPr/>
          <p:nvPr/>
        </p:nvSpPr>
        <p:spPr>
          <a:xfrm>
            <a:off x="274320" y="3108960"/>
            <a:ext cx="1828800" cy="256032"/>
          </a:xfrm>
          <a:prstGeom prst="rect">
            <a:avLst/>
          </a:prstGeom>
          <a:noFill/>
          <a:ln/>
        </p:spPr>
        <p:txBody>
          <a:bodyPr wrap="square" lIns="0" tIns="0" rIns="0" bIns="0" rtlCol="0" anchor="ctr"/>
          <a:lstStyle/>
          <a:p>
            <a:pPr marL="0" indent="0">
              <a:buNone/>
            </a:pPr>
            <a:r>
              <a:rPr lang="en-US" sz="1050" b="1" dirty="0">
                <a:solidFill>
                  <a:srgbClr val="0D2137"/>
                </a:solidFill>
              </a:rPr>
              <a:t>N &gt; 50,000</a:t>
            </a:r>
            <a:endParaRPr lang="en-US" sz="1050" dirty="0"/>
          </a:p>
        </p:txBody>
      </p:sp>
      <p:sp>
        <p:nvSpPr>
          <p:cNvPr id="26" name="Shape 24"/>
          <p:cNvSpPr/>
          <p:nvPr/>
        </p:nvSpPr>
        <p:spPr>
          <a:xfrm>
            <a:off x="2194560" y="3127248"/>
            <a:ext cx="3447288" cy="310896"/>
          </a:xfrm>
          <a:prstGeom prst="rect">
            <a:avLst/>
          </a:prstGeom>
          <a:solidFill>
            <a:srgbClr val="0D7490"/>
          </a:solidFill>
          <a:ln w="12700">
            <a:solidFill>
              <a:srgbClr val="0D7490"/>
            </a:solidFill>
            <a:prstDash val="solid"/>
          </a:ln>
        </p:spPr>
        <p:txBody>
          <a:bodyPr/>
          <a:lstStyle/>
          <a:p>
            <a:endParaRPr lang="es-MX"/>
          </a:p>
        </p:txBody>
      </p:sp>
      <p:sp>
        <p:nvSpPr>
          <p:cNvPr id="27" name="Text 25"/>
          <p:cNvSpPr/>
          <p:nvPr/>
        </p:nvSpPr>
        <p:spPr>
          <a:xfrm>
            <a:off x="2194560" y="3127248"/>
            <a:ext cx="3447288" cy="310896"/>
          </a:xfrm>
          <a:prstGeom prst="rect">
            <a:avLst/>
          </a:prstGeom>
          <a:noFill/>
          <a:ln/>
        </p:spPr>
        <p:txBody>
          <a:bodyPr wrap="square" lIns="0" tIns="0" rIns="0" bIns="0" rtlCol="0" anchor="ctr"/>
          <a:lstStyle/>
          <a:p>
            <a:pPr marL="0" indent="0" algn="ctr">
              <a:buNone/>
            </a:pPr>
            <a:r>
              <a:rPr lang="en-US" sz="900" b="1" dirty="0">
                <a:solidFill>
                  <a:srgbClr val="FFFFFF"/>
                </a:solidFill>
              </a:rPr>
              <a:t>65%</a:t>
            </a:r>
            <a:endParaRPr lang="en-US" sz="900" dirty="0"/>
          </a:p>
        </p:txBody>
      </p:sp>
      <p:sp>
        <p:nvSpPr>
          <p:cNvPr id="28" name="Shape 26"/>
          <p:cNvSpPr/>
          <p:nvPr/>
        </p:nvSpPr>
        <p:spPr>
          <a:xfrm>
            <a:off x="5641848" y="3127248"/>
            <a:ext cx="928116" cy="310896"/>
          </a:xfrm>
          <a:prstGeom prst="rect">
            <a:avLst/>
          </a:prstGeom>
          <a:solidFill>
            <a:srgbClr val="7C3AED"/>
          </a:solidFill>
          <a:ln w="12700">
            <a:solidFill>
              <a:srgbClr val="7C3AED"/>
            </a:solidFill>
            <a:prstDash val="solid"/>
          </a:ln>
        </p:spPr>
        <p:txBody>
          <a:bodyPr/>
          <a:lstStyle/>
          <a:p>
            <a:endParaRPr lang="es-MX"/>
          </a:p>
        </p:txBody>
      </p:sp>
      <p:sp>
        <p:nvSpPr>
          <p:cNvPr id="29" name="Text 27"/>
          <p:cNvSpPr/>
          <p:nvPr/>
        </p:nvSpPr>
        <p:spPr>
          <a:xfrm>
            <a:off x="5641848" y="3127248"/>
            <a:ext cx="928116" cy="310896"/>
          </a:xfrm>
          <a:prstGeom prst="rect">
            <a:avLst/>
          </a:prstGeom>
          <a:noFill/>
          <a:ln/>
        </p:spPr>
        <p:txBody>
          <a:bodyPr wrap="square" lIns="0" tIns="0" rIns="0" bIns="0" rtlCol="0" anchor="ctr"/>
          <a:lstStyle/>
          <a:p>
            <a:pPr marL="0" indent="0" algn="ctr">
              <a:buNone/>
            </a:pPr>
            <a:r>
              <a:rPr lang="en-US" sz="900" b="1" dirty="0">
                <a:solidFill>
                  <a:srgbClr val="FFFFFF"/>
                </a:solidFill>
              </a:rPr>
              <a:t>17.5%</a:t>
            </a:r>
            <a:endParaRPr lang="en-US" sz="900" dirty="0"/>
          </a:p>
        </p:txBody>
      </p:sp>
      <p:sp>
        <p:nvSpPr>
          <p:cNvPr id="30" name="Shape 28"/>
          <p:cNvSpPr/>
          <p:nvPr/>
        </p:nvSpPr>
        <p:spPr>
          <a:xfrm>
            <a:off x="6569964" y="3127248"/>
            <a:ext cx="928116" cy="310896"/>
          </a:xfrm>
          <a:prstGeom prst="rect">
            <a:avLst/>
          </a:prstGeom>
          <a:solidFill>
            <a:srgbClr val="D97706"/>
          </a:solidFill>
          <a:ln w="12700">
            <a:solidFill>
              <a:srgbClr val="D97706"/>
            </a:solidFill>
            <a:prstDash val="solid"/>
          </a:ln>
        </p:spPr>
        <p:txBody>
          <a:bodyPr/>
          <a:lstStyle/>
          <a:p>
            <a:endParaRPr lang="es-MX"/>
          </a:p>
        </p:txBody>
      </p:sp>
      <p:sp>
        <p:nvSpPr>
          <p:cNvPr id="31" name="Text 29"/>
          <p:cNvSpPr/>
          <p:nvPr/>
        </p:nvSpPr>
        <p:spPr>
          <a:xfrm>
            <a:off x="6569964" y="3127248"/>
            <a:ext cx="928116" cy="310896"/>
          </a:xfrm>
          <a:prstGeom prst="rect">
            <a:avLst/>
          </a:prstGeom>
          <a:noFill/>
          <a:ln/>
        </p:spPr>
        <p:txBody>
          <a:bodyPr wrap="square" lIns="0" tIns="0" rIns="0" bIns="0" rtlCol="0" anchor="ctr"/>
          <a:lstStyle/>
          <a:p>
            <a:pPr marL="0" indent="0" algn="ctr">
              <a:buNone/>
            </a:pPr>
            <a:r>
              <a:rPr lang="en-US" sz="900" b="1" dirty="0">
                <a:solidFill>
                  <a:srgbClr val="FFFFFF"/>
                </a:solidFill>
              </a:rPr>
              <a:t>17.5%</a:t>
            </a:r>
            <a:endParaRPr lang="en-US" sz="900" dirty="0"/>
          </a:p>
        </p:txBody>
      </p:sp>
      <p:sp>
        <p:nvSpPr>
          <p:cNvPr id="32" name="Text 30"/>
          <p:cNvSpPr/>
          <p:nvPr/>
        </p:nvSpPr>
        <p:spPr>
          <a:xfrm>
            <a:off x="7589520" y="3154680"/>
            <a:ext cx="1444752" cy="347472"/>
          </a:xfrm>
          <a:prstGeom prst="rect">
            <a:avLst/>
          </a:prstGeom>
          <a:noFill/>
          <a:ln/>
        </p:spPr>
        <p:txBody>
          <a:bodyPr wrap="square" lIns="0" tIns="0" rIns="0" bIns="0" rtlCol="0" anchor="t"/>
          <a:lstStyle/>
          <a:p>
            <a:pPr marL="0" indent="0">
              <a:buNone/>
            </a:pPr>
            <a:r>
              <a:rPr lang="en-US" sz="900" dirty="0">
                <a:solidFill>
                  <a:srgbClr val="374151"/>
                </a:solidFill>
              </a:rPr>
              <a:t>Split 60/20/20. Validation separada para comparar modelos.</a:t>
            </a:r>
            <a:endParaRPr lang="en-US" sz="900" dirty="0"/>
          </a:p>
        </p:txBody>
      </p:sp>
      <p:sp>
        <p:nvSpPr>
          <p:cNvPr id="33" name="Text 31"/>
          <p:cNvSpPr/>
          <p:nvPr/>
        </p:nvSpPr>
        <p:spPr>
          <a:xfrm>
            <a:off x="274320" y="3895344"/>
            <a:ext cx="1828800" cy="256032"/>
          </a:xfrm>
          <a:prstGeom prst="rect">
            <a:avLst/>
          </a:prstGeom>
          <a:noFill/>
          <a:ln/>
        </p:spPr>
        <p:txBody>
          <a:bodyPr wrap="square" lIns="0" tIns="0" rIns="0" bIns="0" rtlCol="0" anchor="ctr"/>
          <a:lstStyle/>
          <a:p>
            <a:pPr marL="0" indent="0">
              <a:buNone/>
            </a:pPr>
            <a:r>
              <a:rPr lang="en-US" sz="1050" b="1" dirty="0">
                <a:solidFill>
                  <a:srgbClr val="0D2137"/>
                </a:solidFill>
              </a:rPr>
              <a:t>Datos temporales</a:t>
            </a:r>
            <a:endParaRPr lang="en-US" sz="1050" dirty="0"/>
          </a:p>
        </p:txBody>
      </p:sp>
      <p:sp>
        <p:nvSpPr>
          <p:cNvPr id="34" name="Shape 32"/>
          <p:cNvSpPr/>
          <p:nvPr/>
        </p:nvSpPr>
        <p:spPr>
          <a:xfrm>
            <a:off x="2194560" y="3913632"/>
            <a:ext cx="3977640" cy="310896"/>
          </a:xfrm>
          <a:prstGeom prst="rect">
            <a:avLst/>
          </a:prstGeom>
          <a:solidFill>
            <a:srgbClr val="0D7490"/>
          </a:solidFill>
          <a:ln w="12700">
            <a:solidFill>
              <a:srgbClr val="0D7490"/>
            </a:solidFill>
            <a:prstDash val="solid"/>
          </a:ln>
        </p:spPr>
        <p:txBody>
          <a:bodyPr/>
          <a:lstStyle/>
          <a:p>
            <a:endParaRPr lang="es-MX"/>
          </a:p>
        </p:txBody>
      </p:sp>
      <p:sp>
        <p:nvSpPr>
          <p:cNvPr id="35" name="Text 33"/>
          <p:cNvSpPr/>
          <p:nvPr/>
        </p:nvSpPr>
        <p:spPr>
          <a:xfrm>
            <a:off x="2194560" y="3913632"/>
            <a:ext cx="3977640" cy="310896"/>
          </a:xfrm>
          <a:prstGeom prst="rect">
            <a:avLst/>
          </a:prstGeom>
          <a:noFill/>
          <a:ln/>
        </p:spPr>
        <p:txBody>
          <a:bodyPr wrap="square" lIns="0" tIns="0" rIns="0" bIns="0" rtlCol="0" anchor="ctr"/>
          <a:lstStyle/>
          <a:p>
            <a:pPr marL="0" indent="0" algn="ctr">
              <a:buNone/>
            </a:pPr>
            <a:r>
              <a:rPr lang="en-US" sz="900" b="1" dirty="0">
                <a:solidFill>
                  <a:srgbClr val="FFFFFF"/>
                </a:solidFill>
              </a:rPr>
              <a:t>75%</a:t>
            </a:r>
            <a:endParaRPr lang="en-US" sz="900" dirty="0"/>
          </a:p>
        </p:txBody>
      </p:sp>
      <p:sp>
        <p:nvSpPr>
          <p:cNvPr id="36" name="Shape 34"/>
          <p:cNvSpPr/>
          <p:nvPr/>
        </p:nvSpPr>
        <p:spPr>
          <a:xfrm>
            <a:off x="6172200" y="3913632"/>
            <a:ext cx="1325880" cy="310896"/>
          </a:xfrm>
          <a:prstGeom prst="rect">
            <a:avLst/>
          </a:prstGeom>
          <a:solidFill>
            <a:srgbClr val="D97706"/>
          </a:solidFill>
          <a:ln w="12700">
            <a:solidFill>
              <a:srgbClr val="D97706"/>
            </a:solidFill>
            <a:prstDash val="solid"/>
          </a:ln>
        </p:spPr>
        <p:txBody>
          <a:bodyPr/>
          <a:lstStyle/>
          <a:p>
            <a:endParaRPr lang="es-MX"/>
          </a:p>
        </p:txBody>
      </p:sp>
      <p:sp>
        <p:nvSpPr>
          <p:cNvPr id="37" name="Text 35"/>
          <p:cNvSpPr/>
          <p:nvPr/>
        </p:nvSpPr>
        <p:spPr>
          <a:xfrm>
            <a:off x="6172200" y="3913632"/>
            <a:ext cx="1325880" cy="310896"/>
          </a:xfrm>
          <a:prstGeom prst="rect">
            <a:avLst/>
          </a:prstGeom>
          <a:noFill/>
          <a:ln/>
        </p:spPr>
        <p:txBody>
          <a:bodyPr wrap="square" lIns="0" tIns="0" rIns="0" bIns="0" rtlCol="0" anchor="ctr"/>
          <a:lstStyle/>
          <a:p>
            <a:pPr marL="0" indent="0" algn="ctr">
              <a:buNone/>
            </a:pPr>
            <a:r>
              <a:rPr lang="en-US" sz="900" b="1" dirty="0">
                <a:solidFill>
                  <a:srgbClr val="FFFFFF"/>
                </a:solidFill>
              </a:rPr>
              <a:t>25%</a:t>
            </a:r>
            <a:endParaRPr lang="en-US" sz="900" dirty="0"/>
          </a:p>
        </p:txBody>
      </p:sp>
      <p:sp>
        <p:nvSpPr>
          <p:cNvPr id="38" name="Text 36"/>
          <p:cNvSpPr/>
          <p:nvPr/>
        </p:nvSpPr>
        <p:spPr>
          <a:xfrm>
            <a:off x="7589520" y="3941064"/>
            <a:ext cx="1444752" cy="347472"/>
          </a:xfrm>
          <a:prstGeom prst="rect">
            <a:avLst/>
          </a:prstGeom>
          <a:noFill/>
          <a:ln/>
        </p:spPr>
        <p:txBody>
          <a:bodyPr wrap="square" lIns="0" tIns="0" rIns="0" bIns="0" rtlCol="0" anchor="t"/>
          <a:lstStyle/>
          <a:p>
            <a:pPr marL="0" indent="0">
              <a:buNone/>
            </a:pPr>
            <a:r>
              <a:rPr lang="en-US" sz="900" dirty="0">
                <a:solidFill>
                  <a:srgbClr val="374151"/>
                </a:solidFill>
              </a:rPr>
              <a:t>Train=años pasados, Test=año de producción. Sin mezcla temporal.</a:t>
            </a:r>
            <a:endParaRPr lang="en-US" sz="900" dirty="0"/>
          </a:p>
        </p:txBody>
      </p:sp>
      <p:sp>
        <p:nvSpPr>
          <p:cNvPr id="39" name="Shape 37"/>
          <p:cNvSpPr/>
          <p:nvPr/>
        </p:nvSpPr>
        <p:spPr>
          <a:xfrm>
            <a:off x="2194560" y="4681728"/>
            <a:ext cx="219456" cy="128016"/>
          </a:xfrm>
          <a:prstGeom prst="rect">
            <a:avLst/>
          </a:prstGeom>
          <a:solidFill>
            <a:srgbClr val="0D7490"/>
          </a:solidFill>
          <a:ln w="12700">
            <a:solidFill>
              <a:srgbClr val="0D7490"/>
            </a:solidFill>
            <a:prstDash val="solid"/>
          </a:ln>
        </p:spPr>
        <p:txBody>
          <a:bodyPr/>
          <a:lstStyle/>
          <a:p>
            <a:endParaRPr lang="es-MX"/>
          </a:p>
        </p:txBody>
      </p:sp>
      <p:sp>
        <p:nvSpPr>
          <p:cNvPr id="40" name="Text 38"/>
          <p:cNvSpPr/>
          <p:nvPr/>
        </p:nvSpPr>
        <p:spPr>
          <a:xfrm>
            <a:off x="2468880" y="4663440"/>
            <a:ext cx="1188720" cy="164592"/>
          </a:xfrm>
          <a:prstGeom prst="rect">
            <a:avLst/>
          </a:prstGeom>
          <a:noFill/>
          <a:ln/>
        </p:spPr>
        <p:txBody>
          <a:bodyPr wrap="square" lIns="0" tIns="0" rIns="0" bIns="0" rtlCol="0" anchor="t"/>
          <a:lstStyle/>
          <a:p>
            <a:pPr marL="0" indent="0">
              <a:buNone/>
            </a:pPr>
            <a:r>
              <a:rPr lang="en-US" sz="900" dirty="0">
                <a:solidFill>
                  <a:srgbClr val="374151"/>
                </a:solidFill>
              </a:rPr>
              <a:t>TRAIN</a:t>
            </a:r>
            <a:endParaRPr lang="en-US" sz="900" dirty="0"/>
          </a:p>
        </p:txBody>
      </p:sp>
      <p:sp>
        <p:nvSpPr>
          <p:cNvPr id="41" name="Shape 39"/>
          <p:cNvSpPr/>
          <p:nvPr/>
        </p:nvSpPr>
        <p:spPr>
          <a:xfrm>
            <a:off x="3657600" y="4681728"/>
            <a:ext cx="219456" cy="128016"/>
          </a:xfrm>
          <a:prstGeom prst="rect">
            <a:avLst/>
          </a:prstGeom>
          <a:solidFill>
            <a:srgbClr val="7C3AED"/>
          </a:solidFill>
          <a:ln w="12700">
            <a:solidFill>
              <a:srgbClr val="7C3AED"/>
            </a:solidFill>
            <a:prstDash val="solid"/>
          </a:ln>
        </p:spPr>
        <p:txBody>
          <a:bodyPr/>
          <a:lstStyle/>
          <a:p>
            <a:endParaRPr lang="es-MX"/>
          </a:p>
        </p:txBody>
      </p:sp>
      <p:sp>
        <p:nvSpPr>
          <p:cNvPr id="42" name="Text 40"/>
          <p:cNvSpPr/>
          <p:nvPr/>
        </p:nvSpPr>
        <p:spPr>
          <a:xfrm>
            <a:off x="3931920" y="4663440"/>
            <a:ext cx="1188720" cy="164592"/>
          </a:xfrm>
          <a:prstGeom prst="rect">
            <a:avLst/>
          </a:prstGeom>
          <a:noFill/>
          <a:ln/>
        </p:spPr>
        <p:txBody>
          <a:bodyPr wrap="square" lIns="0" tIns="0" rIns="0" bIns="0" rtlCol="0" anchor="t"/>
          <a:lstStyle/>
          <a:p>
            <a:pPr marL="0" indent="0">
              <a:buNone/>
            </a:pPr>
            <a:r>
              <a:rPr lang="en-US" sz="900" dirty="0">
                <a:solidFill>
                  <a:srgbClr val="374151"/>
                </a:solidFill>
              </a:rPr>
              <a:t>VALIDACIÓN</a:t>
            </a:r>
            <a:endParaRPr lang="en-US" sz="900" dirty="0"/>
          </a:p>
        </p:txBody>
      </p:sp>
      <p:sp>
        <p:nvSpPr>
          <p:cNvPr id="43" name="Shape 41"/>
          <p:cNvSpPr/>
          <p:nvPr/>
        </p:nvSpPr>
        <p:spPr>
          <a:xfrm>
            <a:off x="5120640" y="4681728"/>
            <a:ext cx="219456" cy="128016"/>
          </a:xfrm>
          <a:prstGeom prst="rect">
            <a:avLst/>
          </a:prstGeom>
          <a:solidFill>
            <a:srgbClr val="D97706"/>
          </a:solidFill>
          <a:ln w="12700">
            <a:solidFill>
              <a:srgbClr val="D97706"/>
            </a:solidFill>
            <a:prstDash val="solid"/>
          </a:ln>
        </p:spPr>
        <p:txBody>
          <a:bodyPr/>
          <a:lstStyle/>
          <a:p>
            <a:endParaRPr lang="es-MX"/>
          </a:p>
        </p:txBody>
      </p:sp>
      <p:sp>
        <p:nvSpPr>
          <p:cNvPr id="44" name="Text 42"/>
          <p:cNvSpPr/>
          <p:nvPr/>
        </p:nvSpPr>
        <p:spPr>
          <a:xfrm>
            <a:off x="5394960" y="4663440"/>
            <a:ext cx="1188720" cy="164592"/>
          </a:xfrm>
          <a:prstGeom prst="rect">
            <a:avLst/>
          </a:prstGeom>
          <a:noFill/>
          <a:ln/>
        </p:spPr>
        <p:txBody>
          <a:bodyPr wrap="square" lIns="0" tIns="0" rIns="0" bIns="0" rtlCol="0" anchor="t"/>
          <a:lstStyle/>
          <a:p>
            <a:pPr marL="0" indent="0">
              <a:buNone/>
            </a:pPr>
            <a:r>
              <a:rPr lang="en-US" sz="900" dirty="0">
                <a:solidFill>
                  <a:srgbClr val="374151"/>
                </a:solidFill>
              </a:rPr>
              <a:t>TEST</a:t>
            </a:r>
            <a:endParaRPr lang="en-US" sz="900" dirty="0"/>
          </a:p>
        </p:txBody>
      </p:sp>
      <p:sp>
        <p:nvSpPr>
          <p:cNvPr id="45" name="Shape 43"/>
          <p:cNvSpPr/>
          <p:nvPr/>
        </p:nvSpPr>
        <p:spPr>
          <a:xfrm>
            <a:off x="274320" y="4572000"/>
            <a:ext cx="8595360" cy="256032"/>
          </a:xfrm>
          <a:prstGeom prst="rect">
            <a:avLst/>
          </a:prstGeom>
          <a:solidFill>
            <a:srgbClr val="EDE9FE"/>
          </a:solidFill>
          <a:ln w="12700">
            <a:solidFill>
              <a:srgbClr val="7C3AED"/>
            </a:solidFill>
            <a:prstDash val="solid"/>
          </a:ln>
        </p:spPr>
        <p:txBody>
          <a:bodyPr/>
          <a:lstStyle/>
          <a:p>
            <a:endParaRPr lang="es-MX"/>
          </a:p>
        </p:txBody>
      </p:sp>
      <p:sp>
        <p:nvSpPr>
          <p:cNvPr id="46" name="Text 44"/>
          <p:cNvSpPr/>
          <p:nvPr/>
        </p:nvSpPr>
        <p:spPr>
          <a:xfrm>
            <a:off x="402336" y="4608576"/>
            <a:ext cx="8339328" cy="182880"/>
          </a:xfrm>
          <a:prstGeom prst="rect">
            <a:avLst/>
          </a:prstGeom>
          <a:noFill/>
          <a:ln/>
        </p:spPr>
        <p:txBody>
          <a:bodyPr wrap="square" lIns="0" tIns="0" rIns="0" bIns="0" rtlCol="0" anchor="ctr"/>
          <a:lstStyle/>
          <a:p>
            <a:pPr marL="0" indent="0">
              <a:buNone/>
            </a:pPr>
            <a:r>
              <a:rPr lang="en-US" sz="1000" dirty="0">
                <a:solidFill>
                  <a:srgbClr val="5B21B6"/>
                </a:solidFill>
              </a:rPr>
              <a:t>📌  Para seguros de auto con datos anuales: la partición temporal (train=2019-2022, test=2023) es más válida que una separación aleatoria porque replica las condiciones reales de producción.</a:t>
            </a:r>
            <a:endParaRPr lang="en-US" sz="1000" dirty="0"/>
          </a:p>
        </p:txBody>
      </p:sp>
      <p:sp>
        <p:nvSpPr>
          <p:cNvPr id="47" name="Shape 45"/>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48" name="Text 46"/>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49" name="Shape 47"/>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50" name="Text 48"/>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7 / 12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Procedimiento Correcto — Los 5 Pasos que Siempre se Deben Seguir</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Pipeline Pipeline Pipeline — la herramienta que previene la mayoría de los errores de leakage</a:t>
            </a:r>
            <a:endParaRPr lang="en-US" sz="900" dirty="0"/>
          </a:p>
        </p:txBody>
      </p:sp>
      <p:sp>
        <p:nvSpPr>
          <p:cNvPr id="5" name="Shape 3"/>
          <p:cNvSpPr/>
          <p:nvPr/>
        </p:nvSpPr>
        <p:spPr>
          <a:xfrm>
            <a:off x="274320" y="713232"/>
            <a:ext cx="8595360" cy="694944"/>
          </a:xfrm>
          <a:prstGeom prst="rect">
            <a:avLst/>
          </a:prstGeom>
          <a:solidFill>
            <a:srgbClr val="FFFFFF"/>
          </a:solidFill>
          <a:ln w="12700">
            <a:solidFill>
              <a:srgbClr val="CBD5E1"/>
            </a:solidFill>
            <a:prstDash val="solid"/>
          </a:ln>
        </p:spPr>
        <p:txBody>
          <a:bodyPr/>
          <a:lstStyle/>
          <a:p>
            <a:endParaRPr lang="es-MX"/>
          </a:p>
        </p:txBody>
      </p:sp>
      <p:sp>
        <p:nvSpPr>
          <p:cNvPr id="6" name="Shape 4"/>
          <p:cNvSpPr/>
          <p:nvPr/>
        </p:nvSpPr>
        <p:spPr>
          <a:xfrm>
            <a:off x="274320" y="713232"/>
            <a:ext cx="475488" cy="694944"/>
          </a:xfrm>
          <a:prstGeom prst="rect">
            <a:avLst/>
          </a:prstGeom>
          <a:solidFill>
            <a:srgbClr val="0D7490"/>
          </a:solidFill>
          <a:ln w="12700">
            <a:solidFill>
              <a:srgbClr val="0D7490"/>
            </a:solidFill>
            <a:prstDash val="solid"/>
          </a:ln>
        </p:spPr>
        <p:txBody>
          <a:bodyPr/>
          <a:lstStyle/>
          <a:p>
            <a:endParaRPr lang="es-MX"/>
          </a:p>
        </p:txBody>
      </p:sp>
      <p:sp>
        <p:nvSpPr>
          <p:cNvPr id="7" name="Text 5"/>
          <p:cNvSpPr/>
          <p:nvPr/>
        </p:nvSpPr>
        <p:spPr>
          <a:xfrm>
            <a:off x="274320" y="713232"/>
            <a:ext cx="475488" cy="694944"/>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8" name="Text 6"/>
          <p:cNvSpPr/>
          <p:nvPr/>
        </p:nvSpPr>
        <p:spPr>
          <a:xfrm>
            <a:off x="822960" y="768096"/>
            <a:ext cx="7955280" cy="256032"/>
          </a:xfrm>
          <a:prstGeom prst="rect">
            <a:avLst/>
          </a:prstGeom>
          <a:noFill/>
          <a:ln/>
        </p:spPr>
        <p:txBody>
          <a:bodyPr wrap="square" lIns="0" tIns="0" rIns="0" bIns="0" rtlCol="0" anchor="ctr"/>
          <a:lstStyle/>
          <a:p>
            <a:pPr marL="0" indent="0">
              <a:buNone/>
            </a:pPr>
            <a:r>
              <a:rPr lang="en-US" sz="1150" b="1" dirty="0">
                <a:solidFill>
                  <a:srgbClr val="0D7490"/>
                </a:solidFill>
              </a:rPr>
              <a:t>Separar train/test PRIMERO</a:t>
            </a:r>
            <a:endParaRPr lang="en-US" sz="1150" dirty="0"/>
          </a:p>
        </p:txBody>
      </p:sp>
      <p:sp>
        <p:nvSpPr>
          <p:cNvPr id="9" name="Text 7"/>
          <p:cNvSpPr/>
          <p:nvPr/>
        </p:nvSpPr>
        <p:spPr>
          <a:xfrm>
            <a:off x="822960" y="1060704"/>
            <a:ext cx="7955280" cy="292608"/>
          </a:xfrm>
          <a:prstGeom prst="rect">
            <a:avLst/>
          </a:prstGeom>
          <a:noFill/>
          <a:ln/>
        </p:spPr>
        <p:txBody>
          <a:bodyPr wrap="square" lIns="0" tIns="0" rIns="0" bIns="0" rtlCol="0" anchor="ctr"/>
          <a:lstStyle/>
          <a:p>
            <a:pPr marL="0" indent="0">
              <a:buNone/>
            </a:pPr>
            <a:r>
              <a:rPr lang="en-US" sz="1000" dirty="0">
                <a:solidFill>
                  <a:srgbClr val="374151"/>
                </a:solidFill>
                <a:latin typeface="Courier New" pitchFamily="34" charset="0"/>
                <a:ea typeface="Courier New" pitchFamily="34" charset="-122"/>
                <a:cs typeface="Courier New" pitchFamily="34" charset="-120"/>
              </a:rPr>
              <a:t>train_test_split(X, y, test_size=0.20, random_state=42, stratify=y_clases)</a:t>
            </a:r>
            <a:endParaRPr lang="en-US" sz="1000" dirty="0"/>
          </a:p>
        </p:txBody>
      </p:sp>
      <p:sp>
        <p:nvSpPr>
          <p:cNvPr id="10" name="Shape 8"/>
          <p:cNvSpPr/>
          <p:nvPr/>
        </p:nvSpPr>
        <p:spPr>
          <a:xfrm>
            <a:off x="274320" y="1499616"/>
            <a:ext cx="8595360" cy="694944"/>
          </a:xfrm>
          <a:prstGeom prst="rect">
            <a:avLst/>
          </a:prstGeom>
          <a:solidFill>
            <a:srgbClr val="F1F5F9"/>
          </a:solidFill>
          <a:ln w="12700">
            <a:solidFill>
              <a:srgbClr val="CBD5E1"/>
            </a:solidFill>
            <a:prstDash val="solid"/>
          </a:ln>
        </p:spPr>
        <p:txBody>
          <a:bodyPr/>
          <a:lstStyle/>
          <a:p>
            <a:endParaRPr lang="es-MX"/>
          </a:p>
        </p:txBody>
      </p:sp>
      <p:sp>
        <p:nvSpPr>
          <p:cNvPr id="11" name="Shape 9"/>
          <p:cNvSpPr/>
          <p:nvPr/>
        </p:nvSpPr>
        <p:spPr>
          <a:xfrm>
            <a:off x="274320" y="1499616"/>
            <a:ext cx="475488" cy="694944"/>
          </a:xfrm>
          <a:prstGeom prst="rect">
            <a:avLst/>
          </a:prstGeom>
          <a:solidFill>
            <a:srgbClr val="7C3AED"/>
          </a:solidFill>
          <a:ln w="12700">
            <a:solidFill>
              <a:srgbClr val="7C3AED"/>
            </a:solidFill>
            <a:prstDash val="solid"/>
          </a:ln>
        </p:spPr>
        <p:txBody>
          <a:bodyPr/>
          <a:lstStyle/>
          <a:p>
            <a:endParaRPr lang="es-MX"/>
          </a:p>
        </p:txBody>
      </p:sp>
      <p:sp>
        <p:nvSpPr>
          <p:cNvPr id="12" name="Text 10"/>
          <p:cNvSpPr/>
          <p:nvPr/>
        </p:nvSpPr>
        <p:spPr>
          <a:xfrm>
            <a:off x="274320" y="1499616"/>
            <a:ext cx="475488" cy="694944"/>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3" name="Text 11"/>
          <p:cNvSpPr/>
          <p:nvPr/>
        </p:nvSpPr>
        <p:spPr>
          <a:xfrm>
            <a:off x="822960" y="1554480"/>
            <a:ext cx="7955280" cy="256032"/>
          </a:xfrm>
          <a:prstGeom prst="rect">
            <a:avLst/>
          </a:prstGeom>
          <a:noFill/>
          <a:ln/>
        </p:spPr>
        <p:txBody>
          <a:bodyPr wrap="square" lIns="0" tIns="0" rIns="0" bIns="0" rtlCol="0" anchor="ctr"/>
          <a:lstStyle/>
          <a:p>
            <a:pPr marL="0" indent="0">
              <a:buNone/>
            </a:pPr>
            <a:r>
              <a:rPr lang="en-US" sz="1150" b="1" dirty="0">
                <a:solidFill>
                  <a:srgbClr val="7C3AED"/>
                </a:solidFill>
              </a:rPr>
              <a:t>Explorar y analizar SOLO sobre train</a:t>
            </a:r>
            <a:endParaRPr lang="en-US" sz="1150" dirty="0"/>
          </a:p>
        </p:txBody>
      </p:sp>
      <p:sp>
        <p:nvSpPr>
          <p:cNvPr id="14" name="Text 12"/>
          <p:cNvSpPr/>
          <p:nvPr/>
        </p:nvSpPr>
        <p:spPr>
          <a:xfrm>
            <a:off x="822960" y="1847088"/>
            <a:ext cx="7955280" cy="292608"/>
          </a:xfrm>
          <a:prstGeom prst="rect">
            <a:avLst/>
          </a:prstGeom>
          <a:noFill/>
          <a:ln/>
        </p:spPr>
        <p:txBody>
          <a:bodyPr wrap="square" lIns="0" tIns="0" rIns="0" bIns="0" rtlCol="0" anchor="ctr"/>
          <a:lstStyle/>
          <a:p>
            <a:pPr marL="0" indent="0">
              <a:buNone/>
            </a:pPr>
            <a:r>
              <a:rPr lang="en-US" sz="1000" dirty="0">
                <a:solidFill>
                  <a:srgbClr val="374151"/>
                </a:solidFill>
                <a:latin typeface="Courier New" pitchFamily="34" charset="0"/>
                <a:ea typeface="Courier New" pitchFamily="34" charset="-122"/>
                <a:cs typeface="Courier New" pitchFamily="34" charset="-120"/>
              </a:rPr>
              <a:t>df_train.describe()  ·  df_train.corr()  ·  df_train['prima'].hist()</a:t>
            </a:r>
            <a:endParaRPr lang="en-US" sz="1000" dirty="0"/>
          </a:p>
        </p:txBody>
      </p:sp>
      <p:sp>
        <p:nvSpPr>
          <p:cNvPr id="15" name="Shape 13"/>
          <p:cNvSpPr/>
          <p:nvPr/>
        </p:nvSpPr>
        <p:spPr>
          <a:xfrm>
            <a:off x="274320" y="2286000"/>
            <a:ext cx="8595360" cy="694944"/>
          </a:xfrm>
          <a:prstGeom prst="rect">
            <a:avLst/>
          </a:prstGeom>
          <a:solidFill>
            <a:srgbClr val="FFFFFF"/>
          </a:solidFill>
          <a:ln w="12700">
            <a:solidFill>
              <a:srgbClr val="CBD5E1"/>
            </a:solidFill>
            <a:prstDash val="solid"/>
          </a:ln>
        </p:spPr>
        <p:txBody>
          <a:bodyPr/>
          <a:lstStyle/>
          <a:p>
            <a:endParaRPr lang="es-MX"/>
          </a:p>
        </p:txBody>
      </p:sp>
      <p:sp>
        <p:nvSpPr>
          <p:cNvPr id="16" name="Shape 14"/>
          <p:cNvSpPr/>
          <p:nvPr/>
        </p:nvSpPr>
        <p:spPr>
          <a:xfrm>
            <a:off x="274320" y="2286000"/>
            <a:ext cx="475488" cy="694944"/>
          </a:xfrm>
          <a:prstGeom prst="rect">
            <a:avLst/>
          </a:prstGeom>
          <a:solidFill>
            <a:srgbClr val="5B21B6"/>
          </a:solidFill>
          <a:ln w="12700">
            <a:solidFill>
              <a:srgbClr val="5B21B6"/>
            </a:solidFill>
            <a:prstDash val="solid"/>
          </a:ln>
        </p:spPr>
        <p:txBody>
          <a:bodyPr/>
          <a:lstStyle/>
          <a:p>
            <a:endParaRPr lang="es-MX"/>
          </a:p>
        </p:txBody>
      </p:sp>
      <p:sp>
        <p:nvSpPr>
          <p:cNvPr id="17" name="Text 15"/>
          <p:cNvSpPr/>
          <p:nvPr/>
        </p:nvSpPr>
        <p:spPr>
          <a:xfrm>
            <a:off x="274320" y="2286000"/>
            <a:ext cx="475488" cy="694944"/>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8" name="Text 16"/>
          <p:cNvSpPr/>
          <p:nvPr/>
        </p:nvSpPr>
        <p:spPr>
          <a:xfrm>
            <a:off x="822960" y="2340864"/>
            <a:ext cx="7955280" cy="256032"/>
          </a:xfrm>
          <a:prstGeom prst="rect">
            <a:avLst/>
          </a:prstGeom>
          <a:noFill/>
          <a:ln/>
        </p:spPr>
        <p:txBody>
          <a:bodyPr wrap="square" lIns="0" tIns="0" rIns="0" bIns="0" rtlCol="0" anchor="ctr"/>
          <a:lstStyle/>
          <a:p>
            <a:pPr marL="0" indent="0">
              <a:buNone/>
            </a:pPr>
            <a:r>
              <a:rPr lang="en-US" sz="1150" b="1" dirty="0">
                <a:solidFill>
                  <a:srgbClr val="5B21B6"/>
                </a:solidFill>
              </a:rPr>
              <a:t>Ajustar transformaciones SOLO sobre train, aplicar a ambos</a:t>
            </a:r>
            <a:endParaRPr lang="en-US" sz="1150" dirty="0"/>
          </a:p>
        </p:txBody>
      </p:sp>
      <p:sp>
        <p:nvSpPr>
          <p:cNvPr id="19" name="Text 17"/>
          <p:cNvSpPr/>
          <p:nvPr/>
        </p:nvSpPr>
        <p:spPr>
          <a:xfrm>
            <a:off x="822960" y="2633472"/>
            <a:ext cx="7955280" cy="292608"/>
          </a:xfrm>
          <a:prstGeom prst="rect">
            <a:avLst/>
          </a:prstGeom>
          <a:noFill/>
          <a:ln/>
        </p:spPr>
        <p:txBody>
          <a:bodyPr wrap="square" lIns="0" tIns="0" rIns="0" bIns="0" rtlCol="0" anchor="ctr"/>
          <a:lstStyle/>
          <a:p>
            <a:pPr marL="0" indent="0">
              <a:buNone/>
            </a:pPr>
            <a:r>
              <a:rPr lang="en-US" sz="1000" dirty="0">
                <a:solidFill>
                  <a:srgbClr val="374151"/>
                </a:solidFill>
                <a:latin typeface="Courier New" pitchFamily="34" charset="0"/>
                <a:ea typeface="Courier New" pitchFamily="34" charset="-122"/>
                <a:cs typeface="Courier New" pitchFamily="34" charset="-120"/>
              </a:rPr>
              <a:t>scaler.fit(X_train)  →  scaler.transform(X_train)  y  scaler.transform(X_test)</a:t>
            </a:r>
            <a:endParaRPr lang="en-US" sz="1000" dirty="0"/>
          </a:p>
        </p:txBody>
      </p:sp>
      <p:sp>
        <p:nvSpPr>
          <p:cNvPr id="20" name="Shape 18"/>
          <p:cNvSpPr/>
          <p:nvPr/>
        </p:nvSpPr>
        <p:spPr>
          <a:xfrm>
            <a:off x="274320" y="3072384"/>
            <a:ext cx="8595360" cy="694944"/>
          </a:xfrm>
          <a:prstGeom prst="rect">
            <a:avLst/>
          </a:prstGeom>
          <a:solidFill>
            <a:srgbClr val="F1F5F9"/>
          </a:solidFill>
          <a:ln w="12700">
            <a:solidFill>
              <a:srgbClr val="CBD5E1"/>
            </a:solidFill>
            <a:prstDash val="solid"/>
          </a:ln>
        </p:spPr>
        <p:txBody>
          <a:bodyPr/>
          <a:lstStyle/>
          <a:p>
            <a:endParaRPr lang="es-MX"/>
          </a:p>
        </p:txBody>
      </p:sp>
      <p:sp>
        <p:nvSpPr>
          <p:cNvPr id="21" name="Shape 19"/>
          <p:cNvSpPr/>
          <p:nvPr/>
        </p:nvSpPr>
        <p:spPr>
          <a:xfrm>
            <a:off x="274320" y="3072384"/>
            <a:ext cx="475488" cy="694944"/>
          </a:xfrm>
          <a:prstGeom prst="rect">
            <a:avLst/>
          </a:prstGeom>
          <a:solidFill>
            <a:srgbClr val="312E81"/>
          </a:solidFill>
          <a:ln w="12700">
            <a:solidFill>
              <a:srgbClr val="312E81"/>
            </a:solidFill>
            <a:prstDash val="solid"/>
          </a:ln>
        </p:spPr>
        <p:txBody>
          <a:bodyPr/>
          <a:lstStyle/>
          <a:p>
            <a:endParaRPr lang="es-MX"/>
          </a:p>
        </p:txBody>
      </p:sp>
      <p:sp>
        <p:nvSpPr>
          <p:cNvPr id="22" name="Text 20"/>
          <p:cNvSpPr/>
          <p:nvPr/>
        </p:nvSpPr>
        <p:spPr>
          <a:xfrm>
            <a:off x="274320" y="3072384"/>
            <a:ext cx="475488" cy="694944"/>
          </a:xfrm>
          <a:prstGeom prst="rect">
            <a:avLst/>
          </a:prstGeom>
          <a:noFill/>
          <a:ln/>
        </p:spPr>
        <p:txBody>
          <a:bodyPr wrap="square" lIns="0" tIns="0" rIns="0" bIns="0" rtlCol="0" anchor="ctr"/>
          <a:lstStyle/>
          <a:p>
            <a:pPr marL="0" indent="0" algn="ctr">
              <a:buNone/>
            </a:pPr>
            <a:r>
              <a:rPr lang="en-US" sz="2000" b="1" dirty="0">
                <a:solidFill>
                  <a:srgbClr val="FFFFFF"/>
                </a:solidFill>
              </a:rPr>
              <a:t>4</a:t>
            </a:r>
            <a:endParaRPr lang="en-US" sz="2000" dirty="0"/>
          </a:p>
        </p:txBody>
      </p:sp>
      <p:sp>
        <p:nvSpPr>
          <p:cNvPr id="23" name="Text 21"/>
          <p:cNvSpPr/>
          <p:nvPr/>
        </p:nvSpPr>
        <p:spPr>
          <a:xfrm>
            <a:off x="822960" y="3127248"/>
            <a:ext cx="7955280" cy="256032"/>
          </a:xfrm>
          <a:prstGeom prst="rect">
            <a:avLst/>
          </a:prstGeom>
          <a:noFill/>
          <a:ln/>
        </p:spPr>
        <p:txBody>
          <a:bodyPr wrap="square" lIns="0" tIns="0" rIns="0" bIns="0" rtlCol="0" anchor="ctr"/>
          <a:lstStyle/>
          <a:p>
            <a:pPr marL="0" indent="0">
              <a:buNone/>
            </a:pPr>
            <a:r>
              <a:rPr lang="en-US" sz="1150" b="1" dirty="0">
                <a:solidFill>
                  <a:srgbClr val="312E81"/>
                </a:solidFill>
              </a:rPr>
              <a:t>Ajustar hiperparámetros con K-Fold dentro de train</a:t>
            </a:r>
            <a:endParaRPr lang="en-US" sz="1150" dirty="0"/>
          </a:p>
        </p:txBody>
      </p:sp>
      <p:sp>
        <p:nvSpPr>
          <p:cNvPr id="24" name="Text 22"/>
          <p:cNvSpPr/>
          <p:nvPr/>
        </p:nvSpPr>
        <p:spPr>
          <a:xfrm>
            <a:off x="822960" y="3419856"/>
            <a:ext cx="7955280" cy="292608"/>
          </a:xfrm>
          <a:prstGeom prst="rect">
            <a:avLst/>
          </a:prstGeom>
          <a:noFill/>
          <a:ln/>
        </p:spPr>
        <p:txBody>
          <a:bodyPr wrap="square" lIns="0" tIns="0" rIns="0" bIns="0" rtlCol="0" anchor="ctr"/>
          <a:lstStyle/>
          <a:p>
            <a:pPr marL="0" indent="0">
              <a:buNone/>
            </a:pPr>
            <a:r>
              <a:rPr lang="en-US" sz="1000" dirty="0">
                <a:solidFill>
                  <a:srgbClr val="374151"/>
                </a:solidFill>
                <a:latin typeface="Courier New" pitchFamily="34" charset="0"/>
                <a:ea typeface="Courier New" pitchFamily="34" charset="-122"/>
                <a:cs typeface="Courier New" pitchFamily="34" charset="-120"/>
              </a:rPr>
              <a:t>cross_val_score(pipeline, X_train, y_train, cv=KFold(5), scoring='neg_mean_absolute_error')</a:t>
            </a:r>
            <a:endParaRPr lang="en-US" sz="1000" dirty="0"/>
          </a:p>
        </p:txBody>
      </p:sp>
      <p:sp>
        <p:nvSpPr>
          <p:cNvPr id="25" name="Shape 23"/>
          <p:cNvSpPr/>
          <p:nvPr/>
        </p:nvSpPr>
        <p:spPr>
          <a:xfrm>
            <a:off x="274320" y="3858768"/>
            <a:ext cx="8595360" cy="694944"/>
          </a:xfrm>
          <a:prstGeom prst="rect">
            <a:avLst/>
          </a:prstGeom>
          <a:solidFill>
            <a:srgbClr val="FFFFFF"/>
          </a:solidFill>
          <a:ln w="12700">
            <a:solidFill>
              <a:srgbClr val="CBD5E1"/>
            </a:solidFill>
            <a:prstDash val="solid"/>
          </a:ln>
        </p:spPr>
        <p:txBody>
          <a:bodyPr/>
          <a:lstStyle/>
          <a:p>
            <a:endParaRPr lang="es-MX"/>
          </a:p>
        </p:txBody>
      </p:sp>
      <p:sp>
        <p:nvSpPr>
          <p:cNvPr id="26" name="Shape 24"/>
          <p:cNvSpPr/>
          <p:nvPr/>
        </p:nvSpPr>
        <p:spPr>
          <a:xfrm>
            <a:off x="274320" y="3858768"/>
            <a:ext cx="475488" cy="694944"/>
          </a:xfrm>
          <a:prstGeom prst="rect">
            <a:avLst/>
          </a:prstGeom>
          <a:solidFill>
            <a:srgbClr val="D97706"/>
          </a:solidFill>
          <a:ln w="12700">
            <a:solidFill>
              <a:srgbClr val="D97706"/>
            </a:solidFill>
            <a:prstDash val="solid"/>
          </a:ln>
        </p:spPr>
        <p:txBody>
          <a:bodyPr/>
          <a:lstStyle/>
          <a:p>
            <a:endParaRPr lang="es-MX"/>
          </a:p>
        </p:txBody>
      </p:sp>
      <p:sp>
        <p:nvSpPr>
          <p:cNvPr id="27" name="Text 25"/>
          <p:cNvSpPr/>
          <p:nvPr/>
        </p:nvSpPr>
        <p:spPr>
          <a:xfrm>
            <a:off x="274320" y="3858768"/>
            <a:ext cx="475488" cy="694944"/>
          </a:xfrm>
          <a:prstGeom prst="rect">
            <a:avLst/>
          </a:prstGeom>
          <a:noFill/>
          <a:ln/>
        </p:spPr>
        <p:txBody>
          <a:bodyPr wrap="square" lIns="0" tIns="0" rIns="0" bIns="0" rtlCol="0" anchor="ctr"/>
          <a:lstStyle/>
          <a:p>
            <a:pPr marL="0" indent="0" algn="ctr">
              <a:buNone/>
            </a:pPr>
            <a:r>
              <a:rPr lang="en-US" sz="2000" b="1" dirty="0">
                <a:solidFill>
                  <a:srgbClr val="FFFFFF"/>
                </a:solidFill>
              </a:rPr>
              <a:t>5</a:t>
            </a:r>
            <a:endParaRPr lang="en-US" sz="2000" dirty="0"/>
          </a:p>
        </p:txBody>
      </p:sp>
      <p:sp>
        <p:nvSpPr>
          <p:cNvPr id="28" name="Text 26"/>
          <p:cNvSpPr/>
          <p:nvPr/>
        </p:nvSpPr>
        <p:spPr>
          <a:xfrm>
            <a:off x="822960" y="3913632"/>
            <a:ext cx="7955280" cy="256032"/>
          </a:xfrm>
          <a:prstGeom prst="rect">
            <a:avLst/>
          </a:prstGeom>
          <a:noFill/>
          <a:ln/>
        </p:spPr>
        <p:txBody>
          <a:bodyPr wrap="square" lIns="0" tIns="0" rIns="0" bIns="0" rtlCol="0" anchor="ctr"/>
          <a:lstStyle/>
          <a:p>
            <a:pPr marL="0" indent="0">
              <a:buNone/>
            </a:pPr>
            <a:r>
              <a:rPr lang="en-US" sz="1150" b="1" dirty="0">
                <a:solidFill>
                  <a:srgbClr val="D97706"/>
                </a:solidFill>
              </a:rPr>
              <a:t>Evaluar en test UNA SOLA VEZ al final</a:t>
            </a:r>
            <a:endParaRPr lang="en-US" sz="1150" dirty="0"/>
          </a:p>
        </p:txBody>
      </p:sp>
      <p:sp>
        <p:nvSpPr>
          <p:cNvPr id="29" name="Text 27"/>
          <p:cNvSpPr/>
          <p:nvPr/>
        </p:nvSpPr>
        <p:spPr>
          <a:xfrm>
            <a:off x="822960" y="4206240"/>
            <a:ext cx="7955280" cy="292608"/>
          </a:xfrm>
          <a:prstGeom prst="rect">
            <a:avLst/>
          </a:prstGeom>
          <a:noFill/>
          <a:ln/>
        </p:spPr>
        <p:txBody>
          <a:bodyPr wrap="square" lIns="0" tIns="0" rIns="0" bIns="0" rtlCol="0" anchor="ctr"/>
          <a:lstStyle/>
          <a:p>
            <a:pPr marL="0" indent="0">
              <a:buNone/>
            </a:pPr>
            <a:r>
              <a:rPr lang="en-US" sz="1000" dirty="0">
                <a:solidFill>
                  <a:srgbClr val="374151"/>
                </a:solidFill>
                <a:latin typeface="Courier New" pitchFamily="34" charset="0"/>
                <a:ea typeface="Courier New" pitchFamily="34" charset="-122"/>
                <a:cs typeface="Courier New" pitchFamily="34" charset="-120"/>
              </a:rPr>
              <a:t>mae = mean_absolute_error(y_test, pipeline.predict(X_test))  ←  no tocar más después de esto</a:t>
            </a:r>
            <a:endParaRPr lang="en-US" sz="1000" dirty="0"/>
          </a:p>
        </p:txBody>
      </p:sp>
      <p:sp>
        <p:nvSpPr>
          <p:cNvPr id="30" name="Shape 28"/>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31" name="Text 29"/>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32" name="Shape 30"/>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33" name="Text 31"/>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8 / 12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Pipeline — La Herramienta que Elimina el Leakage Automáticamente</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Encadena preprocesamiento + modelo en un solo objeto que aplica fit() de forma correcta</a:t>
            </a:r>
            <a:endParaRPr lang="en-US" sz="900" dirty="0"/>
          </a:p>
        </p:txBody>
      </p:sp>
      <p:sp>
        <p:nvSpPr>
          <p:cNvPr id="5" name="Text 3"/>
          <p:cNvSpPr/>
          <p:nvPr/>
        </p:nvSpPr>
        <p:spPr>
          <a:xfrm>
            <a:off x="182880" y="692482"/>
            <a:ext cx="8595360" cy="237744"/>
          </a:xfrm>
          <a:prstGeom prst="rect">
            <a:avLst/>
          </a:prstGeom>
          <a:noFill/>
          <a:ln/>
        </p:spPr>
        <p:txBody>
          <a:bodyPr wrap="square" lIns="0" tIns="0" rIns="0" bIns="0" rtlCol="0" anchor="t"/>
          <a:lstStyle/>
          <a:p>
            <a:pPr marL="0" indent="0">
              <a:buNone/>
            </a:pPr>
            <a:r>
              <a:rPr lang="en-US" sz="1200" b="1" dirty="0">
                <a:solidFill>
                  <a:srgbClr val="0D2137"/>
                </a:solidFill>
              </a:rPr>
              <a:t>¿Por qué usar Pipeline?</a:t>
            </a:r>
            <a:endParaRPr lang="en-US" sz="1200" dirty="0"/>
          </a:p>
        </p:txBody>
      </p:sp>
      <p:sp>
        <p:nvSpPr>
          <p:cNvPr id="6" name="Text 4"/>
          <p:cNvSpPr/>
          <p:nvPr/>
        </p:nvSpPr>
        <p:spPr>
          <a:xfrm>
            <a:off x="274320" y="987552"/>
            <a:ext cx="8595360" cy="347472"/>
          </a:xfrm>
          <a:prstGeom prst="rect">
            <a:avLst/>
          </a:prstGeom>
          <a:noFill/>
          <a:ln/>
        </p:spPr>
        <p:txBody>
          <a:bodyPr wrap="square" lIns="0" tIns="0" rIns="0" bIns="0" rtlCol="0" anchor="t"/>
          <a:lstStyle/>
          <a:p>
            <a:pPr marL="0" indent="0">
              <a:buNone/>
            </a:pPr>
            <a:r>
              <a:rPr lang="en-US" sz="1150" dirty="0">
                <a:solidFill>
                  <a:srgbClr val="374151"/>
                </a:solidFill>
              </a:rPr>
              <a:t>Sin Pipeline, es fácil olvidar aplicar el mismo scaler al test o cometer errores en el orden. Pipeline garantiza que cada vez que se llama fit(), el preprocesamiento ocurre SOLO sobre los datos que el modelo ve en ese momento.</a:t>
            </a:r>
            <a:endParaRPr lang="en-US" sz="1150" dirty="0"/>
          </a:p>
        </p:txBody>
      </p:sp>
      <p:sp>
        <p:nvSpPr>
          <p:cNvPr id="7" name="Shape 5"/>
          <p:cNvSpPr/>
          <p:nvPr/>
        </p:nvSpPr>
        <p:spPr>
          <a:xfrm>
            <a:off x="42203" y="1350850"/>
            <a:ext cx="8595360" cy="3593592"/>
          </a:xfrm>
          <a:prstGeom prst="rect">
            <a:avLst/>
          </a:prstGeom>
          <a:solidFill>
            <a:srgbClr val="0F172A"/>
          </a:solidFill>
          <a:ln w="12700">
            <a:solidFill>
              <a:srgbClr val="1E293B"/>
            </a:solidFill>
            <a:prstDash val="solid"/>
          </a:ln>
        </p:spPr>
        <p:txBody>
          <a:bodyPr/>
          <a:lstStyle/>
          <a:p>
            <a:endParaRPr lang="es-MX"/>
          </a:p>
        </p:txBody>
      </p:sp>
      <p:sp>
        <p:nvSpPr>
          <p:cNvPr id="8" name="Text 6"/>
          <p:cNvSpPr/>
          <p:nvPr/>
        </p:nvSpPr>
        <p:spPr>
          <a:xfrm>
            <a:off x="182880" y="1606882"/>
            <a:ext cx="8321040" cy="2889504"/>
          </a:xfrm>
          <a:prstGeom prst="rect">
            <a:avLst/>
          </a:prstGeom>
          <a:noFill/>
          <a:ln/>
        </p:spPr>
        <p:txBody>
          <a:bodyPr wrap="square" lIns="0" tIns="0" rIns="0" bIns="0" rtlCol="0" anchor="ctr"/>
          <a:lstStyle/>
          <a:p>
            <a:pPr marL="0" indent="0">
              <a:buNone/>
            </a:pPr>
            <a:r>
              <a:rPr lang="en-US" sz="700" dirty="0">
                <a:solidFill>
                  <a:srgbClr val="94A3B8"/>
                </a:solidFill>
                <a:latin typeface="Courier New" pitchFamily="34" charset="0"/>
                <a:ea typeface="Courier New" pitchFamily="34" charset="-122"/>
                <a:cs typeface="Courier New" pitchFamily="34" charset="-120"/>
              </a:rPr>
              <a:t>from sklearn.pipeline import Pipeline</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from sklearn.preprocessing import StandardScaler</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from sklearn.ensemble import RandomForestRegressor</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from sklearn.model_selection import KFold, cross_val_score, train_test_split</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from sklearn.metrics import mean_absolute_error</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import numpy as np</a:t>
            </a:r>
            <a:endParaRPr lang="en-US" sz="700" dirty="0"/>
          </a:p>
          <a:p>
            <a:pPr marL="0" indent="0">
              <a:buNone/>
            </a:pP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PASO 1: Separar PRIMERO</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X_train, X_test, y_train, y_test = train_test_split(X, y, test_size=0.20, random_state=42)</a:t>
            </a:r>
            <a:endParaRPr lang="en-US" sz="700" dirty="0"/>
          </a:p>
          <a:p>
            <a:pPr marL="0" indent="0">
              <a:buNone/>
            </a:pP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PASO 2: Pipeline — el scaler y el modelo en un solo objeto</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Cuando se llama fit(X_train), Pipeline hace:</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scaler.fit_transform(X_train) → modelo.fit(X_train_escalado, y_train)</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Cuando se llama predict(X_test), Pipeline hace:</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scaler.transform(X_test) → modelo.predict(X_test_escalado)</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pipeline = Pipeline([</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('scaler', StandardScaler()),</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('modelo', RandomForestRegressor(n_estimators=200, random_state=42))</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a:t>
            </a:r>
            <a:endParaRPr lang="en-US" sz="700" dirty="0"/>
          </a:p>
          <a:p>
            <a:pPr marL="0" indent="0">
              <a:buNone/>
            </a:pP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PASO 3: K-Fold dentro de train para elegir hiperparámetros</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kf = KFold(n_splits=5, shuffle=True, random_state=42)</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scores = cross_val_score(pipeline, X_train, y_train,</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cv=kf, scoring='neg_mean_absolute_error')</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print(f"MAE CV-5: ${-scores.mean():,.0f} ± ${scores.std():,.0f}")</a:t>
            </a:r>
            <a:endParaRPr lang="en-US" sz="700" dirty="0"/>
          </a:p>
          <a:p>
            <a:pPr marL="0" indent="0">
              <a:buNone/>
            </a:pP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 PASO 4: Evaluar en test UNA SOLA VEZ</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pipeline.fit(X_train, y_train)</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mae_final = mean_absolute_error(y_test, pipeline.predict(X_test))</a:t>
            </a:r>
            <a:endParaRPr lang="en-US" sz="700" dirty="0"/>
          </a:p>
          <a:p>
            <a:pPr marL="0" indent="0">
              <a:buNone/>
            </a:pPr>
            <a:r>
              <a:rPr lang="en-US" sz="700" dirty="0">
                <a:solidFill>
                  <a:srgbClr val="94A3B8"/>
                </a:solidFill>
                <a:latin typeface="Courier New" pitchFamily="34" charset="0"/>
                <a:ea typeface="Courier New" pitchFamily="34" charset="-122"/>
                <a:cs typeface="Courier New" pitchFamily="34" charset="-120"/>
              </a:rPr>
              <a:t>print(f"MAE Test (resultado final): ${mae_final:,.0f}")</a:t>
            </a:r>
            <a:endParaRPr lang="en-US" sz="700" dirty="0"/>
          </a:p>
        </p:txBody>
      </p:sp>
      <p:sp>
        <p:nvSpPr>
          <p:cNvPr id="10" name="Shape 8"/>
          <p:cNvSpPr/>
          <p:nvPr/>
        </p:nvSpPr>
        <p:spPr>
          <a:xfrm>
            <a:off x="274320" y="4498848"/>
            <a:ext cx="64008" cy="256032"/>
          </a:xfrm>
          <a:prstGeom prst="rect">
            <a:avLst/>
          </a:prstGeom>
          <a:solidFill>
            <a:srgbClr val="059669"/>
          </a:solidFill>
          <a:ln w="12700">
            <a:solidFill>
              <a:srgbClr val="059669"/>
            </a:solidFill>
            <a:prstDash val="solid"/>
          </a:ln>
        </p:spPr>
        <p:txBody>
          <a:bodyPr/>
          <a:lstStyle/>
          <a:p>
            <a:endParaRPr lang="es-MX"/>
          </a:p>
        </p:txBody>
      </p:sp>
      <p:sp>
        <p:nvSpPr>
          <p:cNvPr id="12" name="Shape 10"/>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13" name="Text 11"/>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14" name="Shape 12"/>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15" name="Text 13"/>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9 / 12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Preguntas Frecuentes — Lo que los Alumnos Siempre Preguntan</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Respuestas directas y concretas para la sesión de debate</a:t>
            </a:r>
            <a:endParaRPr lang="en-US" sz="900" dirty="0"/>
          </a:p>
        </p:txBody>
      </p:sp>
      <p:sp>
        <p:nvSpPr>
          <p:cNvPr id="5" name="Shape 3"/>
          <p:cNvSpPr/>
          <p:nvPr/>
        </p:nvSpPr>
        <p:spPr>
          <a:xfrm>
            <a:off x="274320" y="713232"/>
            <a:ext cx="8595360" cy="969264"/>
          </a:xfrm>
          <a:prstGeom prst="rect">
            <a:avLst/>
          </a:prstGeom>
          <a:solidFill>
            <a:srgbClr val="EDE9FE"/>
          </a:solidFill>
          <a:ln w="12700">
            <a:solidFill>
              <a:srgbClr val="7C3AED"/>
            </a:solidFill>
            <a:prstDash val="solid"/>
          </a:ln>
        </p:spPr>
        <p:txBody>
          <a:bodyPr/>
          <a:lstStyle/>
          <a:p>
            <a:endParaRPr lang="es-MX"/>
          </a:p>
        </p:txBody>
      </p:sp>
      <p:sp>
        <p:nvSpPr>
          <p:cNvPr id="6" name="Shape 4"/>
          <p:cNvSpPr/>
          <p:nvPr/>
        </p:nvSpPr>
        <p:spPr>
          <a:xfrm>
            <a:off x="274320" y="713232"/>
            <a:ext cx="64008" cy="969264"/>
          </a:xfrm>
          <a:prstGeom prst="rect">
            <a:avLst/>
          </a:prstGeom>
          <a:solidFill>
            <a:srgbClr val="7C3AED"/>
          </a:solidFill>
          <a:ln w="12700">
            <a:solidFill>
              <a:srgbClr val="7C3AED"/>
            </a:solidFill>
            <a:prstDash val="solid"/>
          </a:ln>
        </p:spPr>
        <p:txBody>
          <a:bodyPr/>
          <a:lstStyle/>
          <a:p>
            <a:endParaRPr lang="es-MX"/>
          </a:p>
        </p:txBody>
      </p:sp>
      <p:sp>
        <p:nvSpPr>
          <p:cNvPr id="7" name="Text 5"/>
          <p:cNvSpPr/>
          <p:nvPr/>
        </p:nvSpPr>
        <p:spPr>
          <a:xfrm>
            <a:off x="402336" y="768096"/>
            <a:ext cx="8357616" cy="256032"/>
          </a:xfrm>
          <a:prstGeom prst="rect">
            <a:avLst/>
          </a:prstGeom>
          <a:noFill/>
          <a:ln/>
        </p:spPr>
        <p:txBody>
          <a:bodyPr wrap="square" lIns="0" tIns="0" rIns="0" bIns="0" rtlCol="0" anchor="t"/>
          <a:lstStyle/>
          <a:p>
            <a:pPr marL="0" indent="0">
              <a:buNone/>
            </a:pPr>
            <a:r>
              <a:rPr lang="en-US" sz="1150" b="1" dirty="0">
                <a:solidFill>
                  <a:srgbClr val="5B21B6"/>
                </a:solidFill>
              </a:rPr>
              <a:t>❓  ¿Por qué 80/20 y no 90/10 o 70/30?</a:t>
            </a:r>
            <a:endParaRPr lang="en-US" sz="1150" dirty="0"/>
          </a:p>
        </p:txBody>
      </p:sp>
      <p:sp>
        <p:nvSpPr>
          <p:cNvPr id="8" name="Text 6"/>
          <p:cNvSpPr/>
          <p:nvPr/>
        </p:nvSpPr>
        <p:spPr>
          <a:xfrm>
            <a:off x="402336" y="1060704"/>
            <a:ext cx="8357616" cy="548640"/>
          </a:xfrm>
          <a:prstGeom prst="rect">
            <a:avLst/>
          </a:prstGeom>
          <a:noFill/>
          <a:ln/>
        </p:spPr>
        <p:txBody>
          <a:bodyPr wrap="square" lIns="0" tIns="0" rIns="0" bIns="0" rtlCol="0" anchor="t"/>
          <a:lstStyle/>
          <a:p>
            <a:pPr marL="0" indent="0">
              <a:buNone/>
            </a:pPr>
            <a:r>
              <a:rPr lang="en-US" sz="1050" dirty="0">
                <a:solidFill>
                  <a:srgbClr val="374151"/>
                </a:solidFill>
              </a:rPr>
              <a:t>No es un dogma. 80/20 es el equilibrio estándar. Con N &gt; 10,000, cualquier proporción entre 70/30 y 85/15 es válida. Para N pequeño, usar K-Fold evita el problema.</a:t>
            </a:r>
            <a:endParaRPr lang="en-US" sz="1050" dirty="0"/>
          </a:p>
        </p:txBody>
      </p:sp>
      <p:sp>
        <p:nvSpPr>
          <p:cNvPr id="9" name="Shape 7"/>
          <p:cNvSpPr/>
          <p:nvPr/>
        </p:nvSpPr>
        <p:spPr>
          <a:xfrm>
            <a:off x="274320" y="1755648"/>
            <a:ext cx="8595360" cy="969264"/>
          </a:xfrm>
          <a:prstGeom prst="rect">
            <a:avLst/>
          </a:prstGeom>
          <a:solidFill>
            <a:srgbClr val="EFF8FA"/>
          </a:solidFill>
          <a:ln w="12700">
            <a:solidFill>
              <a:srgbClr val="0D7490"/>
            </a:solidFill>
            <a:prstDash val="solid"/>
          </a:ln>
        </p:spPr>
        <p:txBody>
          <a:bodyPr/>
          <a:lstStyle/>
          <a:p>
            <a:endParaRPr lang="es-MX"/>
          </a:p>
        </p:txBody>
      </p:sp>
      <p:sp>
        <p:nvSpPr>
          <p:cNvPr id="10" name="Shape 8"/>
          <p:cNvSpPr/>
          <p:nvPr/>
        </p:nvSpPr>
        <p:spPr>
          <a:xfrm>
            <a:off x="274320" y="1755648"/>
            <a:ext cx="64008" cy="969264"/>
          </a:xfrm>
          <a:prstGeom prst="rect">
            <a:avLst/>
          </a:prstGeom>
          <a:solidFill>
            <a:srgbClr val="0D7490"/>
          </a:solidFill>
          <a:ln w="12700">
            <a:solidFill>
              <a:srgbClr val="0D7490"/>
            </a:solidFill>
            <a:prstDash val="solid"/>
          </a:ln>
        </p:spPr>
        <p:txBody>
          <a:bodyPr/>
          <a:lstStyle/>
          <a:p>
            <a:endParaRPr lang="es-MX"/>
          </a:p>
        </p:txBody>
      </p:sp>
      <p:sp>
        <p:nvSpPr>
          <p:cNvPr id="11" name="Text 9"/>
          <p:cNvSpPr/>
          <p:nvPr/>
        </p:nvSpPr>
        <p:spPr>
          <a:xfrm>
            <a:off x="402336" y="1810512"/>
            <a:ext cx="8357616" cy="256032"/>
          </a:xfrm>
          <a:prstGeom prst="rect">
            <a:avLst/>
          </a:prstGeom>
          <a:noFill/>
          <a:ln/>
        </p:spPr>
        <p:txBody>
          <a:bodyPr wrap="square" lIns="0" tIns="0" rIns="0" bIns="0" rtlCol="0" anchor="t"/>
          <a:lstStyle/>
          <a:p>
            <a:pPr marL="0" indent="0">
              <a:buNone/>
            </a:pPr>
            <a:r>
              <a:rPr lang="en-US" sz="1150" b="1" dirty="0">
                <a:solidFill>
                  <a:srgbClr val="0D7490"/>
                </a:solidFill>
              </a:rPr>
              <a:t>❓  ¿Puedo re-entrenar con train+test para el modelo de producción?</a:t>
            </a:r>
            <a:endParaRPr lang="en-US" sz="1150" dirty="0"/>
          </a:p>
        </p:txBody>
      </p:sp>
      <p:sp>
        <p:nvSpPr>
          <p:cNvPr id="12" name="Text 10"/>
          <p:cNvSpPr/>
          <p:nvPr/>
        </p:nvSpPr>
        <p:spPr>
          <a:xfrm>
            <a:off x="402336" y="2103120"/>
            <a:ext cx="8357616" cy="548640"/>
          </a:xfrm>
          <a:prstGeom prst="rect">
            <a:avLst/>
          </a:prstGeom>
          <a:noFill/>
          <a:ln/>
        </p:spPr>
        <p:txBody>
          <a:bodyPr wrap="square" lIns="0" tIns="0" rIns="0" bIns="0" rtlCol="0" anchor="t"/>
          <a:lstStyle/>
          <a:p>
            <a:pPr marL="0" indent="0">
              <a:buNone/>
            </a:pPr>
            <a:r>
              <a:rPr lang="en-US" sz="1050" dirty="0">
                <a:solidFill>
                  <a:srgbClr val="374151"/>
                </a:solidFill>
              </a:rPr>
              <a:t>Sí. Una vez que el resultado del test es satisfactorio, se puede entrenar la versión final con TODOS los datos usando los mismos hiperparámetros ya elegidos. Las métricas reportadas siguen siendo las del test original.</a:t>
            </a:r>
            <a:endParaRPr lang="en-US" sz="1050" dirty="0"/>
          </a:p>
        </p:txBody>
      </p:sp>
      <p:sp>
        <p:nvSpPr>
          <p:cNvPr id="13" name="Shape 11"/>
          <p:cNvSpPr/>
          <p:nvPr/>
        </p:nvSpPr>
        <p:spPr>
          <a:xfrm>
            <a:off x="274320" y="2798064"/>
            <a:ext cx="8595360" cy="969264"/>
          </a:xfrm>
          <a:prstGeom prst="rect">
            <a:avLst/>
          </a:prstGeom>
          <a:solidFill>
            <a:srgbClr val="EDE9FE"/>
          </a:solidFill>
          <a:ln w="12700">
            <a:solidFill>
              <a:srgbClr val="7C3AED"/>
            </a:solidFill>
            <a:prstDash val="solid"/>
          </a:ln>
        </p:spPr>
        <p:txBody>
          <a:bodyPr/>
          <a:lstStyle/>
          <a:p>
            <a:endParaRPr lang="es-MX"/>
          </a:p>
        </p:txBody>
      </p:sp>
      <p:sp>
        <p:nvSpPr>
          <p:cNvPr id="14" name="Shape 12"/>
          <p:cNvSpPr/>
          <p:nvPr/>
        </p:nvSpPr>
        <p:spPr>
          <a:xfrm>
            <a:off x="274320" y="2798064"/>
            <a:ext cx="64008" cy="969264"/>
          </a:xfrm>
          <a:prstGeom prst="rect">
            <a:avLst/>
          </a:prstGeom>
          <a:solidFill>
            <a:srgbClr val="7C3AED"/>
          </a:solidFill>
          <a:ln w="12700">
            <a:solidFill>
              <a:srgbClr val="7C3AED"/>
            </a:solidFill>
            <a:prstDash val="solid"/>
          </a:ln>
        </p:spPr>
        <p:txBody>
          <a:bodyPr/>
          <a:lstStyle/>
          <a:p>
            <a:endParaRPr lang="es-MX"/>
          </a:p>
        </p:txBody>
      </p:sp>
      <p:sp>
        <p:nvSpPr>
          <p:cNvPr id="15" name="Text 13"/>
          <p:cNvSpPr/>
          <p:nvPr/>
        </p:nvSpPr>
        <p:spPr>
          <a:xfrm>
            <a:off x="402336" y="2852928"/>
            <a:ext cx="8357616" cy="256032"/>
          </a:xfrm>
          <a:prstGeom prst="rect">
            <a:avLst/>
          </a:prstGeom>
          <a:noFill/>
          <a:ln/>
        </p:spPr>
        <p:txBody>
          <a:bodyPr wrap="square" lIns="0" tIns="0" rIns="0" bIns="0" rtlCol="0" anchor="t"/>
          <a:lstStyle/>
          <a:p>
            <a:pPr marL="0" indent="0">
              <a:buNone/>
            </a:pPr>
            <a:r>
              <a:rPr lang="en-US" sz="1150" b="1" dirty="0">
                <a:solidFill>
                  <a:srgbClr val="5B21B6"/>
                </a:solidFill>
              </a:rPr>
              <a:t>❓  ¿Qué hago si los resultados en test son mucho peores que en validación?</a:t>
            </a:r>
            <a:endParaRPr lang="en-US" sz="1150" dirty="0"/>
          </a:p>
        </p:txBody>
      </p:sp>
      <p:sp>
        <p:nvSpPr>
          <p:cNvPr id="16" name="Text 14"/>
          <p:cNvSpPr/>
          <p:nvPr/>
        </p:nvSpPr>
        <p:spPr>
          <a:xfrm>
            <a:off x="402336" y="3145536"/>
            <a:ext cx="8357616" cy="548640"/>
          </a:xfrm>
          <a:prstGeom prst="rect">
            <a:avLst/>
          </a:prstGeom>
          <a:noFill/>
          <a:ln/>
        </p:spPr>
        <p:txBody>
          <a:bodyPr wrap="square" lIns="0" tIns="0" rIns="0" bIns="0" rtlCol="0" anchor="t"/>
          <a:lstStyle/>
          <a:p>
            <a:pPr marL="0" indent="0">
              <a:buNone/>
            </a:pPr>
            <a:r>
              <a:rPr lang="en-US" sz="1050" dirty="0">
                <a:solidFill>
                  <a:srgbClr val="374151"/>
                </a:solidFill>
              </a:rPr>
              <a:t>Tres causas: (1) test set pequeño y no representativo, (2) overfitting no detectado, (3) leakage en la validación. Revisar el pipeline y las distribuciones de train vs. test. No ajustar nada basándose en el test.</a:t>
            </a:r>
            <a:endParaRPr lang="en-US" sz="1050" dirty="0"/>
          </a:p>
        </p:txBody>
      </p:sp>
      <p:sp>
        <p:nvSpPr>
          <p:cNvPr id="17" name="Shape 15"/>
          <p:cNvSpPr/>
          <p:nvPr/>
        </p:nvSpPr>
        <p:spPr>
          <a:xfrm>
            <a:off x="274320" y="3840480"/>
            <a:ext cx="8595360" cy="969264"/>
          </a:xfrm>
          <a:prstGeom prst="rect">
            <a:avLst/>
          </a:prstGeom>
          <a:solidFill>
            <a:srgbClr val="EFF8FA"/>
          </a:solidFill>
          <a:ln w="12700">
            <a:solidFill>
              <a:srgbClr val="0D7490"/>
            </a:solidFill>
            <a:prstDash val="solid"/>
          </a:ln>
        </p:spPr>
        <p:txBody>
          <a:bodyPr/>
          <a:lstStyle/>
          <a:p>
            <a:endParaRPr lang="es-MX"/>
          </a:p>
        </p:txBody>
      </p:sp>
      <p:sp>
        <p:nvSpPr>
          <p:cNvPr id="18" name="Shape 16"/>
          <p:cNvSpPr/>
          <p:nvPr/>
        </p:nvSpPr>
        <p:spPr>
          <a:xfrm>
            <a:off x="274320" y="3840480"/>
            <a:ext cx="64008" cy="969264"/>
          </a:xfrm>
          <a:prstGeom prst="rect">
            <a:avLst/>
          </a:prstGeom>
          <a:solidFill>
            <a:srgbClr val="0D7490"/>
          </a:solidFill>
          <a:ln w="12700">
            <a:solidFill>
              <a:srgbClr val="0D7490"/>
            </a:solidFill>
            <a:prstDash val="solid"/>
          </a:ln>
        </p:spPr>
        <p:txBody>
          <a:bodyPr/>
          <a:lstStyle/>
          <a:p>
            <a:endParaRPr lang="es-MX"/>
          </a:p>
        </p:txBody>
      </p:sp>
      <p:sp>
        <p:nvSpPr>
          <p:cNvPr id="19" name="Text 17"/>
          <p:cNvSpPr/>
          <p:nvPr/>
        </p:nvSpPr>
        <p:spPr>
          <a:xfrm>
            <a:off x="402336" y="3895344"/>
            <a:ext cx="8357616" cy="256032"/>
          </a:xfrm>
          <a:prstGeom prst="rect">
            <a:avLst/>
          </a:prstGeom>
          <a:noFill/>
          <a:ln/>
        </p:spPr>
        <p:txBody>
          <a:bodyPr wrap="square" lIns="0" tIns="0" rIns="0" bIns="0" rtlCol="0" anchor="t"/>
          <a:lstStyle/>
          <a:p>
            <a:pPr marL="0" indent="0">
              <a:buNone/>
            </a:pPr>
            <a:r>
              <a:rPr lang="en-US" sz="1150" b="1" dirty="0">
                <a:solidFill>
                  <a:srgbClr val="0D7490"/>
                </a:solidFill>
              </a:rPr>
              <a:t>❓  ¿Por qué usar random_state=42 siempre?</a:t>
            </a:r>
            <a:endParaRPr lang="en-US" sz="1150" dirty="0"/>
          </a:p>
        </p:txBody>
      </p:sp>
      <p:sp>
        <p:nvSpPr>
          <p:cNvPr id="20" name="Text 18"/>
          <p:cNvSpPr/>
          <p:nvPr/>
        </p:nvSpPr>
        <p:spPr>
          <a:xfrm>
            <a:off x="402336" y="4187952"/>
            <a:ext cx="8357616" cy="548640"/>
          </a:xfrm>
          <a:prstGeom prst="rect">
            <a:avLst/>
          </a:prstGeom>
          <a:noFill/>
          <a:ln/>
        </p:spPr>
        <p:txBody>
          <a:bodyPr wrap="square" lIns="0" tIns="0" rIns="0" bIns="0" rtlCol="0" anchor="t"/>
          <a:lstStyle/>
          <a:p>
            <a:pPr marL="0" indent="0">
              <a:buNone/>
            </a:pPr>
            <a:r>
              <a:rPr lang="en-US" sz="1050" dirty="0">
                <a:solidFill>
                  <a:srgbClr val="374151"/>
                </a:solidFill>
              </a:rPr>
              <a:t>Garantiza reproducibilidad: todos obtienen la misma partición. Sin ella, cada ejecución produce resultados distintos, imposibilitando la comparación de modelos y la depuración de errores.</a:t>
            </a:r>
            <a:endParaRPr lang="en-US" sz="1050" dirty="0"/>
          </a:p>
        </p:txBody>
      </p:sp>
      <p:sp>
        <p:nvSpPr>
          <p:cNvPr id="21" name="Shape 19"/>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22" name="Text 20"/>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23" name="Shape 21"/>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24" name="Text 22"/>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10 / 12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137"/>
          </a:solidFill>
          <a:ln w="12700">
            <a:solidFill>
              <a:srgbClr val="0D2137"/>
            </a:solidFill>
            <a:prstDash val="solid"/>
          </a:ln>
        </p:spPr>
        <p:txBody>
          <a:bodyPr/>
          <a:lstStyle/>
          <a:p>
            <a:endParaRPr lang="es-MX"/>
          </a:p>
        </p:txBody>
      </p:sp>
      <p:sp>
        <p:nvSpPr>
          <p:cNvPr id="3" name="Text 1"/>
          <p:cNvSpPr/>
          <p:nvPr/>
        </p:nvSpPr>
        <p:spPr>
          <a:xfrm>
            <a:off x="274320" y="36576"/>
            <a:ext cx="8412480" cy="329184"/>
          </a:xfrm>
          <a:prstGeom prst="rect">
            <a:avLst/>
          </a:prstGeom>
          <a:noFill/>
          <a:ln/>
        </p:spPr>
        <p:txBody>
          <a:bodyPr wrap="square" lIns="0" tIns="0" rIns="0" bIns="0" rtlCol="0" anchor="ctr"/>
          <a:lstStyle/>
          <a:p>
            <a:pPr marL="0" indent="0">
              <a:buNone/>
            </a:pPr>
            <a:r>
              <a:rPr lang="en-US" sz="1700" b="1" dirty="0">
                <a:solidFill>
                  <a:srgbClr val="FFFFFF"/>
                </a:solidFill>
              </a:rPr>
              <a:t>Lista de Verificación — Antes de Reportar Cualquier Resultado</a:t>
            </a:r>
            <a:endParaRPr lang="en-US" sz="1700" dirty="0"/>
          </a:p>
        </p:txBody>
      </p:sp>
      <p:sp>
        <p:nvSpPr>
          <p:cNvPr id="4" name="Text 2"/>
          <p:cNvSpPr/>
          <p:nvPr/>
        </p:nvSpPr>
        <p:spPr>
          <a:xfrm>
            <a:off x="274320" y="384048"/>
            <a:ext cx="8412480" cy="182880"/>
          </a:xfrm>
          <a:prstGeom prst="rect">
            <a:avLst/>
          </a:prstGeom>
          <a:noFill/>
          <a:ln/>
        </p:spPr>
        <p:txBody>
          <a:bodyPr wrap="square" lIns="0" tIns="0" rIns="0" bIns="0" rtlCol="0" anchor="ctr"/>
          <a:lstStyle/>
          <a:p>
            <a:pPr marL="0" indent="0">
              <a:buNone/>
            </a:pPr>
            <a:r>
              <a:rPr lang="en-US" sz="900" i="1" dirty="0">
                <a:solidFill>
                  <a:srgbClr val="38BDF8"/>
                </a:solidFill>
              </a:rPr>
              <a:t>Pegar esto como comentario al inicio de cada script de ML</a:t>
            </a:r>
            <a:endParaRPr lang="en-US" sz="900" dirty="0"/>
          </a:p>
        </p:txBody>
      </p:sp>
      <p:sp>
        <p:nvSpPr>
          <p:cNvPr id="5" name="Shape 3"/>
          <p:cNvSpPr/>
          <p:nvPr/>
        </p:nvSpPr>
        <p:spPr>
          <a:xfrm>
            <a:off x="274320" y="713232"/>
            <a:ext cx="2743200" cy="310896"/>
          </a:xfrm>
          <a:prstGeom prst="rect">
            <a:avLst/>
          </a:prstGeom>
          <a:solidFill>
            <a:srgbClr val="0D7490"/>
          </a:solidFill>
          <a:ln w="12700">
            <a:solidFill>
              <a:srgbClr val="0D7490"/>
            </a:solidFill>
            <a:prstDash val="solid"/>
          </a:ln>
        </p:spPr>
        <p:txBody>
          <a:bodyPr/>
          <a:lstStyle/>
          <a:p>
            <a:endParaRPr lang="es-MX"/>
          </a:p>
        </p:txBody>
      </p:sp>
      <p:sp>
        <p:nvSpPr>
          <p:cNvPr id="6" name="Text 4"/>
          <p:cNvSpPr/>
          <p:nvPr/>
        </p:nvSpPr>
        <p:spPr>
          <a:xfrm>
            <a:off x="274320" y="713232"/>
            <a:ext cx="2743200" cy="310896"/>
          </a:xfrm>
          <a:prstGeom prst="rect">
            <a:avLst/>
          </a:prstGeom>
          <a:noFill/>
          <a:ln/>
        </p:spPr>
        <p:txBody>
          <a:bodyPr wrap="square" lIns="0" tIns="0" rIns="0" bIns="0" rtlCol="0" anchor="ctr"/>
          <a:lstStyle/>
          <a:p>
            <a:pPr marL="0" indent="0" algn="ctr">
              <a:buNone/>
            </a:pPr>
            <a:r>
              <a:rPr lang="en-US" sz="1000" b="1" dirty="0">
                <a:solidFill>
                  <a:srgbClr val="FFFFFF"/>
                </a:solidFill>
              </a:rPr>
              <a:t>ANTES DE ENTRENAR</a:t>
            </a:r>
            <a:endParaRPr lang="en-US" sz="1000" dirty="0"/>
          </a:p>
        </p:txBody>
      </p:sp>
      <p:sp>
        <p:nvSpPr>
          <p:cNvPr id="7" name="Shape 5"/>
          <p:cNvSpPr/>
          <p:nvPr/>
        </p:nvSpPr>
        <p:spPr>
          <a:xfrm>
            <a:off x="274320" y="1078992"/>
            <a:ext cx="2743200" cy="493776"/>
          </a:xfrm>
          <a:prstGeom prst="rect">
            <a:avLst/>
          </a:prstGeom>
          <a:solidFill>
            <a:srgbClr val="FFFFFF"/>
          </a:solidFill>
          <a:ln w="12700">
            <a:solidFill>
              <a:srgbClr val="CBD5E1"/>
            </a:solidFill>
            <a:prstDash val="solid"/>
          </a:ln>
        </p:spPr>
        <p:txBody>
          <a:bodyPr/>
          <a:lstStyle/>
          <a:p>
            <a:endParaRPr lang="es-MX"/>
          </a:p>
        </p:txBody>
      </p:sp>
      <p:sp>
        <p:nvSpPr>
          <p:cNvPr id="8" name="Text 6"/>
          <p:cNvSpPr/>
          <p:nvPr/>
        </p:nvSpPr>
        <p:spPr>
          <a:xfrm>
            <a:off x="365760" y="1115568"/>
            <a:ext cx="2560320" cy="420624"/>
          </a:xfrm>
          <a:prstGeom prst="rect">
            <a:avLst/>
          </a:prstGeom>
          <a:noFill/>
          <a:ln/>
        </p:spPr>
        <p:txBody>
          <a:bodyPr wrap="square" lIns="0" tIns="0" rIns="0" bIns="0" rtlCol="0" anchor="ctr"/>
          <a:lstStyle/>
          <a:p>
            <a:pPr marL="0" indent="0">
              <a:buNone/>
            </a:pPr>
            <a:r>
              <a:rPr lang="en-US" sz="1000" dirty="0">
                <a:solidFill>
                  <a:srgbClr val="374151"/>
                </a:solidFill>
              </a:rPr>
              <a:t>☐  ¿Separé train y test ANTES de cualquier transformación?</a:t>
            </a:r>
            <a:endParaRPr lang="en-US" sz="1000" dirty="0"/>
          </a:p>
        </p:txBody>
      </p:sp>
      <p:sp>
        <p:nvSpPr>
          <p:cNvPr id="9" name="Shape 7"/>
          <p:cNvSpPr/>
          <p:nvPr/>
        </p:nvSpPr>
        <p:spPr>
          <a:xfrm>
            <a:off x="274320" y="1645920"/>
            <a:ext cx="2743200" cy="493776"/>
          </a:xfrm>
          <a:prstGeom prst="rect">
            <a:avLst/>
          </a:prstGeom>
          <a:solidFill>
            <a:srgbClr val="F1F5F9"/>
          </a:solidFill>
          <a:ln w="12700">
            <a:solidFill>
              <a:srgbClr val="CBD5E1"/>
            </a:solidFill>
            <a:prstDash val="solid"/>
          </a:ln>
        </p:spPr>
        <p:txBody>
          <a:bodyPr/>
          <a:lstStyle/>
          <a:p>
            <a:endParaRPr lang="es-MX"/>
          </a:p>
        </p:txBody>
      </p:sp>
      <p:sp>
        <p:nvSpPr>
          <p:cNvPr id="10" name="Text 8"/>
          <p:cNvSpPr/>
          <p:nvPr/>
        </p:nvSpPr>
        <p:spPr>
          <a:xfrm>
            <a:off x="365760" y="1682496"/>
            <a:ext cx="2560320" cy="420624"/>
          </a:xfrm>
          <a:prstGeom prst="rect">
            <a:avLst/>
          </a:prstGeom>
          <a:noFill/>
          <a:ln/>
        </p:spPr>
        <p:txBody>
          <a:bodyPr wrap="square" lIns="0" tIns="0" rIns="0" bIns="0" rtlCol="0" anchor="ctr"/>
          <a:lstStyle/>
          <a:p>
            <a:pPr marL="0" indent="0">
              <a:buNone/>
            </a:pPr>
            <a:r>
              <a:rPr lang="en-US" sz="1000" dirty="0">
                <a:solidFill>
                  <a:srgbClr val="374151"/>
                </a:solidFill>
              </a:rPr>
              <a:t>☐  ¿Usé random_state para reproducibilidad?</a:t>
            </a:r>
            <a:endParaRPr lang="en-US" sz="1000" dirty="0"/>
          </a:p>
        </p:txBody>
      </p:sp>
      <p:sp>
        <p:nvSpPr>
          <p:cNvPr id="11" name="Shape 9"/>
          <p:cNvSpPr/>
          <p:nvPr/>
        </p:nvSpPr>
        <p:spPr>
          <a:xfrm>
            <a:off x="274320" y="2212848"/>
            <a:ext cx="2743200" cy="493776"/>
          </a:xfrm>
          <a:prstGeom prst="rect">
            <a:avLst/>
          </a:prstGeom>
          <a:solidFill>
            <a:srgbClr val="FFFFFF"/>
          </a:solidFill>
          <a:ln w="12700">
            <a:solidFill>
              <a:srgbClr val="CBD5E1"/>
            </a:solidFill>
            <a:prstDash val="solid"/>
          </a:ln>
        </p:spPr>
        <p:txBody>
          <a:bodyPr/>
          <a:lstStyle/>
          <a:p>
            <a:endParaRPr lang="es-MX"/>
          </a:p>
        </p:txBody>
      </p:sp>
      <p:sp>
        <p:nvSpPr>
          <p:cNvPr id="12" name="Text 10"/>
          <p:cNvSpPr/>
          <p:nvPr/>
        </p:nvSpPr>
        <p:spPr>
          <a:xfrm>
            <a:off x="365760" y="2249424"/>
            <a:ext cx="2560320" cy="420624"/>
          </a:xfrm>
          <a:prstGeom prst="rect">
            <a:avLst/>
          </a:prstGeom>
          <a:noFill/>
          <a:ln/>
        </p:spPr>
        <p:txBody>
          <a:bodyPr wrap="square" lIns="0" tIns="0" rIns="0" bIns="0" rtlCol="0" anchor="ctr"/>
          <a:lstStyle/>
          <a:p>
            <a:pPr marL="0" indent="0">
              <a:buNone/>
            </a:pPr>
            <a:r>
              <a:rPr lang="en-US" sz="1000" dirty="0">
                <a:solidFill>
                  <a:srgbClr val="374151"/>
                </a:solidFill>
              </a:rPr>
              <a:t>☐  ¿Si hay clases desbalanceadas: usé stratify=y?</a:t>
            </a:r>
            <a:endParaRPr lang="en-US" sz="1000" dirty="0"/>
          </a:p>
        </p:txBody>
      </p:sp>
      <p:sp>
        <p:nvSpPr>
          <p:cNvPr id="13" name="Shape 11"/>
          <p:cNvSpPr/>
          <p:nvPr/>
        </p:nvSpPr>
        <p:spPr>
          <a:xfrm>
            <a:off x="274320" y="2779776"/>
            <a:ext cx="2743200" cy="493776"/>
          </a:xfrm>
          <a:prstGeom prst="rect">
            <a:avLst/>
          </a:prstGeom>
          <a:solidFill>
            <a:srgbClr val="F1F5F9"/>
          </a:solidFill>
          <a:ln w="12700">
            <a:solidFill>
              <a:srgbClr val="CBD5E1"/>
            </a:solidFill>
            <a:prstDash val="solid"/>
          </a:ln>
        </p:spPr>
        <p:txBody>
          <a:bodyPr/>
          <a:lstStyle/>
          <a:p>
            <a:endParaRPr lang="es-MX"/>
          </a:p>
        </p:txBody>
      </p:sp>
      <p:sp>
        <p:nvSpPr>
          <p:cNvPr id="14" name="Text 12"/>
          <p:cNvSpPr/>
          <p:nvPr/>
        </p:nvSpPr>
        <p:spPr>
          <a:xfrm>
            <a:off x="365760" y="2816352"/>
            <a:ext cx="2560320" cy="420624"/>
          </a:xfrm>
          <a:prstGeom prst="rect">
            <a:avLst/>
          </a:prstGeom>
          <a:noFill/>
          <a:ln/>
        </p:spPr>
        <p:txBody>
          <a:bodyPr wrap="square" lIns="0" tIns="0" rIns="0" bIns="0" rtlCol="0" anchor="ctr"/>
          <a:lstStyle/>
          <a:p>
            <a:pPr marL="0" indent="0">
              <a:buNone/>
            </a:pPr>
            <a:r>
              <a:rPr lang="en-US" sz="1000" dirty="0">
                <a:solidFill>
                  <a:srgbClr val="374151"/>
                </a:solidFill>
              </a:rPr>
              <a:t>☐  ¿El análisis exploratorio lo hice SOLO sobre df_train?</a:t>
            </a:r>
            <a:endParaRPr lang="en-US" sz="1000" dirty="0"/>
          </a:p>
        </p:txBody>
      </p:sp>
      <p:sp>
        <p:nvSpPr>
          <p:cNvPr id="15" name="Shape 13"/>
          <p:cNvSpPr/>
          <p:nvPr/>
        </p:nvSpPr>
        <p:spPr>
          <a:xfrm>
            <a:off x="3145536" y="713232"/>
            <a:ext cx="2743200" cy="310896"/>
          </a:xfrm>
          <a:prstGeom prst="rect">
            <a:avLst/>
          </a:prstGeom>
          <a:solidFill>
            <a:srgbClr val="7C3AED"/>
          </a:solidFill>
          <a:ln w="12700">
            <a:solidFill>
              <a:srgbClr val="7C3AED"/>
            </a:solidFill>
            <a:prstDash val="solid"/>
          </a:ln>
        </p:spPr>
        <p:txBody>
          <a:bodyPr/>
          <a:lstStyle/>
          <a:p>
            <a:endParaRPr lang="es-MX"/>
          </a:p>
        </p:txBody>
      </p:sp>
      <p:sp>
        <p:nvSpPr>
          <p:cNvPr id="16" name="Text 14"/>
          <p:cNvSpPr/>
          <p:nvPr/>
        </p:nvSpPr>
        <p:spPr>
          <a:xfrm>
            <a:off x="3145536" y="713232"/>
            <a:ext cx="2743200" cy="310896"/>
          </a:xfrm>
          <a:prstGeom prst="rect">
            <a:avLst/>
          </a:prstGeom>
          <a:noFill/>
          <a:ln/>
        </p:spPr>
        <p:txBody>
          <a:bodyPr wrap="square" lIns="0" tIns="0" rIns="0" bIns="0" rtlCol="0" anchor="ctr"/>
          <a:lstStyle/>
          <a:p>
            <a:pPr marL="0" indent="0" algn="ctr">
              <a:buNone/>
            </a:pPr>
            <a:r>
              <a:rPr lang="en-US" sz="1000" b="1" dirty="0">
                <a:solidFill>
                  <a:srgbClr val="FFFFFF"/>
                </a:solidFill>
              </a:rPr>
              <a:t>DURANTE EL PREPROCESAMIENTO</a:t>
            </a:r>
            <a:endParaRPr lang="en-US" sz="1000" dirty="0"/>
          </a:p>
        </p:txBody>
      </p:sp>
      <p:sp>
        <p:nvSpPr>
          <p:cNvPr id="17" name="Shape 15"/>
          <p:cNvSpPr/>
          <p:nvPr/>
        </p:nvSpPr>
        <p:spPr>
          <a:xfrm>
            <a:off x="3145536" y="1078992"/>
            <a:ext cx="2743200" cy="493776"/>
          </a:xfrm>
          <a:prstGeom prst="rect">
            <a:avLst/>
          </a:prstGeom>
          <a:solidFill>
            <a:srgbClr val="FFFFFF"/>
          </a:solidFill>
          <a:ln w="12700">
            <a:solidFill>
              <a:srgbClr val="CBD5E1"/>
            </a:solidFill>
            <a:prstDash val="solid"/>
          </a:ln>
        </p:spPr>
        <p:txBody>
          <a:bodyPr/>
          <a:lstStyle/>
          <a:p>
            <a:endParaRPr lang="es-MX"/>
          </a:p>
        </p:txBody>
      </p:sp>
      <p:sp>
        <p:nvSpPr>
          <p:cNvPr id="18" name="Text 16"/>
          <p:cNvSpPr/>
          <p:nvPr/>
        </p:nvSpPr>
        <p:spPr>
          <a:xfrm>
            <a:off x="3236976" y="1115568"/>
            <a:ext cx="2560320" cy="420624"/>
          </a:xfrm>
          <a:prstGeom prst="rect">
            <a:avLst/>
          </a:prstGeom>
          <a:noFill/>
          <a:ln/>
        </p:spPr>
        <p:txBody>
          <a:bodyPr wrap="square" lIns="0" tIns="0" rIns="0" bIns="0" rtlCol="0" anchor="ctr"/>
          <a:lstStyle/>
          <a:p>
            <a:pPr marL="0" indent="0">
              <a:buNone/>
            </a:pPr>
            <a:r>
              <a:rPr lang="en-US" sz="1000" dirty="0">
                <a:solidFill>
                  <a:srgbClr val="374151"/>
                </a:solidFill>
              </a:rPr>
              <a:t>☐  ¿Hice scaler.fit() SOLO sobre X_train?</a:t>
            </a:r>
            <a:endParaRPr lang="en-US" sz="1000" dirty="0"/>
          </a:p>
        </p:txBody>
      </p:sp>
      <p:sp>
        <p:nvSpPr>
          <p:cNvPr id="19" name="Shape 17"/>
          <p:cNvSpPr/>
          <p:nvPr/>
        </p:nvSpPr>
        <p:spPr>
          <a:xfrm>
            <a:off x="3145536" y="1645920"/>
            <a:ext cx="2743200" cy="493776"/>
          </a:xfrm>
          <a:prstGeom prst="rect">
            <a:avLst/>
          </a:prstGeom>
          <a:solidFill>
            <a:srgbClr val="F1F5F9"/>
          </a:solidFill>
          <a:ln w="12700">
            <a:solidFill>
              <a:srgbClr val="CBD5E1"/>
            </a:solidFill>
            <a:prstDash val="solid"/>
          </a:ln>
        </p:spPr>
        <p:txBody>
          <a:bodyPr/>
          <a:lstStyle/>
          <a:p>
            <a:endParaRPr lang="es-MX"/>
          </a:p>
        </p:txBody>
      </p:sp>
      <p:sp>
        <p:nvSpPr>
          <p:cNvPr id="20" name="Text 18"/>
          <p:cNvSpPr/>
          <p:nvPr/>
        </p:nvSpPr>
        <p:spPr>
          <a:xfrm>
            <a:off x="3236976" y="1682496"/>
            <a:ext cx="2560320" cy="420624"/>
          </a:xfrm>
          <a:prstGeom prst="rect">
            <a:avLst/>
          </a:prstGeom>
          <a:noFill/>
          <a:ln/>
        </p:spPr>
        <p:txBody>
          <a:bodyPr wrap="square" lIns="0" tIns="0" rIns="0" bIns="0" rtlCol="0" anchor="ctr"/>
          <a:lstStyle/>
          <a:p>
            <a:pPr marL="0" indent="0">
              <a:buNone/>
            </a:pPr>
            <a:r>
              <a:rPr lang="en-US" sz="1000" dirty="0">
                <a:solidFill>
                  <a:srgbClr val="374151"/>
                </a:solidFill>
              </a:rPr>
              <a:t>☐  ¿Apliqué scaler.transform() sobre X_test (sin fit)?</a:t>
            </a:r>
            <a:endParaRPr lang="en-US" sz="1000" dirty="0"/>
          </a:p>
        </p:txBody>
      </p:sp>
      <p:sp>
        <p:nvSpPr>
          <p:cNvPr id="21" name="Shape 19"/>
          <p:cNvSpPr/>
          <p:nvPr/>
        </p:nvSpPr>
        <p:spPr>
          <a:xfrm>
            <a:off x="3145536" y="2212848"/>
            <a:ext cx="2743200" cy="493776"/>
          </a:xfrm>
          <a:prstGeom prst="rect">
            <a:avLst/>
          </a:prstGeom>
          <a:solidFill>
            <a:srgbClr val="FFFFFF"/>
          </a:solidFill>
          <a:ln w="12700">
            <a:solidFill>
              <a:srgbClr val="CBD5E1"/>
            </a:solidFill>
            <a:prstDash val="solid"/>
          </a:ln>
        </p:spPr>
        <p:txBody>
          <a:bodyPr/>
          <a:lstStyle/>
          <a:p>
            <a:endParaRPr lang="es-MX"/>
          </a:p>
        </p:txBody>
      </p:sp>
      <p:sp>
        <p:nvSpPr>
          <p:cNvPr id="22" name="Text 20"/>
          <p:cNvSpPr/>
          <p:nvPr/>
        </p:nvSpPr>
        <p:spPr>
          <a:xfrm>
            <a:off x="3236976" y="2249424"/>
            <a:ext cx="2560320" cy="420624"/>
          </a:xfrm>
          <a:prstGeom prst="rect">
            <a:avLst/>
          </a:prstGeom>
          <a:noFill/>
          <a:ln/>
        </p:spPr>
        <p:txBody>
          <a:bodyPr wrap="square" lIns="0" tIns="0" rIns="0" bIns="0" rtlCol="0" anchor="ctr"/>
          <a:lstStyle/>
          <a:p>
            <a:pPr marL="0" indent="0">
              <a:buNone/>
            </a:pPr>
            <a:r>
              <a:rPr lang="en-US" sz="1000" dirty="0">
                <a:solidFill>
                  <a:srgbClr val="374151"/>
                </a:solidFill>
              </a:rPr>
              <a:t>☐  ¿Usé Pipeline para que el scaler funcione bien en K-Fold?</a:t>
            </a:r>
            <a:endParaRPr lang="en-US" sz="1000" dirty="0"/>
          </a:p>
        </p:txBody>
      </p:sp>
      <p:sp>
        <p:nvSpPr>
          <p:cNvPr id="23" name="Shape 21"/>
          <p:cNvSpPr/>
          <p:nvPr/>
        </p:nvSpPr>
        <p:spPr>
          <a:xfrm>
            <a:off x="3145536" y="2779776"/>
            <a:ext cx="2743200" cy="493776"/>
          </a:xfrm>
          <a:prstGeom prst="rect">
            <a:avLst/>
          </a:prstGeom>
          <a:solidFill>
            <a:srgbClr val="F1F5F9"/>
          </a:solidFill>
          <a:ln w="12700">
            <a:solidFill>
              <a:srgbClr val="CBD5E1"/>
            </a:solidFill>
            <a:prstDash val="solid"/>
          </a:ln>
        </p:spPr>
        <p:txBody>
          <a:bodyPr/>
          <a:lstStyle/>
          <a:p>
            <a:endParaRPr lang="es-MX"/>
          </a:p>
        </p:txBody>
      </p:sp>
      <p:sp>
        <p:nvSpPr>
          <p:cNvPr id="24" name="Text 22"/>
          <p:cNvSpPr/>
          <p:nvPr/>
        </p:nvSpPr>
        <p:spPr>
          <a:xfrm>
            <a:off x="3236976" y="2816352"/>
            <a:ext cx="2560320" cy="420624"/>
          </a:xfrm>
          <a:prstGeom prst="rect">
            <a:avLst/>
          </a:prstGeom>
          <a:noFill/>
          <a:ln/>
        </p:spPr>
        <p:txBody>
          <a:bodyPr wrap="square" lIns="0" tIns="0" rIns="0" bIns="0" rtlCol="0" anchor="ctr"/>
          <a:lstStyle/>
          <a:p>
            <a:pPr marL="0" indent="0">
              <a:buNone/>
            </a:pPr>
            <a:r>
              <a:rPr lang="en-US" sz="1000" dirty="0">
                <a:solidFill>
                  <a:srgbClr val="374151"/>
                </a:solidFill>
              </a:rPr>
              <a:t>☐  ¿Los encodings de categorías los calculé SOLO dentro del fold?</a:t>
            </a:r>
            <a:endParaRPr lang="en-US" sz="1000" dirty="0"/>
          </a:p>
        </p:txBody>
      </p:sp>
      <p:sp>
        <p:nvSpPr>
          <p:cNvPr id="25" name="Shape 23"/>
          <p:cNvSpPr/>
          <p:nvPr/>
        </p:nvSpPr>
        <p:spPr>
          <a:xfrm>
            <a:off x="6016752" y="713232"/>
            <a:ext cx="2743200" cy="310896"/>
          </a:xfrm>
          <a:prstGeom prst="rect">
            <a:avLst/>
          </a:prstGeom>
          <a:solidFill>
            <a:srgbClr val="D97706"/>
          </a:solidFill>
          <a:ln w="12700">
            <a:solidFill>
              <a:srgbClr val="D97706"/>
            </a:solidFill>
            <a:prstDash val="solid"/>
          </a:ln>
        </p:spPr>
        <p:txBody>
          <a:bodyPr/>
          <a:lstStyle/>
          <a:p>
            <a:endParaRPr lang="es-MX"/>
          </a:p>
        </p:txBody>
      </p:sp>
      <p:sp>
        <p:nvSpPr>
          <p:cNvPr id="26" name="Text 24"/>
          <p:cNvSpPr/>
          <p:nvPr/>
        </p:nvSpPr>
        <p:spPr>
          <a:xfrm>
            <a:off x="6016752" y="713232"/>
            <a:ext cx="2743200" cy="310896"/>
          </a:xfrm>
          <a:prstGeom prst="rect">
            <a:avLst/>
          </a:prstGeom>
          <a:noFill/>
          <a:ln/>
        </p:spPr>
        <p:txBody>
          <a:bodyPr wrap="square" lIns="0" tIns="0" rIns="0" bIns="0" rtlCol="0" anchor="ctr"/>
          <a:lstStyle/>
          <a:p>
            <a:pPr marL="0" indent="0" algn="ctr">
              <a:buNone/>
            </a:pPr>
            <a:r>
              <a:rPr lang="en-US" sz="1000" b="1" dirty="0">
                <a:solidFill>
                  <a:srgbClr val="FFFFFF"/>
                </a:solidFill>
              </a:rPr>
              <a:t>AL FINAL</a:t>
            </a:r>
            <a:endParaRPr lang="en-US" sz="1000" dirty="0"/>
          </a:p>
        </p:txBody>
      </p:sp>
      <p:sp>
        <p:nvSpPr>
          <p:cNvPr id="27" name="Shape 25"/>
          <p:cNvSpPr/>
          <p:nvPr/>
        </p:nvSpPr>
        <p:spPr>
          <a:xfrm>
            <a:off x="6016752" y="1078992"/>
            <a:ext cx="2743200" cy="493776"/>
          </a:xfrm>
          <a:prstGeom prst="rect">
            <a:avLst/>
          </a:prstGeom>
          <a:solidFill>
            <a:srgbClr val="FFFFFF"/>
          </a:solidFill>
          <a:ln w="12700">
            <a:solidFill>
              <a:srgbClr val="CBD5E1"/>
            </a:solidFill>
            <a:prstDash val="solid"/>
          </a:ln>
        </p:spPr>
        <p:txBody>
          <a:bodyPr/>
          <a:lstStyle/>
          <a:p>
            <a:endParaRPr lang="es-MX"/>
          </a:p>
        </p:txBody>
      </p:sp>
      <p:sp>
        <p:nvSpPr>
          <p:cNvPr id="28" name="Text 26"/>
          <p:cNvSpPr/>
          <p:nvPr/>
        </p:nvSpPr>
        <p:spPr>
          <a:xfrm>
            <a:off x="6108192" y="1115568"/>
            <a:ext cx="2560320" cy="420624"/>
          </a:xfrm>
          <a:prstGeom prst="rect">
            <a:avLst/>
          </a:prstGeom>
          <a:noFill/>
          <a:ln/>
        </p:spPr>
        <p:txBody>
          <a:bodyPr wrap="square" lIns="0" tIns="0" rIns="0" bIns="0" rtlCol="0" anchor="ctr"/>
          <a:lstStyle/>
          <a:p>
            <a:pPr marL="0" indent="0">
              <a:buNone/>
            </a:pPr>
            <a:r>
              <a:rPr lang="en-US" sz="1000" dirty="0">
                <a:solidFill>
                  <a:srgbClr val="374151"/>
                </a:solidFill>
              </a:rPr>
              <a:t>☐  ¿Elegí hiperparámetros con K-Fold DENTRO de X_train?</a:t>
            </a:r>
            <a:endParaRPr lang="en-US" sz="1000" dirty="0"/>
          </a:p>
        </p:txBody>
      </p:sp>
      <p:sp>
        <p:nvSpPr>
          <p:cNvPr id="29" name="Shape 27"/>
          <p:cNvSpPr/>
          <p:nvPr/>
        </p:nvSpPr>
        <p:spPr>
          <a:xfrm>
            <a:off x="6016752" y="1645920"/>
            <a:ext cx="2743200" cy="493776"/>
          </a:xfrm>
          <a:prstGeom prst="rect">
            <a:avLst/>
          </a:prstGeom>
          <a:solidFill>
            <a:srgbClr val="F1F5F9"/>
          </a:solidFill>
          <a:ln w="12700">
            <a:solidFill>
              <a:srgbClr val="CBD5E1"/>
            </a:solidFill>
            <a:prstDash val="solid"/>
          </a:ln>
        </p:spPr>
        <p:txBody>
          <a:bodyPr/>
          <a:lstStyle/>
          <a:p>
            <a:endParaRPr lang="es-MX"/>
          </a:p>
        </p:txBody>
      </p:sp>
      <p:sp>
        <p:nvSpPr>
          <p:cNvPr id="30" name="Text 28"/>
          <p:cNvSpPr/>
          <p:nvPr/>
        </p:nvSpPr>
        <p:spPr>
          <a:xfrm>
            <a:off x="6108192" y="1682496"/>
            <a:ext cx="2560320" cy="420624"/>
          </a:xfrm>
          <a:prstGeom prst="rect">
            <a:avLst/>
          </a:prstGeom>
          <a:noFill/>
          <a:ln/>
        </p:spPr>
        <p:txBody>
          <a:bodyPr wrap="square" lIns="0" tIns="0" rIns="0" bIns="0" rtlCol="0" anchor="ctr"/>
          <a:lstStyle/>
          <a:p>
            <a:pPr marL="0" indent="0">
              <a:buNone/>
            </a:pPr>
            <a:r>
              <a:rPr lang="en-US" sz="1000" dirty="0">
                <a:solidFill>
                  <a:srgbClr val="374151"/>
                </a:solidFill>
              </a:rPr>
              <a:t>☐  ¿Evalué en X_test UNA SOLA VEZ, al final de todo?</a:t>
            </a:r>
            <a:endParaRPr lang="en-US" sz="1000" dirty="0"/>
          </a:p>
        </p:txBody>
      </p:sp>
      <p:sp>
        <p:nvSpPr>
          <p:cNvPr id="31" name="Shape 29"/>
          <p:cNvSpPr/>
          <p:nvPr/>
        </p:nvSpPr>
        <p:spPr>
          <a:xfrm>
            <a:off x="6016752" y="2212848"/>
            <a:ext cx="2743200" cy="493776"/>
          </a:xfrm>
          <a:prstGeom prst="rect">
            <a:avLst/>
          </a:prstGeom>
          <a:solidFill>
            <a:srgbClr val="FFFFFF"/>
          </a:solidFill>
          <a:ln w="12700">
            <a:solidFill>
              <a:srgbClr val="CBD5E1"/>
            </a:solidFill>
            <a:prstDash val="solid"/>
          </a:ln>
        </p:spPr>
        <p:txBody>
          <a:bodyPr/>
          <a:lstStyle/>
          <a:p>
            <a:endParaRPr lang="es-MX"/>
          </a:p>
        </p:txBody>
      </p:sp>
      <p:sp>
        <p:nvSpPr>
          <p:cNvPr id="32" name="Text 30"/>
          <p:cNvSpPr/>
          <p:nvPr/>
        </p:nvSpPr>
        <p:spPr>
          <a:xfrm>
            <a:off x="6108192" y="2249424"/>
            <a:ext cx="2560320" cy="420624"/>
          </a:xfrm>
          <a:prstGeom prst="rect">
            <a:avLst/>
          </a:prstGeom>
          <a:noFill/>
          <a:ln/>
        </p:spPr>
        <p:txBody>
          <a:bodyPr wrap="square" lIns="0" tIns="0" rIns="0" bIns="0" rtlCol="0" anchor="ctr"/>
          <a:lstStyle/>
          <a:p>
            <a:pPr marL="0" indent="0">
              <a:buNone/>
            </a:pPr>
            <a:r>
              <a:rPr lang="en-US" sz="1000" dirty="0">
                <a:solidFill>
                  <a:srgbClr val="374151"/>
                </a:solidFill>
              </a:rPr>
              <a:t>☐  ¿No ajusté nada después de ver el resultado del test?</a:t>
            </a:r>
            <a:endParaRPr lang="en-US" sz="1000" dirty="0"/>
          </a:p>
        </p:txBody>
      </p:sp>
      <p:sp>
        <p:nvSpPr>
          <p:cNvPr id="33" name="Shape 31"/>
          <p:cNvSpPr/>
          <p:nvPr/>
        </p:nvSpPr>
        <p:spPr>
          <a:xfrm>
            <a:off x="6016752" y="2779776"/>
            <a:ext cx="2743200" cy="493776"/>
          </a:xfrm>
          <a:prstGeom prst="rect">
            <a:avLst/>
          </a:prstGeom>
          <a:solidFill>
            <a:srgbClr val="F1F5F9"/>
          </a:solidFill>
          <a:ln w="12700">
            <a:solidFill>
              <a:srgbClr val="CBD5E1"/>
            </a:solidFill>
            <a:prstDash val="solid"/>
          </a:ln>
        </p:spPr>
        <p:txBody>
          <a:bodyPr/>
          <a:lstStyle/>
          <a:p>
            <a:endParaRPr lang="es-MX"/>
          </a:p>
        </p:txBody>
      </p:sp>
      <p:sp>
        <p:nvSpPr>
          <p:cNvPr id="34" name="Text 32"/>
          <p:cNvSpPr/>
          <p:nvPr/>
        </p:nvSpPr>
        <p:spPr>
          <a:xfrm>
            <a:off x="6108192" y="2816352"/>
            <a:ext cx="2560320" cy="420624"/>
          </a:xfrm>
          <a:prstGeom prst="rect">
            <a:avLst/>
          </a:prstGeom>
          <a:noFill/>
          <a:ln/>
        </p:spPr>
        <p:txBody>
          <a:bodyPr wrap="square" lIns="0" tIns="0" rIns="0" bIns="0" rtlCol="0" anchor="ctr"/>
          <a:lstStyle/>
          <a:p>
            <a:pPr marL="0" indent="0">
              <a:buNone/>
            </a:pPr>
            <a:r>
              <a:rPr lang="en-US" sz="1000" dirty="0">
                <a:solidFill>
                  <a:srgbClr val="374151"/>
                </a:solidFill>
              </a:rPr>
              <a:t>☐  ¿Reporto MAE del test set como resultado final?</a:t>
            </a:r>
            <a:endParaRPr lang="en-US" sz="1000" dirty="0"/>
          </a:p>
        </p:txBody>
      </p:sp>
      <p:sp>
        <p:nvSpPr>
          <p:cNvPr id="35" name="Shape 33"/>
          <p:cNvSpPr/>
          <p:nvPr/>
        </p:nvSpPr>
        <p:spPr>
          <a:xfrm>
            <a:off x="274320" y="4626864"/>
            <a:ext cx="8595360" cy="201168"/>
          </a:xfrm>
          <a:prstGeom prst="rect">
            <a:avLst/>
          </a:prstGeom>
          <a:solidFill>
            <a:srgbClr val="F0FDF4"/>
          </a:solidFill>
          <a:ln w="12700">
            <a:solidFill>
              <a:srgbClr val="059669"/>
            </a:solidFill>
            <a:prstDash val="solid"/>
          </a:ln>
        </p:spPr>
        <p:txBody>
          <a:bodyPr/>
          <a:lstStyle/>
          <a:p>
            <a:endParaRPr lang="es-MX"/>
          </a:p>
        </p:txBody>
      </p:sp>
      <p:sp>
        <p:nvSpPr>
          <p:cNvPr id="36" name="Shape 34"/>
          <p:cNvSpPr/>
          <p:nvPr/>
        </p:nvSpPr>
        <p:spPr>
          <a:xfrm>
            <a:off x="274320" y="4626864"/>
            <a:ext cx="64008" cy="201168"/>
          </a:xfrm>
          <a:prstGeom prst="rect">
            <a:avLst/>
          </a:prstGeom>
          <a:solidFill>
            <a:srgbClr val="059669"/>
          </a:solidFill>
          <a:ln w="12700">
            <a:solidFill>
              <a:srgbClr val="059669"/>
            </a:solidFill>
            <a:prstDash val="solid"/>
          </a:ln>
        </p:spPr>
        <p:txBody>
          <a:bodyPr/>
          <a:lstStyle/>
          <a:p>
            <a:endParaRPr lang="es-MX"/>
          </a:p>
        </p:txBody>
      </p:sp>
      <p:sp>
        <p:nvSpPr>
          <p:cNvPr id="37" name="Text 35"/>
          <p:cNvSpPr/>
          <p:nvPr/>
        </p:nvSpPr>
        <p:spPr>
          <a:xfrm>
            <a:off x="402336" y="4663440"/>
            <a:ext cx="8339328" cy="128016"/>
          </a:xfrm>
          <a:prstGeom prst="rect">
            <a:avLst/>
          </a:prstGeom>
          <a:noFill/>
          <a:ln/>
        </p:spPr>
        <p:txBody>
          <a:bodyPr wrap="square" lIns="0" tIns="0" rIns="0" bIns="0" rtlCol="0" anchor="ctr"/>
          <a:lstStyle/>
          <a:p>
            <a:pPr marL="0" indent="0">
              <a:buNone/>
            </a:pPr>
            <a:r>
              <a:rPr lang="en-US" sz="1000" dirty="0">
                <a:solidFill>
                  <a:srgbClr val="166534"/>
                </a:solidFill>
              </a:rPr>
              <a:t>✅  Si respondiste SÍ a todas las preguntas, las métricas que reportas son estimaciones honestas del desempeño real en producción.</a:t>
            </a:r>
            <a:endParaRPr lang="en-US" sz="1000" dirty="0"/>
          </a:p>
        </p:txBody>
      </p:sp>
      <p:sp>
        <p:nvSpPr>
          <p:cNvPr id="38" name="Shape 36"/>
          <p:cNvSpPr/>
          <p:nvPr/>
        </p:nvSpPr>
        <p:spPr>
          <a:xfrm>
            <a:off x="0" y="4873752"/>
            <a:ext cx="9144000" cy="269748"/>
          </a:xfrm>
          <a:prstGeom prst="rect">
            <a:avLst/>
          </a:prstGeom>
          <a:solidFill>
            <a:srgbClr val="312E81"/>
          </a:solidFill>
          <a:ln w="12700">
            <a:solidFill>
              <a:srgbClr val="312E81"/>
            </a:solidFill>
            <a:prstDash val="solid"/>
          </a:ln>
        </p:spPr>
        <p:txBody>
          <a:bodyPr/>
          <a:lstStyle/>
          <a:p>
            <a:endParaRPr lang="es-MX"/>
          </a:p>
        </p:txBody>
      </p:sp>
      <p:sp>
        <p:nvSpPr>
          <p:cNvPr id="39" name="Text 37"/>
          <p:cNvSpPr/>
          <p:nvPr/>
        </p:nvSpPr>
        <p:spPr>
          <a:xfrm>
            <a:off x="274320" y="4873752"/>
            <a:ext cx="6858000" cy="269748"/>
          </a:xfrm>
          <a:prstGeom prst="rect">
            <a:avLst/>
          </a:prstGeom>
          <a:noFill/>
          <a:ln/>
        </p:spPr>
        <p:txBody>
          <a:bodyPr wrap="square" lIns="0" tIns="0" rIns="0" bIns="0" rtlCol="0" anchor="ctr"/>
          <a:lstStyle/>
          <a:p>
            <a:pPr marL="0" indent="0">
              <a:buNone/>
            </a:pPr>
            <a:r>
              <a:rPr lang="en-US" sz="850" dirty="0">
                <a:solidFill>
                  <a:srgbClr val="94A3B8"/>
                </a:solidFill>
              </a:rPr>
              <a:t>Diplomado ML en Seguros  ·  Subtema 1  ·  Partición de Datos</a:t>
            </a:r>
            <a:endParaRPr lang="en-US" sz="850" dirty="0"/>
          </a:p>
        </p:txBody>
      </p:sp>
      <p:sp>
        <p:nvSpPr>
          <p:cNvPr id="40" name="Shape 38"/>
          <p:cNvSpPr/>
          <p:nvPr/>
        </p:nvSpPr>
        <p:spPr>
          <a:xfrm>
            <a:off x="7589520" y="4873752"/>
            <a:ext cx="1554480" cy="269748"/>
          </a:xfrm>
          <a:prstGeom prst="rect">
            <a:avLst/>
          </a:prstGeom>
          <a:solidFill>
            <a:srgbClr val="7C3AED"/>
          </a:solidFill>
          <a:ln w="12700">
            <a:solidFill>
              <a:srgbClr val="7C3AED"/>
            </a:solidFill>
            <a:prstDash val="solid"/>
          </a:ln>
        </p:spPr>
        <p:txBody>
          <a:bodyPr/>
          <a:lstStyle/>
          <a:p>
            <a:endParaRPr lang="es-MX"/>
          </a:p>
        </p:txBody>
      </p:sp>
      <p:sp>
        <p:nvSpPr>
          <p:cNvPr id="41" name="Text 39"/>
          <p:cNvSpPr/>
          <p:nvPr/>
        </p:nvSpPr>
        <p:spPr>
          <a:xfrm>
            <a:off x="7589520" y="4873752"/>
            <a:ext cx="1554480" cy="269748"/>
          </a:xfrm>
          <a:prstGeom prst="rect">
            <a:avLst/>
          </a:prstGeom>
          <a:noFill/>
          <a:ln/>
        </p:spPr>
        <p:txBody>
          <a:bodyPr wrap="square" lIns="0" tIns="0" rIns="0" bIns="0" rtlCol="0" anchor="ctr"/>
          <a:lstStyle/>
          <a:p>
            <a:pPr marL="0" indent="0" algn="ctr">
              <a:buNone/>
            </a:pPr>
            <a:r>
              <a:rPr lang="en-US" sz="850" dirty="0">
                <a:solidFill>
                  <a:srgbClr val="FFFFFF"/>
                </a:solidFill>
              </a:rPr>
              <a:t>11 / 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6181</TotalTime>
  <Words>2880</Words>
  <Application>Microsoft Office PowerPoint</Application>
  <PresentationFormat>Presentación en pantalla (16:9)</PresentationFormat>
  <Paragraphs>302</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Karla Eugenia Medina Diaz</cp:lastModifiedBy>
  <cp:revision>2</cp:revision>
  <dcterms:created xsi:type="dcterms:W3CDTF">2026-07-25T20:43:36Z</dcterms:created>
  <dcterms:modified xsi:type="dcterms:W3CDTF">2026-07-30T03:47:19Z</dcterms:modified>
</cp:coreProperties>
</file>
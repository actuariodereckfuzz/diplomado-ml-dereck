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5"/>
  </p:notesMasterIdLst>
  <p:sldIdLst>
    <p:sldId id="256" r:id="rId2"/>
    <p:sldId id="257" r:id="rId3"/>
    <p:sldId id="27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7853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92" y="-1"/>
            <a:ext cx="9144001" cy="51435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72000" cy="51434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37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01417"/>
            <a:ext cx="4572000" cy="3342084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050" dirty="0"/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8/18/2026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8252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41712"/>
            <a:ext cx="7372513" cy="54864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8/18/2026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6314" y="1508760"/>
            <a:ext cx="8551926" cy="3291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296037" y="1278627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7550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51435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0"/>
            <a:ext cx="4572000" cy="51434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31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1729" y="3173504"/>
            <a:ext cx="5392271" cy="1969996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050" dirty="0"/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715000" y="157734"/>
            <a:ext cx="1104901" cy="274320"/>
          </a:xfrm>
        </p:spPr>
        <p:txBody>
          <a:bodyPr/>
          <a:lstStyle/>
          <a:p>
            <a:fld id="{21560963-1EEA-4BDE-8FF9-3FEE13B5D43C}" type="datetime1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873691" y="157734"/>
            <a:ext cx="1636013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85784" y="157734"/>
            <a:ext cx="336604" cy="274320"/>
          </a:xfrm>
        </p:spPr>
        <p:txBody>
          <a:bodyPr/>
          <a:lstStyle/>
          <a:p>
            <a:fld id="{5E0677F5-4A8A-4BF1-96BE-3BAE8FBAFE2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0089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" y="849910"/>
            <a:ext cx="8723609" cy="1369256"/>
          </a:xfrm>
        </p:spPr>
        <p:txBody>
          <a:bodyPr anchor="t"/>
          <a:lstStyle>
            <a:lvl1pPr>
              <a:defRPr sz="375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313" y="4013420"/>
            <a:ext cx="5426966" cy="578457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350" dirty="0"/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8/18/2026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2574091"/>
            <a:ext cx="9144000" cy="1368775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4453975" y="-747639"/>
            <a:ext cx="1368776" cy="8011274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17999358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275417" y="275419"/>
            <a:ext cx="5149767" cy="4598932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483461" y="1730498"/>
            <a:ext cx="4896464" cy="19295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3162082"/>
            <a:ext cx="6665474" cy="1983400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875" y="714375"/>
            <a:ext cx="6665474" cy="4227599"/>
          </a:xfrm>
        </p:spPr>
        <p:txBody>
          <a:bodyPr anchor="b">
            <a:norm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6124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1338" y="0"/>
            <a:ext cx="5700139" cy="51435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1" y="2557085"/>
            <a:ext cx="5707226" cy="2586415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296112" y="-281862"/>
            <a:ext cx="5143500" cy="5707226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891460" y="313483"/>
            <a:ext cx="4138584" cy="5521450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35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7" y="1285874"/>
            <a:ext cx="3720463" cy="3542157"/>
          </a:xfrm>
        </p:spPr>
        <p:txBody>
          <a:bodyPr/>
          <a:lstStyle>
            <a:lvl1pPr>
              <a:defRPr sz="37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8/18/2026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932026" y="157586"/>
            <a:ext cx="1881963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4174" y="935214"/>
            <a:ext cx="2553208" cy="3692389"/>
          </a:xfrm>
        </p:spPr>
        <p:txBody>
          <a:bodyPr vert="horz" lIns="91440" tIns="45720" rIns="91440" bIns="45720" rtlCol="0" anchor="t">
            <a:normAutofit/>
          </a:bodyPr>
          <a:lstStyle>
            <a:lvl1pPr marL="342900" indent="-342900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200" dirty="0"/>
            </a:lvl1pPr>
            <a:lvl2pPr marL="428625" indent="-257175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2pPr>
            <a:lvl3pPr marL="600075" indent="-257175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3pPr>
            <a:lvl4pPr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4pPr>
            <a:lvl5pPr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6001920" y="571500"/>
            <a:ext cx="288036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571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0965" y="-2"/>
            <a:ext cx="9133034" cy="3369303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542928" y="871467"/>
            <a:ext cx="8601073" cy="2497835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0966" y="-5599"/>
            <a:ext cx="4582966" cy="1875307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" y="1101693"/>
            <a:ext cx="3822132" cy="1845981"/>
          </a:xfrm>
        </p:spPr>
        <p:txBody>
          <a:bodyPr/>
          <a:lstStyle>
            <a:lvl1pPr>
              <a:defRPr sz="37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14325" y="157586"/>
            <a:ext cx="1548067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515BC3-2A9C-497B-B82C-246EEDDDF89C}" type="datetime1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57750" y="157586"/>
            <a:ext cx="2438631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65537" y="871466"/>
            <a:ext cx="3118619" cy="2076209"/>
          </a:xfrm>
        </p:spPr>
        <p:txBody>
          <a:bodyPr vert="horz" lIns="91440" tIns="45720" rIns="91440" bIns="45720" rtlCol="0" anchor="b">
            <a:normAutofit/>
          </a:bodyPr>
          <a:lstStyle>
            <a:lvl1pPr marL="342900" indent="-342900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200" dirty="0"/>
            </a:lvl1pPr>
            <a:lvl2pPr marL="428625" indent="-257175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2pPr>
            <a:lvl3pPr marL="600075" indent="-257175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3pPr>
            <a:lvl4pPr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4pPr>
            <a:lvl5pPr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3369302"/>
            <a:ext cx="9144000" cy="1774198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847760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9144000" cy="5152184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295592"/>
            <a:ext cx="9144001" cy="3847906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3213787" y="-778030"/>
            <a:ext cx="5152184" cy="6708243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2690039" y="-511279"/>
            <a:ext cx="5087374" cy="6222179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35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296037" y="4575810"/>
            <a:ext cx="8551926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9144000" cy="3961068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3" y="685800"/>
            <a:ext cx="5623560" cy="196596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6313" y="2926080"/>
            <a:ext cx="5623560" cy="1371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9629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293851" y="580386"/>
            <a:ext cx="8850149" cy="2363927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580385"/>
            <a:ext cx="8269941" cy="1225703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175" y="1438608"/>
            <a:ext cx="2204390" cy="157261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E08220-0958-4EB6-84AC-FBA5654D4035}" type="datetime1">
              <a:rPr lang="en-US" smtClean="0"/>
              <a:t>8/18/2026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00501" y="157586"/>
            <a:ext cx="2204618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00500" y="1438609"/>
            <a:ext cx="3743325" cy="309977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72799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14375"/>
            <a:ext cx="2499588" cy="1186434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226314" y="154490"/>
            <a:ext cx="822960" cy="274320"/>
          </a:xfrm>
        </p:spPr>
        <p:txBody>
          <a:bodyPr/>
          <a:lstStyle/>
          <a:p>
            <a:fld id="{37D881E9-FF16-48A7-B8AA-A17AAAEAD6E1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120784" y="155468"/>
            <a:ext cx="1229529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355570" y="157586"/>
            <a:ext cx="370332" cy="274320"/>
          </a:xfrm>
        </p:spPr>
        <p:txBody>
          <a:bodyPr/>
          <a:lstStyle/>
          <a:p>
            <a:fld id="{5E0677F5-4A8A-4BF1-96BE-3BAE8FBAFE2E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6314" y="2324862"/>
            <a:ext cx="2499588" cy="2290572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171450" indent="0">
              <a:buNone/>
              <a:defRPr sz="1050"/>
            </a:lvl2pPr>
            <a:lvl3pPr marL="342900" indent="0">
              <a:buNone/>
              <a:defRPr sz="1050"/>
            </a:lvl3pPr>
            <a:lvl4pPr marL="514350" indent="0">
              <a:buNone/>
              <a:defRPr sz="1050"/>
            </a:lvl4pPr>
            <a:lvl5pPr marL="685800" indent="0">
              <a:buNone/>
              <a:defRPr sz="105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114675" y="0"/>
            <a:ext cx="6029325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297966" y="2108458"/>
            <a:ext cx="2434604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6042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3211538"/>
            <a:ext cx="2558219" cy="1149732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9144000" cy="289805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0421" y="3211538"/>
            <a:ext cx="5257799" cy="114973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900"/>
            </a:lvl3pPr>
            <a:lvl4pPr marL="514350" indent="0">
              <a:buFont typeface="Arial" panose="020B0604020202020204" pitchFamily="34" charset="0"/>
              <a:buNone/>
              <a:defRPr sz="825"/>
            </a:lvl4pPr>
            <a:lvl5pPr marL="685800" indent="0">
              <a:buFont typeface="Arial" panose="020B0604020202020204" pitchFamily="34" charset="0"/>
              <a:buNone/>
              <a:defRPr sz="788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6314" y="4697730"/>
            <a:ext cx="1319466" cy="274320"/>
          </a:xfrm>
        </p:spPr>
        <p:txBody>
          <a:bodyPr/>
          <a:lstStyle/>
          <a:p>
            <a:fld id="{862C1B48-5712-40E8-928E-1136C5D12A17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0420" y="4697730"/>
            <a:ext cx="1881963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5243" y="4697730"/>
            <a:ext cx="454106" cy="274320"/>
          </a:xfrm>
        </p:spPr>
        <p:txBody>
          <a:bodyPr/>
          <a:lstStyle/>
          <a:p>
            <a:fld id="{5E0677F5-4A8A-4BF1-96BE-3BAE8FBAFE2E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296037" y="4571395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2539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5219699" y="4312260"/>
            <a:ext cx="3924300" cy="83124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988" y="716858"/>
            <a:ext cx="3086100" cy="933038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5219700" cy="51435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602073" y="157586"/>
            <a:ext cx="1114425" cy="274320"/>
          </a:xfrm>
        </p:spPr>
        <p:txBody>
          <a:bodyPr/>
          <a:lstStyle/>
          <a:p>
            <a:fld id="{2BDF39F2-6977-4B14-98E3-4DFE82804B0D}" type="datetime1">
              <a:rPr lang="en-US" smtClean="0"/>
              <a:t>8/18/2026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032072" y="157586"/>
            <a:ext cx="1395348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18988" y="2093275"/>
            <a:ext cx="3086100" cy="25374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5696581" y="1856817"/>
            <a:ext cx="3008507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5219699" y="4312260"/>
            <a:ext cx="3924300" cy="83124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77143545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63265"/>
            <a:ext cx="2558219" cy="1149732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1B48-5712-40E8-928E-1136C5D12A17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0420" y="157586"/>
            <a:ext cx="1881963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0421" y="763265"/>
            <a:ext cx="5257799" cy="17830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900"/>
            </a:lvl3pPr>
            <a:lvl4pPr marL="514350" indent="0">
              <a:buFont typeface="Arial" panose="020B0604020202020204" pitchFamily="34" charset="0"/>
              <a:buNone/>
              <a:defRPr sz="825"/>
            </a:lvl4pPr>
            <a:lvl5pPr marL="685800" indent="0">
              <a:buFont typeface="Arial" panose="020B0604020202020204" pitchFamily="34" charset="0"/>
              <a:buNone/>
              <a:defRPr sz="788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2878282"/>
            <a:ext cx="9144000" cy="2265218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8070423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1028700"/>
            <a:ext cx="2606040" cy="1714500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23EC03A-74B3-46B6-A70D-0B367EABDC7F}" type="datetime1">
              <a:rPr lang="en-US" smtClean="0"/>
              <a:t>8/18/2026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43276" y="157586"/>
            <a:ext cx="2144480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5708680" y="157586"/>
            <a:ext cx="454106" cy="274320"/>
          </a:xfrm>
        </p:spPr>
        <p:txBody>
          <a:bodyPr/>
          <a:lstStyle/>
          <a:p>
            <a:fld id="{5E0677F5-4A8A-4BF1-96BE-3BAE8FBAFE2E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43275" y="1028701"/>
            <a:ext cx="2526584" cy="3526457"/>
          </a:xfrm>
        </p:spPr>
        <p:txBody>
          <a:bodyPr rIns="45720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8284" y="1"/>
            <a:ext cx="2595716" cy="515015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3578304"/>
            <a:ext cx="3655996" cy="1571854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2889682"/>
            <a:ext cx="2117325" cy="2267135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297752" y="563485"/>
            <a:ext cx="579501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425492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5" y="714375"/>
            <a:ext cx="5063345" cy="938153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226314" y="152897"/>
            <a:ext cx="1714500" cy="274320"/>
          </a:xfrm>
        </p:spPr>
        <p:txBody>
          <a:bodyPr/>
          <a:lstStyle/>
          <a:p>
            <a:fld id="{D6F66A7C-2450-4D43-AEC7-53AFAE9E8A03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943100" y="152897"/>
            <a:ext cx="2081252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85502" y="152897"/>
            <a:ext cx="648596" cy="274320"/>
          </a:xfrm>
        </p:spPr>
        <p:txBody>
          <a:bodyPr/>
          <a:lstStyle/>
          <a:p>
            <a:fld id="{5E0677F5-4A8A-4BF1-96BE-3BAE8FBAFE2E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6314" y="1807888"/>
            <a:ext cx="5066636" cy="285555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15000" y="0"/>
            <a:ext cx="3429000" cy="51435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2779573"/>
            <a:ext cx="5715000" cy="2363927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4197834"/>
            <a:ext cx="5715000" cy="945666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297752" y="563485"/>
            <a:ext cx="4965192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39870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2125979"/>
            <a:ext cx="2260787" cy="2194560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3347" y="0"/>
            <a:ext cx="9157347" cy="181507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0420" y="2125980"/>
            <a:ext cx="5400675" cy="2194560"/>
          </a:xfrm>
        </p:spPr>
        <p:txBody>
          <a:bodyPr>
            <a:noAutofit/>
          </a:bodyPr>
          <a:lstStyle>
            <a:lvl1pPr marL="214313" indent="-214313">
              <a:buFont typeface="Arial" panose="020B0604020202020204" pitchFamily="34" charset="0"/>
              <a:buNone/>
              <a:defRPr sz="1350"/>
            </a:lvl1pPr>
            <a:lvl2pPr marL="385763" indent="-214313">
              <a:buFont typeface="Arial" panose="020B0604020202020204" pitchFamily="34" charset="0"/>
              <a:buNone/>
              <a:defRPr sz="1200"/>
            </a:lvl2pPr>
            <a:lvl3pPr marL="557213" indent="-214313">
              <a:buFont typeface="Arial" panose="020B0604020202020204" pitchFamily="34" charset="0"/>
              <a:buNone/>
              <a:defRPr sz="1050"/>
            </a:lvl3pPr>
            <a:lvl4pPr marL="642938" indent="-128588">
              <a:buFont typeface="Arial" panose="020B0604020202020204" pitchFamily="34" charset="0"/>
              <a:buNone/>
              <a:defRPr sz="900"/>
            </a:lvl4pPr>
            <a:lvl5pPr marL="814388" indent="-128588">
              <a:buFont typeface="Arial" panose="020B0604020202020204" pitchFamily="34" charset="0"/>
              <a:buNone/>
              <a:defRPr sz="825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226314" y="4705525"/>
            <a:ext cx="2260787" cy="274320"/>
          </a:xfrm>
        </p:spPr>
        <p:txBody>
          <a:bodyPr/>
          <a:lstStyle/>
          <a:p>
            <a:fld id="{FBC323F5-F813-45BA-B261-A7C41DB03AE5}" type="datetime1">
              <a:rPr lang="en-US" smtClean="0"/>
              <a:t>8/18/2026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60420" y="4705525"/>
            <a:ext cx="2371725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469630" y="4705525"/>
            <a:ext cx="426688" cy="274320"/>
          </a:xfrm>
        </p:spPr>
        <p:txBody>
          <a:bodyPr/>
          <a:lstStyle/>
          <a:p>
            <a:fld id="{5E0677F5-4A8A-4BF1-96BE-3BAE8FBAFE2E}" type="slidenum">
              <a:rPr lang="en-US" smtClean="0"/>
              <a:t>‹Nº›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296037" y="4571395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20156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58200"/>
            <a:ext cx="2630564" cy="1048871"/>
          </a:xfrm>
        </p:spPr>
        <p:txBody>
          <a:bodyPr anchor="t">
            <a:normAutofit/>
          </a:bodyPr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1">
              <a:rPr lang="en-US" smtClean="0"/>
              <a:t>8/18/2026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699510" y="157586"/>
            <a:ext cx="1881963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8514" y="2010336"/>
            <a:ext cx="2518364" cy="274656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1628776" y="4385299"/>
            <a:ext cx="7515224" cy="758201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5825523" y="1825022"/>
            <a:ext cx="3708025" cy="292892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3320118" y="806824"/>
            <a:ext cx="0" cy="3708026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99509" y="758199"/>
            <a:ext cx="4869180" cy="39090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8660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64859"/>
            <a:ext cx="2564535" cy="1392415"/>
          </a:xfrm>
        </p:spPr>
        <p:txBody>
          <a:bodyPr anchor="t">
            <a:normAutofit/>
          </a:bodyPr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1">
              <a:rPr lang="en-US" smtClean="0"/>
              <a:t>8/18/2026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359227" y="157586"/>
            <a:ext cx="1881963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6792" y="2283781"/>
            <a:ext cx="2504057" cy="247311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59226" y="764858"/>
            <a:ext cx="5486400" cy="41833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45313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49" y="3680709"/>
            <a:ext cx="3990214" cy="1079155"/>
          </a:xfrm>
        </p:spPr>
        <p:txBody>
          <a:bodyPr anchor="t"/>
          <a:lstStyle>
            <a:lvl1pPr>
              <a:lnSpc>
                <a:spcPct val="100000"/>
              </a:lnSpc>
              <a:defRPr sz="15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77AD4-7B4F-4A76-ADEB-9CF6601338DB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5978" y="575073"/>
            <a:ext cx="8490347" cy="2616994"/>
          </a:xfrm>
        </p:spPr>
        <p:txBody>
          <a:bodyPr/>
          <a:lstStyle>
            <a:lvl1pPr>
              <a:lnSpc>
                <a:spcPct val="85000"/>
              </a:lnSpc>
              <a:defRPr sz="18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296037" y="3496682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370338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9144002" cy="51435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2762599" y="0"/>
            <a:ext cx="6381401" cy="51435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252806" y="-1252806"/>
            <a:ext cx="5619408" cy="812502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72550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3773806" y="-15252"/>
            <a:ext cx="5370194" cy="5158752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6721" y="2028435"/>
            <a:ext cx="9137279" cy="3115066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0CC3F-E257-4F6E-9E6A-B96D887699EC}" type="datetime1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5740" y="2028709"/>
            <a:ext cx="7350919" cy="2653904"/>
          </a:xfrm>
        </p:spPr>
        <p:txBody>
          <a:bodyPr anchor="b"/>
          <a:lstStyle>
            <a:lvl1pPr>
              <a:lnSpc>
                <a:spcPct val="100000"/>
              </a:lnSpc>
              <a:defRPr sz="4050"/>
            </a:lvl1pPr>
            <a:lvl2pPr>
              <a:lnSpc>
                <a:spcPct val="100000"/>
              </a:lnSpc>
              <a:defRPr sz="3600"/>
            </a:lvl2pPr>
            <a:lvl3pPr>
              <a:lnSpc>
                <a:spcPct val="100000"/>
              </a:lnSpc>
              <a:defRPr sz="3300"/>
            </a:lvl3pPr>
            <a:lvl4pPr>
              <a:lnSpc>
                <a:spcPct val="100000"/>
              </a:lnSpc>
              <a:defRPr sz="3000"/>
            </a:lvl4pPr>
            <a:lvl5pPr>
              <a:lnSpc>
                <a:spcPct val="100000"/>
              </a:lnSpc>
              <a:defRPr sz="27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5024800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896059"/>
            <a:ext cx="9144000" cy="2258083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000254" y="-2000247"/>
            <a:ext cx="5143497" cy="914399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3286125" y="-3280077"/>
            <a:ext cx="2571750" cy="9131903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0175" y="3725839"/>
            <a:ext cx="6363081" cy="789011"/>
          </a:xfrm>
        </p:spPr>
        <p:txBody>
          <a:bodyPr anchor="ctr">
            <a:normAutofit/>
          </a:bodyPr>
          <a:lstStyle>
            <a:lvl1pPr marL="102870" indent="-102870">
              <a:lnSpc>
                <a:spcPct val="100000"/>
              </a:lnSpc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DAA3E-BE52-42BC-99E8-CCCB81A57ABD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00175" y="1054289"/>
            <a:ext cx="6363081" cy="2315717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000" b="0" dirty="0">
                <a:solidFill>
                  <a:schemeClr val="tx1"/>
                </a:solidFill>
              </a:defRPr>
            </a:lvl1pPr>
            <a:lvl2pPr marL="171450" indent="0">
              <a:lnSpc>
                <a:spcPct val="100000"/>
              </a:lnSpc>
              <a:buNone/>
              <a:defRPr lang="en-US" sz="3000" b="0" dirty="0">
                <a:solidFill>
                  <a:schemeClr val="tx1"/>
                </a:solidFill>
              </a:defRPr>
            </a:lvl2pPr>
            <a:lvl3pPr marL="342900" indent="0">
              <a:lnSpc>
                <a:spcPct val="100000"/>
              </a:lnSpc>
              <a:buNone/>
              <a:defRPr lang="en-US" sz="3000" b="0" dirty="0">
                <a:solidFill>
                  <a:schemeClr val="tx1"/>
                </a:solidFill>
              </a:defRPr>
            </a:lvl3pPr>
            <a:lvl4pPr marL="514350" indent="0">
              <a:lnSpc>
                <a:spcPct val="100000"/>
              </a:lnSpc>
              <a:buNone/>
              <a:defRPr lang="en-US" sz="3000" b="0" dirty="0">
                <a:solidFill>
                  <a:schemeClr val="tx1"/>
                </a:solidFill>
              </a:defRPr>
            </a:lvl4pPr>
            <a:lvl5pPr marL="685800" indent="0">
              <a:lnSpc>
                <a:spcPct val="100000"/>
              </a:lnSpc>
              <a:buNone/>
              <a:defRPr lang="en-US" sz="27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1557964" y="3608110"/>
            <a:ext cx="6205292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2182734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71500"/>
            <a:ext cx="5259664" cy="1036074"/>
          </a:xfrm>
        </p:spPr>
        <p:txBody>
          <a:bodyPr anchor="t">
            <a:noAutofit/>
          </a:bodyPr>
          <a:lstStyle>
            <a:lvl1pPr>
              <a:defRPr sz="33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1491A9-BF26-4517-AB22-6183D453A902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‹Nº›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296037" y="2274728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3573781" y="-426721"/>
            <a:ext cx="1996439" cy="9144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3387090" y="-613411"/>
            <a:ext cx="2369820" cy="9144002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7423" y="2571750"/>
            <a:ext cx="8378774" cy="18492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32426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3765692" y="-1822598"/>
            <a:ext cx="1368776" cy="890016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1943093"/>
            <a:ext cx="9144000" cy="1368775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5" y="571500"/>
            <a:ext cx="4571999" cy="1090880"/>
          </a:xfrm>
        </p:spPr>
        <p:txBody>
          <a:bodyPr anchor="t">
            <a:normAutofit/>
          </a:bodyPr>
          <a:lstStyle>
            <a:lvl1pPr>
              <a:defRPr sz="405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5024DF-23AF-419A-978A-28215FBF1E37}" type="datetime1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15001" y="2503170"/>
            <a:ext cx="2696378" cy="21214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350" dirty="0"/>
            </a:lvl1pPr>
            <a:lvl2pPr marL="171450" indent="0">
              <a:buNone/>
              <a:defRPr lang="en-US" sz="1050" dirty="0"/>
            </a:lvl2pPr>
            <a:lvl3pPr marL="342900" indent="0">
              <a:buNone/>
              <a:defRPr lang="en-US" sz="900" dirty="0"/>
            </a:lvl3pPr>
            <a:lvl4pPr marL="514350" indent="0">
              <a:buNone/>
              <a:defRPr lang="en-US" sz="825" dirty="0"/>
            </a:lvl4pPr>
            <a:lvl5pPr marL="685800" indent="0">
              <a:buNone/>
              <a:defRPr lang="en-US" sz="788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77901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48640"/>
            <a:ext cx="8143875" cy="5192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01CFC0-D171-4F9D-A610-2F47C1080058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219" y="1354931"/>
            <a:ext cx="3874294" cy="34397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042918" y="1354931"/>
            <a:ext cx="3743325" cy="34397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296037" y="1188720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62836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1" y="0"/>
            <a:ext cx="9143999" cy="1003300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48640"/>
            <a:ext cx="8689086" cy="4965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8/18/2026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314" y="1331834"/>
            <a:ext cx="3874770" cy="48006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none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219" y="1869360"/>
            <a:ext cx="3874294" cy="29252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40630" y="1331833"/>
            <a:ext cx="3874770" cy="48006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none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042918" y="1869360"/>
            <a:ext cx="3886430" cy="29252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296037" y="1184951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1" y="0"/>
            <a:ext cx="9143999" cy="1003300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672320997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54380"/>
            <a:ext cx="7429500" cy="600782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5908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1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89395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0545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651855"/>
            <a:ext cx="8703035" cy="726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6314" y="157586"/>
            <a:ext cx="13194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600" cap="none" spc="0" baseline="0"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16864" y="157586"/>
            <a:ext cx="188196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6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5243" y="157586"/>
            <a:ext cx="45410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600" cap="none" spc="0" baseline="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314" y="1535464"/>
            <a:ext cx="8703035" cy="3175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296037" y="563485"/>
            <a:ext cx="855192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3071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1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1714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3429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5143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038344"/>
            <a:ext cx="9144000" cy="100584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109728"/>
            <a:ext cx="3657600" cy="36576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 · TEMA 2  —  GLM CON PYTHON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Dato a la Tarifa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30428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primer GLM de frecuencia en Python 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2971800"/>
            <a:ext cx="2011680" cy="1828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1</a:t>
            </a:r>
            <a:r>
              <a:rPr lang="en-US" sz="14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22 de agosto de 2026   ·   4 horas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682496" cy="310896"/>
          </a:xfrm>
          <a:prstGeom prst="roundRect">
            <a:avLst>
              <a:gd name="adj" fmla="val 50000"/>
            </a:avLst>
          </a:prstGeom>
          <a:solidFill>
            <a:srgbClr val="122A44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exposición = censura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59152" y="3703320"/>
            <a:ext cx="1111910" cy="310896"/>
          </a:xfrm>
          <a:prstGeom prst="roundRect">
            <a:avLst>
              <a:gd name="adj" fmla="val 50000"/>
            </a:avLst>
          </a:prstGeom>
          <a:solidFill>
            <a:srgbClr val="122A44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2359152" y="3703320"/>
            <a:ext cx="11119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 de Pearson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99078" y="370332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22A44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3599078" y="3703320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Cameron-Trivedi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52974" y="3703320"/>
            <a:ext cx="1468526" cy="310896"/>
          </a:xfrm>
          <a:prstGeom prst="roundRect">
            <a:avLst>
              <a:gd name="adj" fmla="val 50000"/>
            </a:avLst>
          </a:prstGeom>
          <a:solidFill>
            <a:srgbClr val="122A44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052974" y="3703320"/>
            <a:ext cx="146852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 · Hurdle · BN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49517" y="3703320"/>
            <a:ext cx="1611173" cy="310896"/>
          </a:xfrm>
          <a:prstGeom prst="roundRect">
            <a:avLst>
              <a:gd name="adj" fmla="val 50000"/>
            </a:avLst>
          </a:prstGeom>
          <a:solidFill>
            <a:srgbClr val="122A44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649517" y="3703320"/>
            <a:ext cx="161117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 factors + IC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Diplomado: Machine Learning en Seguros · Facultad de Ciencias, UNAM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LA SESIÓN · 4 HORAS · 6 BLOQUES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 DataFrame a un Modelo Interpretado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8321040" cy="512064"/>
          </a:xfrm>
          <a:prstGeom prst="roundRect">
            <a:avLst>
              <a:gd name="adj" fmla="val 1428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54864" cy="512064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66928" y="158191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66928" y="1581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51790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menú del GLM en pricing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06240" y="1517904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error modelo? Frecuencia, severidad, agregado — y qué implica cada elección.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039112"/>
            <a:ext cx="8321040" cy="512064"/>
          </a:xfrm>
          <a:prstGeom prst="roundRect">
            <a:avLst>
              <a:gd name="adj" fmla="val 1428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411480" y="2039112"/>
            <a:ext cx="54864" cy="51206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566928" y="21579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66928" y="21579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09397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empírica + el problema de los bandings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06240" y="209397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tasa empírica con IC · por qué los cortes son criterio propio (y ML lo resuelve).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615184"/>
            <a:ext cx="8321040" cy="512064"/>
          </a:xfrm>
          <a:prstGeom prst="roundRect">
            <a:avLst>
              <a:gd name="adj" fmla="val 1428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411480" y="2615184"/>
            <a:ext cx="54864" cy="512064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566928" y="273405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566928" y="27340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26700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Exposición y censura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206240" y="267004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de seguros son censurados · offset vs weights.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191256"/>
            <a:ext cx="8321040" cy="512064"/>
          </a:xfrm>
          <a:prstGeom prst="roundRect">
            <a:avLst>
              <a:gd name="adj" fmla="val 1428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411480" y="3191256"/>
            <a:ext cx="54864" cy="512064"/>
          </a:xfrm>
          <a:prstGeom prst="roundRect">
            <a:avLst>
              <a:gd name="adj" fmla="val 50000"/>
            </a:avLst>
          </a:prstGeom>
          <a:solidFill>
            <a:srgbClr val="B07CC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566928" y="331012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B07CC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566928" y="3310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32461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y el puente empírico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206240" y="324612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GLM reproduce la tasa empírica exacta · construir el modelo, no asumirlo.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3767328"/>
            <a:ext cx="8321040" cy="512064"/>
          </a:xfrm>
          <a:prstGeom prst="roundRect">
            <a:avLst>
              <a:gd name="adj" fmla="val 1428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411480" y="376732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13A5B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566928" y="38862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3A5B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566928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0120" y="38221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supuesto de Poisson y las alternativas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206240" y="3822192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s²/m̄ a φ · Cameron-Trivedi · QuasiPoisson, ZIP, Hurdle, BN.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1480" y="4343400"/>
            <a:ext cx="8321040" cy="512064"/>
          </a:xfrm>
          <a:prstGeom prst="roundRect">
            <a:avLst>
              <a:gd name="adj" fmla="val 1428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411480" y="4343400"/>
            <a:ext cx="54864" cy="51206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566928" y="446227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566928" y="4462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60120" y="439826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el summary() + Python vs R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206240" y="4398264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output número por número · el mismo modelo en R.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REPASO RELÁMPAGO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GLM en Tres Componentes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de hoy se apoya en estos tres pilares — y en que la liga es log.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640080" y="18105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4008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2395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aleatorio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27249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distribución de la respuesta.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Hoy: N ~ Poisson(E·λ), conteo de siniestros.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7832" y="16002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3456432" y="18105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456432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56432" y="2395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sistemático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56432" y="27249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predictor lineal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 = β₀ + β₁x₁ + β₂x₂ + 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44184" y="16002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6272784" y="18105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272784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72784" y="2395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liga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272784" y="27249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media y predictor.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seguros: log(λ) = η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· EL MENÚ DEL GLM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</a:t>
            </a: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Aleatorio</a:t>
            </a: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¿Qué Error Puedo Modelar?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marco formal ya lo viste. Aquí, la decisión práctica: qué distribución y qué implica.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caracteriza a cada distribución es su función de varianza V(μ): cómo crece la varianza con la media.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1874520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2834640" y="187452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Var[Y] = φ · V(μ)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" y="26974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12648" y="28529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aleatorio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" y="34290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distribución de Y (familia exponencial).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27832" y="26974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429000" y="28529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sistemático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34290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 = β₀ + β₁x₁ + β₂x₂ + …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44184" y="26974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245352" y="28529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liga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45352" y="34290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g(μ) = η — en seguros, log.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44074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elección del error NO es estadística fina: define si estás modelando frecuencia, severidad o el agregado.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· EL MENÚ LEÍDO COMO PRICING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Distribución por Cada Rol de la Prima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8321040" cy="25603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Distribución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V(μ)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 en pricing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A8D8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Poisson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μ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FRECUENCIA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conteo; equidispersión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QuasiPoisson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φμ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Frecuencia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sobredispersión leve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Binomial Negativa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μ + μ²/α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Frecuencia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heterogeneidad no observada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ZIP / Hurdle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mezcla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Frecuencia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exceso de ceros estructurales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A8D8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Gamma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μ²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monto/siniestro; CV constante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Gaussiana Inversa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μ³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colas más pesadas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A8D8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Tweedie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μᵖ (1&lt;p&lt;2)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 PURA (agregado)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modela amount/expo con ceros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4343400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411480" y="4343400"/>
            <a:ext cx="54864" cy="50292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640080" y="44074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Hoy: </a:t>
            </a:r>
            <a:r>
              <a:rPr lang="en-US" sz="10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Frecuencia con Poisson</a:t>
            </a: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 Frecuencia × Severidad (2 GLM) da máxima trazabilidad CNSF; Tweedie es el atajo agregado — Sesión 2.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· LA LIGA LOG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Todo se Vuelve Multiplicativo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liga log convierte la suma de coeficientes en un producto de rating factors.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log(μ) = β₀ + β₁x₁ + β₂x₂ + …      ⟹      μ = e^β₀ · e^β₁x₁ · e^β₂x₂ · …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4231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e^β₀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base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categoría de referencia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27832" y="24231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410712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e^βⱼ &gt; 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10712" y="2971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Recargo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10712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nivel paga más que la base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44184" y="24231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227064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e^βⱼ &lt; 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27064" y="2971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Descuento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27064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nivel paga menos que la base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84048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411480" y="3840480"/>
            <a:ext cx="54864" cy="77724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para nota técnica: cada factor con su intervalo de confianza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23367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con IC 95%:   </a:t>
            </a: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exp( β̂ⱼ ± 1.96 · SE(β̂ⱼ) )</a:t>
            </a:r>
            <a:r>
              <a:rPr lang="en-US" sz="11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— si el intervalo cruza 1, el factor no es confiable.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· EDA EMPÍRICA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Tasa Observada — y su Incertidumbre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punto no basta: cada tasa necesita su banda de confianza.</a:t>
            </a:r>
            <a:endParaRPr lang="en-US" sz="1200" dirty="0"/>
          </a:p>
        </p:txBody>
      </p:sp>
      <p:pic>
        <p:nvPicPr>
          <p:cNvPr id="9" name="Image 0" descr="figuras/fig_tasa_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4434840" cy="3108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74920" y="155448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5257800" y="16642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empírica del grupo 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230368" y="1993392"/>
            <a:ext cx="333756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5321808" y="1993392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freq_g = Σ nᵢ / Σ eᵢ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257800" y="2606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Ponderada por exposición — no por número de pólizas.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74920" y="310896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3"/>
          <p:cNvSpPr/>
          <p:nvPr/>
        </p:nvSpPr>
        <p:spPr>
          <a:xfrm>
            <a:off x="5074920" y="3108960"/>
            <a:ext cx="54864" cy="155448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5257800" y="32186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Intervalo al 95%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230368" y="3529584"/>
            <a:ext cx="333756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5321808" y="3529584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freq_g ± 1.96 · √(s²_g) / √(Σ eᵢ)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257800" y="4160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exposición ⟹ banda más ancha. Por eso los grupos chicos no son de fiar.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· EL PROBLEMA DE FONDO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Bandings Son Criterio Propio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 una regla que te diga dónde cortar una variable continua. Es la tensión central del pricing.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11480" y="1600200"/>
            <a:ext cx="54864" cy="137160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40080" y="1719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bandas capturan mejor la forma de la curva de riesgo.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4871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bandas  ⟹  ↑ detalle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600200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4572000" y="1600200"/>
            <a:ext cx="54864" cy="13716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800600" y="1719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Estabilidad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banda necesita suficiente exposición o su tasa es puro ruido.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4871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bandas  ⟹  ↓ exposición/banda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154680"/>
            <a:ext cx="8321040" cy="1463040"/>
          </a:xfrm>
          <a:prstGeom prst="roundRect">
            <a:avLst>
              <a:gd name="adj" fmla="val 5000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411480" y="3154680"/>
            <a:ext cx="54864" cy="1463040"/>
          </a:xfrm>
          <a:prstGeom prst="roundRect">
            <a:avLst>
              <a:gd name="adj" fmla="val 50000"/>
            </a:avLst>
          </a:prstGeom>
          <a:solidFill>
            <a:srgbClr val="B07CC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40080" y="327355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C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óptimo cerrado — y ahí entra el ML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6118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Encontrar el mejor punto de corte es precisamente lo que resolveremos con </a:t>
            </a: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árboles, GAMs y penalización</a:t>
            </a:r>
            <a:r>
              <a:rPr lang="en-US" sz="11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algoritmos que </a:t>
            </a:r>
            <a:r>
              <a:rPr lang="en-US" sz="1150" i="1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aprenden</a:t>
            </a:r>
            <a:r>
              <a:rPr lang="en-US" sz="11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los cortes en lugar de imponerlos a mano. Por hoy, exploramos bandings a criterio y justificamos la exposición por banda.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 · EXPOSICIÓN Y CENSURA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de Seguros Son Censurados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ninguna póliza se observa el año completo. La exposición mide esa observación parcial.</a:t>
            </a:r>
            <a:endParaRPr lang="en-US" sz="1200" dirty="0"/>
          </a:p>
        </p:txBody>
      </p:sp>
      <p:pic>
        <p:nvPicPr>
          <p:cNvPr id="9" name="Image 0" descr="figuras/fig_cens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4434840" cy="3108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74920" y="155448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5257800" y="1664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57800" y="19659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póliza vigente medio año (eᵢ = 0.5) es una observación parcial de su conteo anual. 0 siniestros en medio año ≠ 0 en un año completo.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74920" y="315468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5074920" y="3154680"/>
            <a:ext cx="54864" cy="150876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5257800" y="3264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230368" y="3566160"/>
            <a:ext cx="333756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5321808" y="3566160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Nᵢ ~ Poisson(eᵢ · λᵢ)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25780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log(eᵢλᵢ) = </a:t>
            </a: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log(eᵢ)</a:t>
            </a:r>
            <a:r>
              <a:rPr lang="en-US" sz="1050" dirty="0">
                <a:solidFill>
                  <a:srgbClr val="D7E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xᵢ'β    </a:t>
            </a:r>
            <a:r>
              <a:rPr lang="en-US" sz="1050" i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offset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 · DOS IMPLEMENTACIONES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Offset o Weights: El Mismo Modelo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término log(eᵢ) con coeficiente fijo en 1 se puede meter de dos formas equivalentes.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1 · Offset  (modelas el CONTEO)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4160520" cy="1371600"/>
          </a:xfrm>
          <a:prstGeom prst="roundRect">
            <a:avLst>
              <a:gd name="adj" fmla="val 4000"/>
            </a:avLst>
          </a:prstGeom>
          <a:solidFill>
            <a:srgbClr val="081020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48640" y="1984248"/>
            <a:ext cx="38862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smf.glm(</a:t>
            </a:r>
            <a:r>
              <a:rPr lang="en-US" sz="9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'num_siniestros ~ C(cob)'</a:t>
            </a: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family=sm.families.Poisson(),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>
                <a:solidFill>
                  <a:srgbClr val="7FD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</a:t>
            </a: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=np.log(expo)).fit()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17720" y="15727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2 · Weights  (modelas la FRECUENCIA)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87452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081020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754880" y="1984248"/>
            <a:ext cx="384048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smf.glm(</a:t>
            </a:r>
            <a:r>
              <a:rPr lang="en-US" sz="9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'frecuencia ~ C(cob)'</a:t>
            </a: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family=sm.families.Poisson(),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>
                <a:solidFill>
                  <a:srgbClr val="7FD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freq_weights</a:t>
            </a: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=expo).fit()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429000"/>
            <a:ext cx="8321040" cy="1188720"/>
          </a:xfrm>
          <a:prstGeom prst="roundRect">
            <a:avLst>
              <a:gd name="adj" fmla="val 6154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411480" y="3429000"/>
            <a:ext cx="54864" cy="118872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40080" y="353872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Mismos coeficientes — diferencia máxima 1.2 × 10⁻¹⁴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877056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producción se prefiere el </a:t>
            </a:r>
            <a:r>
              <a:rPr lang="en-US" sz="1100" b="1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offset</a:t>
            </a: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modela el conteo real (devianza y AIC interpretables como conteo), evita crear la columna frecuencia = N/E —inestable cuando la exposición es diminuta— y es el estándar para nota técnica.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4 · EL PUENTE EMPÍRICO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GLM No Es Magia: Reproduce lo Exacto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ecuaciones de score de un Poisson-log obligan a que predicho = observado por nivel.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02920" y="157276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nᵢ = Σ μ̂ᵢ = Σ eᵢ · e^η̂g    ⟹    e^η̂g = Σnᵢ / Σeᵢ = freq_g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77440"/>
          <a:ext cx="7498080" cy="1463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cobertura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RF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tasa GLM (base×RF)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tasa empírica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Amplia (ref)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0.13519512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0.13519512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Limitada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0.9445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0.12769803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0.12769803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RC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1.0790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0.14587932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0.14587932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11480" y="4160520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411480" y="4160520"/>
            <a:ext cx="54864" cy="50292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640080" y="422452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 máxima: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× 10⁻¹⁵</a:t>
            </a: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 En one-way el GLM es tu tabla empírica; su valor aparece al combinar variables de forma multiplicativa.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4 · CONSTRUIR, NO ASUMIR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Modelo Nulo al Modelo Completo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variable que agregamos baja la devianza (mejor ajuste) y el AIC lo penaliza por complejidad.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00200"/>
          <a:ext cx="7315200" cy="197510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Params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Deviance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Δ Deviance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AIC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89,880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127,574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 cobertura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89,811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−69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127,509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 edad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88,620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−1,191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126,330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 bonus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87,444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−1,175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125,165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 potencia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87,354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−91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125,082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914400" y="3566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Cifras reales de la cartera: cada variable relevante baja la devianza y el AIC.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3886200"/>
            <a:ext cx="8321040" cy="731520"/>
          </a:xfrm>
          <a:prstGeom prst="roundRect">
            <a:avLst>
              <a:gd name="adj" fmla="val 10000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9"/>
          <p:cNvSpPr/>
          <p:nvPr/>
        </p:nvSpPr>
        <p:spPr>
          <a:xfrm>
            <a:off x="411480" y="3886200"/>
            <a:ext cx="54864" cy="73152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640080" y="4069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Regla: </a:t>
            </a:r>
            <a:r>
              <a:rPr lang="en-US" sz="11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variable se queda si baja el AIC de forma clara. Un buen modelo se construye paso a paso — nunca se asume dado.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4 · EL MODELO COMPLETO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Variables, Validado por Celda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las 8 tarificadoras: rating factors con IC y predicho vs observado en cada segmento.</a:t>
            </a:r>
            <a:endParaRPr lang="en-US" sz="1200" dirty="0"/>
          </a:p>
        </p:txBody>
      </p:sp>
      <p:pic>
        <p:nvPicPr>
          <p:cNvPr id="9" name="Image 0" descr="figuras/fig_pred_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466344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57800" y="155448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5257800" y="1554480"/>
            <a:ext cx="54864" cy="137160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5440680" y="1664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Calibración global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40680" y="19751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predicho/observado =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1.0000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40680" y="22860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está bien calibrado en promedio y sigue la curva de riesgo por edad.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257800" y="306324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3"/>
          <p:cNvSpPr/>
          <p:nvPr/>
        </p:nvSpPr>
        <p:spPr>
          <a:xfrm>
            <a:off x="5257800" y="3063240"/>
            <a:ext cx="54864" cy="155448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5440680" y="3172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factors con IC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40680" y="34930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= </a:t>
            </a: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exp(β̂)</a:t>
            </a: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IC = </a:t>
            </a: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exp(β̂ ± 1.96 SE)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40680" y="39319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factor exportado a rating_factors_frecuencia.csv, listo para nota técnica.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5 · EL SUPUESTO DE POISSON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Equidispersión — y Cuando se Rompe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Poisson exige media = varianza. Si la varianza excede, hay sobredispersión.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03120" y="1554480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194560" y="155448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E[N | X] = Var[N | X] = λ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causas son actuariales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260604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594360" y="27249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Heterogeneidad no observada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de riesgo que no están en el modelo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27832" y="260604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410712" y="27249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10712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varios siniestros del mismo asegurado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44184" y="260604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227064" y="27249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Exceso de ceros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27064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muchos más ceros de los que Poisson predice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84048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411480" y="3840480"/>
            <a:ext cx="54864" cy="77724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consecuencia peligrosa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22452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errores estándar se subestiman → p-values demasiado pequeños → variables irrelevantes parecen significativas. Por eso hay que diagnosticarlo antes de confiar en el modelo.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5 · LA PREGUNTA CLAVE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s²/m̄ al Parámetro de Pearson: ¿Por Qué?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dispersión que todo actuario calcula primero — y por qué el código la calcula distinto.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554480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cociente de momentos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1965960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58368" y="19659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φ̂ = s² / m̄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5603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Correcto cuando TODAS las pólizas comparten la misma media. Con covariables, cada póliza tiene su μ̂ᵢ y una Var/media global mezcla lo sistemático con lo aleatorio.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55448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4617720" y="1554480"/>
            <a:ext cx="54864" cy="160020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800600" y="1664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generalización: residuo de Pearson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73168" y="1965960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864608" y="19659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φ̂ = (1/(n−p)) · Σ (yᵢ−μ̂ᵢ)² / μ̂ᵢ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5603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 cada residuo por su propia varianza modelada V(μ̂ᵢ)=μ̂ᵢ. Es Var/E generalizado a que cada fila tiene su propia media.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310128"/>
            <a:ext cx="8321040" cy="1325880"/>
          </a:xfrm>
          <a:prstGeom prst="roundRect">
            <a:avLst>
              <a:gd name="adj" fmla="val 5517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411480" y="3310128"/>
            <a:ext cx="54864" cy="132588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640080" y="341985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puente que lo cierra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37307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modelo solo-intercepto sobre conteos (μ̂ = ȳ), el Pearson se reduce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exactamente</a:t>
            </a: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s²/ȳ: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0" y="4023360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2377440" y="402336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φ_Pearson = 1.090248 = s²/ȳ   ✓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5 · LA PRUEBA FORMAL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Gráfico Sugiere; Cameron-Trivedi Decide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prueba de hipótesis sobre el parámetro de sobredispersión α.</a:t>
            </a:r>
            <a:endParaRPr lang="en-US" sz="1200" dirty="0"/>
          </a:p>
        </p:txBody>
      </p:sp>
      <p:pic>
        <p:nvPicPr>
          <p:cNvPr id="9" name="Image 0" descr="figuras/fig_disp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457200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66360" y="15544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5349240" y="1664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hipótesis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49240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H₀: </a:t>
            </a:r>
            <a:r>
              <a:rPr lang="en-US" sz="1150" dirty="0">
                <a:solidFill>
                  <a:srgbClr val="D7E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Var[N] = E[N]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34924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H₁: </a:t>
            </a:r>
            <a:r>
              <a:rPr lang="en-US" sz="1100" dirty="0">
                <a:solidFill>
                  <a:srgbClr val="D7E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Var[N] = E[N] + α·E[N]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49240" y="2606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Regresión auxiliar de (y−μ̂)²−y sobre μ̂, sin intercepto.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166360" y="310896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3"/>
          <p:cNvSpPr/>
          <p:nvPr/>
        </p:nvSpPr>
        <p:spPr>
          <a:xfrm>
            <a:off x="5166360" y="3108960"/>
            <a:ext cx="54864" cy="150876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5349240" y="3218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en la cartera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4924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α̂ = 0.079   z = 15.8   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349240" y="3822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≈ 10⁻⁵⁶  →  </a:t>
            </a:r>
            <a:r>
              <a:rPr lang="en-US" sz="1050" b="1" dirty="0">
                <a:solidFill>
                  <a:srgbClr val="E0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SOBREDISPERSIÓN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34924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 = 1.21 (leve) → QuasiPoisson basta, pero vale la pena conocer todo el menú.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5 · ALTERNATIVA 1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QuasiPoisson: el Parche de Escala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una distribución real: deja los coeficientes iguales y corrige los errores.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1554480"/>
            <a:ext cx="640080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463040" y="1554480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Var[N | X] = φ · μ        (φ estimado del ajuste)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3317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594360" y="2468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Coeficientes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281635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IDÉNTICOS a Poisson — la tarifa base no cambia.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27832" y="23317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3410712" y="2468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estándar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10712" y="281635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multiplican por √φ — se vuelven más honestos.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44184" y="23317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227064" y="2468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27064" y="281635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sobredispersión leve (φ &lt; 1.5), como en nuestra cartera.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931920"/>
            <a:ext cx="8321040" cy="685800"/>
          </a:xfrm>
          <a:prstGeom prst="roundRect">
            <a:avLst>
              <a:gd name="adj" fmla="val 10667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411480" y="3931920"/>
            <a:ext cx="54864" cy="68580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640080" y="404164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clave: </a:t>
            </a: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tu preocupación es solo la inferencia (¿es significativo este factor?), QuasiPoisson basta. Si quieres una distribución real que modele el mecanismo, sigue leyendo.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5 · ALTERNATIVAS 2 Y 3 · EL EXCESO DE CEROS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 y Hurdle: Dos Formas de Modelar Ceros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carteras con muchos más ceros de los que Poisson predice.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554480"/>
            <a:ext cx="4160520" cy="2788920"/>
          </a:xfrm>
          <a:prstGeom prst="roundRect">
            <a:avLst>
              <a:gd name="adj" fmla="val 2623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11480" y="1554480"/>
            <a:ext cx="54864" cy="278892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21792" y="1664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 · Zero-Inflated Poisson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19659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poblaciones mezcladas: una que NUNCA reclama (ceros estructurales) y otra Poisson.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514600"/>
            <a:ext cx="379476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85800" y="25146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P(N=0) = p + (1−p)e^−λ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320040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Cartera típica: </a:t>
            </a:r>
            <a:r>
              <a:rPr lang="en-US" sz="10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deducibles altos donde una fracción grande de asegurados jamás presenta siniestro.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" y="391363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cartera: ~35% de ceros estructurales estimados.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1554480"/>
            <a:ext cx="4160520" cy="2788920"/>
          </a:xfrm>
          <a:prstGeom prst="roundRect">
            <a:avLst>
              <a:gd name="adj" fmla="val 2623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4572000" y="1554480"/>
            <a:ext cx="54864" cy="278892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4782312" y="1664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Hurdle · Dos etapas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82312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separado en dos preguntas independientes: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82312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¿Hubo siniestro?  </a:t>
            </a:r>
            <a:r>
              <a:rPr lang="en-US" sz="105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logit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82312" y="2560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Dado que hubo, ¿cuántos?  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82312" y="28163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Poisson truncado en cero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82312" y="320040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prefiere cuando: </a:t>
            </a:r>
            <a:r>
              <a:rPr lang="en-US" sz="10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mecanismo de "tener siniestro" es distinto al de "cuántos", y hay que explicarlo por separado a la CNSF.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5 · ALTERNATIVA 4 · Y EL FLUJO DE DECISIÓN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Binomial Negativa: Heterogeneidad Real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mezcla Poisson-Gamma: cada asegurado tiene su propia λ que varía según una Gamma.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1536192"/>
            <a:ext cx="676656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280160" y="15361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~ BN(μ, α)        V(μ) = μ + μ²/α        (α→∞ ⟹ Poisson)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28600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594360" y="2395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interpretación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69748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término μ²/α es la varianza EXTRA sobre Poisson. α chico ⟹ mucha heterogeneidad. Modela riesgo no observado sin variables nuevas.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22860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4617720" y="2286000"/>
            <a:ext cx="54864" cy="123444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800600" y="2395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decisión por 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6974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 &lt; 1.5  →  </a:t>
            </a: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QuasiPoisson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953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exceso ceros  →  </a:t>
            </a: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 / Hurdle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32095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 &gt; 2  →  </a:t>
            </a: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Binomial Negativa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70332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411480" y="3703320"/>
            <a:ext cx="54864" cy="91440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640080" y="380390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siempre: comparar por AIC sobre los mismos datos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10565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Empieza con Poisson  →  diagnostica φ y prueba formal  →  sube de familia SOLO si el dato lo pide, y valida con AIC. </a:t>
            </a:r>
            <a:r>
              <a:rPr lang="en-US" sz="1050" i="1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menú es una decisión, no un default.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6 · LA HABILIDAD QUE NO SE ENSEÑA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el summary() Sin Perderte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 números en tres bloques — cada uno un objeto matemático concreto.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55448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612648" y="1737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12648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18105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Encabezado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0936" y="24231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No. Observations · Df Residuals · Family / Link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27832" y="155448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3429000" y="1737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42900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050792" y="18105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Coeficientes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47288" y="24231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 = β̂ · SE = √diag(ℐ⁻¹) · z = β̂/SE · IC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44184" y="155448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6245352" y="1737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245352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67144" y="18105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Bondad de ajuste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263640" y="24231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Deviance = 2(ℓ_sat−ℓ) · Pearson χ² = Σrᵢ² · AIC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160520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411480" y="4160520"/>
            <a:ext cx="54864" cy="50292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40080" y="422452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Truco: </a:t>
            </a:r>
            <a:r>
              <a:rPr lang="en-US" sz="950" dirty="0">
                <a:solidFill>
                  <a:srgbClr val="D7E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celda es un atributo — modelo.params, modelo.bse, modelo.deviance, modelo.pearson_chi2, modelo.aic.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6 · GUÍA DE LECTURA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Mirar y Cuándo Preocuparte</a:t>
            </a:r>
            <a:endParaRPr lang="en-US" sz="2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63040"/>
          <a:ext cx="8321040" cy="281635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 (matemática)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Señal de alarma 🚩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coef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β̂ⱼ — MLE en escala log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signo contrario al sentido actuarial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std err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√[ℐ(β̂)⁻¹]ⱼⱼ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enorme → categoría con poca exposición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P&gt;|z|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Wald: β̂/SE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 &gt; 0.05 → el nivel no difiere de la referencia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[0.025 0.975]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 95%: β̂ ± 1.96 SE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exp(IC) cruza 1 → rating factor no confiable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Pearson χ² / gl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φ de dispersión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1.5 → Poisson subestima errores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Deviance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2(ℓ_sat − ℓ)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sube al quitar una variable relevante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1148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categoría de referencia nunca aparece: su rating factor es 1 por definición.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6 · EL MISMO MODELO, EL MISMO RIGOR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vs R, Lado a Lado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Idéntico a propósito — incluso las pruebas formales y las alternativas.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statsmodels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847088"/>
            <a:ext cx="4160520" cy="2057400"/>
          </a:xfrm>
          <a:prstGeom prst="roundRect">
            <a:avLst>
              <a:gd name="adj" fmla="val 2667"/>
            </a:avLst>
          </a:prstGeom>
          <a:solidFill>
            <a:srgbClr val="081020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48640" y="1956816"/>
            <a:ext cx="3886200" cy="1837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smf.glm(</a:t>
            </a:r>
            <a:r>
              <a:rPr lang="en-US" sz="9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 ~ C(edad)+C(cob)'</a:t>
            </a: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family=Poisson(), offset=log(e)).fit()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np.exp(m.params)      </a:t>
            </a:r>
            <a:r>
              <a:rPr lang="en-US" sz="900" i="1" dirty="0">
                <a:solidFill>
                  <a:srgbClr val="5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rating factors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Cameron-Trivedi: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sm.OLS((y-mu)**2-y, mu).fit()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ZeroInflatedPoisson(...)   </a:t>
            </a:r>
            <a:r>
              <a:rPr lang="en-US" sz="900" i="1" dirty="0">
                <a:solidFill>
                  <a:srgbClr val="5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ZIP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TruncatedLFPoisson(...)    </a:t>
            </a:r>
            <a:r>
              <a:rPr lang="en-US" sz="900" i="1" dirty="0">
                <a:solidFill>
                  <a:srgbClr val="5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Hurdle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families.NegativeBinomial()</a:t>
            </a:r>
            <a:r>
              <a:rPr lang="en-US" sz="900" i="1" dirty="0">
                <a:solidFill>
                  <a:srgbClr val="5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BN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17720" y="1554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· stats / AER / pscl / MASS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847088"/>
            <a:ext cx="4114800" cy="2057400"/>
          </a:xfrm>
          <a:prstGeom prst="roundRect">
            <a:avLst>
              <a:gd name="adj" fmla="val 2667"/>
            </a:avLst>
          </a:prstGeom>
          <a:solidFill>
            <a:srgbClr val="081020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754880" y="1956816"/>
            <a:ext cx="3840480" cy="1837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&lt;- glm(N ~ edad + cob,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offset=log(e), family=poisson)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exp(coef(m))          </a:t>
            </a:r>
            <a:r>
              <a:rPr lang="en-US" sz="900" i="1" dirty="0">
                <a:solidFill>
                  <a:srgbClr val="5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rating factors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prueba de sobredispersión: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AER::dispersiontest(m)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pscl::zeroinfl(...)        </a:t>
            </a:r>
            <a:r>
              <a:rPr lang="en-US" sz="900" i="1" dirty="0">
                <a:solidFill>
                  <a:srgbClr val="5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ZIP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pscl::hurdle(...)          </a:t>
            </a:r>
            <a:r>
              <a:rPr lang="en-US" sz="900" i="1" dirty="0">
                <a:solidFill>
                  <a:srgbClr val="5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Hurdle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MASS::glm.nb(...)          </a:t>
            </a:r>
            <a:r>
              <a:rPr lang="en-US" sz="900" i="1" dirty="0">
                <a:solidFill>
                  <a:srgbClr val="5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41148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comparación a fondo —hasta cómo cada lenguaje estima el parámetro p de Tweedie— es la Sesión 2.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INTEGRADOR + CIERRE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Principio a Fin — y lo que Sigue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4160520" cy="3063240"/>
          </a:xfrm>
          <a:prstGeom prst="roundRect">
            <a:avLst>
              <a:gd name="adj" fmla="val 2388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21792" y="16733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Integrador · nivel maestría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20116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empírica con IC 95%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Bandings justificados por exposición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7432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completo con offset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1089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 + Cameron-Trivedi → ¿alternativa?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34747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474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factors con IC → CSV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38404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Puente empírico: base×RF ≈ tasa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4206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los 2 RF más fuertes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1554480"/>
            <a:ext cx="4023360" cy="3063240"/>
          </a:xfrm>
          <a:prstGeom prst="roundRect">
            <a:avLst>
              <a:gd name="adj" fmla="val 2388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4709160" y="1554480"/>
            <a:ext cx="54864" cy="306324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4937760" y="1673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2 · 26 de agosto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37760" y="1993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¿Poisson, Gamma o Tweedie?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56048" y="2450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85232" y="24505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 con Gamma (la otra mitad de la prima)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56048" y="29626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85232" y="296265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modelos: AIC, BIC y pseudo R²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56048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85232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Tweedie para pure premium directo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56048" y="39867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85232" y="398678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vs R: cómo cada uno estima el p de Tweedie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3776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al cerrar el tema: un MCP que interpreta las salidas del GLM por ti.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gradado oscuro">
  <a:themeElements>
    <a:clrScheme name="Degradado oscuro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10</TotalTime>
  <Words>3293</Words>
  <Application>Microsoft Office PowerPoint</Application>
  <PresentationFormat>Presentación en pantalla (16:9)</PresentationFormat>
  <Paragraphs>440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Aptos</vt:lpstr>
      <vt:lpstr>Arial</vt:lpstr>
      <vt:lpstr>Arial Nova Light</vt:lpstr>
      <vt:lpstr>Consolas</vt:lpstr>
      <vt:lpstr>Degradado oscuro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M4T2 · Sesión 1 — GLM de frecuencia en Python</dc:title>
  <dc:subject>PptxGenJS Presentation</dc:subject>
  <dc:creator>Act. Eric Daniel Hernández Jardón</dc:creator>
  <cp:lastModifiedBy>ERIC DANIEL HERNANDEZ JARDON</cp:lastModifiedBy>
  <cp:revision>2</cp:revision>
  <dcterms:created xsi:type="dcterms:W3CDTF">2026-08-18T22:13:16Z</dcterms:created>
  <dcterms:modified xsi:type="dcterms:W3CDTF">2026-08-18T22:41:38Z</dcterms:modified>
</cp:coreProperties>
</file>